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d343d9-51ee-b787-9b78-d7a220f21f06}">
          <p14:sldIdLst>
            <p14:sldId id="256"/>
            <p14:sldId id="257"/>
            <p14:sldId id="258"/>
            <p14:sldId id="259"/>
          </p14:sldIdLst>
        </p14:section>
        <p14:section name="Ontology and reasoning" id="{4f5164b0-d492-1640-2867-296db836d601}">
          <p14:sldIdLst>
            <p14:sldId id="260"/>
            <p14:sldId id="261"/>
            <p14:sldId id="262"/>
            <p14:sldId id="263"/>
            <p14:sldId id="264"/>
          </p14:sldIdLst>
        </p14:section>
        <p14:section name="Data and linking" id="{1f3626fb-5830-aa18-3909-67db29c67ef9}">
          <p14:sldIdLst>
            <p14:sldId id="265"/>
            <p14:sldId id="266"/>
            <p14:sldId id="267"/>
            <p14:sldId id="268"/>
            <p14:sldId id="269"/>
            <p14:sldId id="270"/>
          </p14:sldIdLst>
        </p14:section>
        <p14:section name="Querying and demo" id="{8b4a4edc-1260-8b0f-4642-a28c0ff7a847}">
          <p14:sldIdLst>
            <p14:sldId id="271"/>
            <p14:sldId id="272"/>
            <p14:sldId id="273"/>
          </p14:sldIdLst>
        </p14:section>
        <p14:section name="Wrap-up" id="{2b44c677-2e58-4e16-f1ae-5874fbfd044a}">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329"/>
                </a:solidFill>
                <a:latin typeface="+mn-lt"/>
              </a:defRPr>
            </a:pPr>
            <a:r>
              <a:rPr sz="1500" b="0" i="0" u="none" strike="noStrike">
                <a:solidFill>
                  <a:srgbClr val="1F2329"/>
                </a:solidFill>
                <a:latin typeface="+mn-lt"/>
              </a:rPr>
              <a:t>Movies per primary genre</a:t>
            </a:r>
          </a:p>
        </c:rich>
      </c:tx>
      <c:layout/>
      <c:overlay val="0"/>
    </c:title>
    <c:autoTitleDeleted val="0"/>
    <c:plotArea>
      <c:layout/>
      <c:barChart>
        <c:barDir val="bar"/>
        <c:grouping val="clustered"/>
        <c:varyColors val="0"/>
        <c:ser>
          <c:idx val="0"/>
          <c:order val="0"/>
          <c:tx>
            <c:strRef>
              <c:f>Sheet1!$B$1</c:f>
              <c:strCache>
                <c:ptCount val="1"/>
                <c:pt idx="0">
                  <c:v>Movies</c:v>
                </c:pt>
              </c:strCache>
            </c:strRef>
          </c:tx>
          <c:spPr>
            <a:solidFill>
              <a:srgbClr val="BF1E2E"/>
            </a:solidFill>
            <a:effectLst/>
          </c:spPr>
          <c:invertIfNegative val="0"/>
          <c:dLbls>
            <c:numFmt formatCode="#,##0" sourceLinked="0"/>
            <c:txPr>
              <a:bodyPr/>
              <a:lstStyle/>
              <a:p>
                <a:pPr>
                  <a:defRPr b="0" i="0" strike="noStrike" sz="1200" u="none">
                    <a:solidFill>
                      <a:srgbClr val="1F2329"/>
                    </a:solidFill>
                    <a:latin typeface="+mn-lt"/>
                  </a:defRPr>
                </a:pPr>
              </a:p>
            </c:txPr>
            <c:showLegendKey val="0"/>
            <c:showVal val="1"/>
            <c:showCatName val="0"/>
            <c:showSerName val="0"/>
            <c:showPercent val="0"/>
            <c:showBubbleSize val="0"/>
            <c:showLeaderLines val="0"/>
          </c:dLbls>
          <c:cat>
            <c:multiLvlStrRef>
              <c:f>Sheet1!$A$2:$A$10</c:f>
              <c:multiLvlStrCache>
                <c:ptCount val="9"/>
                <c:lvl>
                  <c:pt idx="0">
                    <c:v>Drama</c:v>
                  </c:pt>
                  <c:pt idx="1">
                    <c:v>Adventure</c:v>
                  </c:pt>
                  <c:pt idx="2">
                    <c:v>Action</c:v>
                  </c:pt>
                  <c:pt idx="3">
                    <c:v>Comedy</c:v>
                  </c:pt>
                  <c:pt idx="4">
                    <c:v>Crime</c:v>
                  </c:pt>
                  <c:pt idx="5">
                    <c:v>Science Fiction</c:v>
                  </c:pt>
                  <c:pt idx="6">
                    <c:v>Animation</c:v>
                  </c:pt>
                  <c:pt idx="7">
                    <c:v>Fantasy</c:v>
                  </c:pt>
                  <c:pt idx="8">
                    <c:v>Other 9 genres</c:v>
                  </c:pt>
                </c:lvl>
              </c:multiLvlStrCache>
            </c:multiLvlStrRef>
          </c:cat>
          <c:val>
            <c:numRef>
              <c:f>Sheet1!$B$2:$B$10</c:f>
              <c:numCache>
                <c:formatCode>General</c:formatCode>
                <c:ptCount val="9"/>
                <c:pt idx="0">
                  <c:v>82</c:v>
                </c:pt>
                <c:pt idx="1">
                  <c:v>36</c:v>
                </c:pt>
                <c:pt idx="2">
                  <c:v>29</c:v>
                </c:pt>
                <c:pt idx="3">
                  <c:v>16</c:v>
                </c:pt>
                <c:pt idx="4">
                  <c:v>16</c:v>
                </c:pt>
                <c:pt idx="5">
                  <c:v>14</c:v>
                </c:pt>
                <c:pt idx="6">
                  <c:v>13</c:v>
                </c:pt>
                <c:pt idx="7">
                  <c:v>11</c:v>
                </c:pt>
                <c:pt idx="8">
                  <c:v>33</c:v>
                </c:pt>
              </c:numCache>
            </c:numRef>
          </c:val>
        </c:ser>
        <c:dLbls>
          <c:numFmt formatCode="#,##0" sourceLinked="0"/>
          <c:txPr>
            <a:bodyPr/>
            <a:lstStyle/>
            <a:p>
              <a:pPr>
                <a:defRPr b="0" i="0" strike="noStrike" sz="1200" u="none">
                  <a:solidFill>
                    <a:srgbClr val="1F2329"/>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32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~30 s
ENGLISH
Good morning, everyone. We're Group 2: I'm Đức, and with me are Minh and Chiến. Our capstone is a Linked Open Data application about movies. In short, we took a public movie dataset, described it with an ontology, turned it into RDF, linked it to Wikidata and DBpedia, and made it queryable with SPARQL. So by the end, it reaches all five stars of the Linked Open Data scheme.
TIẾNG VIỆT
Chào thầy và các bạn. Bọn em là nhóm 2, em là Đức, cùng với Minh và Chiến. Đề tài capstone của nhóm là một ứng dụng Linked Open Data về phim. Nói ngắn gọn, nhóm lấy một bộ dữ liệu phim công khai, mô tả nó bằng ontology, chuyển sang RDF, liên kết sang Wikidata và DBpedia, rồi cho phép truy vấn bằng SPARQL. Kết quả là dataset đạt đủ năm sao theo thang Linked Open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~20 s
ENGLISH
Here's the plan for the next fifteen minutes. I'll start with the goal and the five-star scheme. Minh will walk you through the ontology and the reasoning. Then I'll come back for the data and the linking, and Minh will finish with the queries and a live demo.
TIẾNG VIỆT
Đây là nội dung trong mười lăm phút tới. Em sẽ nói về mục tiêu và thang năm sao. Sau đó Minh trình bày phần ontology và suy luận. Em quay lại với phần dữ liệu và liên kết, và cuối cùng Minh sẽ chạy truy vấn và demo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~45 s
ENGLISH
The assignment has five steps, and each card here is one of them. First, define an ontology. Second, collect data — we used 250 top-rated films. Third, convert the data to RDF, which gets us to four stars. Fourth, link it to other datasets for the fifth star — we have 920 links to Wikidata and 912 to DBpedia. And fifth, make it queryable with SPARQL. The rest of the talk follows these steps in order.
TIẾNG VIỆT
Đề bài có năm bước, mỗi thẻ ở đây là một bước. Một là định nghĩa ontology. Hai là thu thập dữ liệu — nhóm dùng 250 phim được đánh giá cao nhất. Ba là chuyển dữ liệu sang RDF, đạt bốn sao. Bốn là liên kết sang dataset khác để đạt sao thứ năm — hiện có 920 liên kết sang Wikidata và 912 sang DBpedia. Và năm là cho phép truy vấn bằng SPARQL. Phần còn lại của bài đi lần lượt theo đúng các bước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~45 s
ENGLISH
A quick reminder of Tim Berners-Lee's five-star scheme, and where we stand on each level. One star: the data is on the web with a licence — our repository is on GitHub. Two and three stars: structured, non-proprietary formats, so CSV and Turtle. The two rows in red are what this assignment is really about. Four stars means URIs and W3C standards: every film and every person has its own URI. Five stars means linking out — that's our owl:sameAs links. One honest note: TMDb's terms restrict commercial use, so our RDF is licensed CC BY-NC.
TIẾNG VIỆT
Nhắc lại nhanh thang năm sao của Tim Berners-Lee và dự án đạt từng mức thế nào. Một sao: dữ liệu có trên web kèm giấy phép — repo của nhóm để trên GitHub. Hai và ba sao: định dạng có cấu trúc và không độc quyền, tức là CSV và Turtle. Hai dòng tô đỏ là trọng tâm của đề. Bốn sao là dùng URI và chuẩn W3C: mỗi phim, mỗi người đều có URI riêng. Năm sao là liên kết ra ngoài — chính là các liên kết owl:sameAs. Một lưu ý: điều khoản của TMDb hạn chế dùng thương mại, nên dữ liệu RDF của nhóm để giấy phép CC BY-NC. Giờ em xin mời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~40 s
ENGLISH
Thanks, Đức. Before modelling anything, we wrote down the questions the graph has to answer — the competency questions, as Grüninger and Fox suggest. Who directed a movie? Which movies feature a given actor? Which movies came out after a given year? Which director has the most movies? These four questions decided which classes and properties we needed, and each one became a SPARQL query that you'll see in the demo.
TIẾNG VIỆT
Cảm ơn Đức. Trước khi mô hình hoá, nhóm viết ra những câu hỏi mà đồ thị phải trả lời được — tức là competency questions, theo Grüninger và Fox. Ai đạo diễn một bộ phim? Những phim nào có một diễn viên nhất định? Phim nào ra mắt sau một năm cho trước? Đạo diễn nào có nhiều phim nhất? Bốn câu hỏi này quyết định ontology cần những lớp và thuộc tính nào, và mỗi câu trở thành một truy vấn SPARQL mà mọi người sẽ thấy trong phần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~60 s
ENGLISH
Here's the ontology. Movie sits in the middle. A movie has a director and actors, a genre, a studio and a country. Director and Actor are subclasses of Person, and a person can have an award. The dashed box at the bottom is the link out to Wikidata and DBpedia. On the right is the rule we followed: reuse existing vocabulary before minting our own. So Movie is schema.org's Movie, Person is FOAF's Person, director and starring come from the DBpedia ontology, and the title is Dublin Core. We only defined our own terms where nothing suitable existed, like hasGenre or releaseYear. One more thing at the bottom left: a plain starring link can't say which character an actor plays, so each appearance of an actor in a movie is its own CastRole node, with the character name and the billing order. That's the n-ary relation pattern from the Knowledge Modeling lecture.
TIẾNG VIỆT
Đây là ontology. Movie nằm ở trung tâm. Mỗi phim có đạo diễn, diễn viên, thể loại, hãng sản xuất và quốc gia. Director và Actor là lớp con của Person, và một người có thể có giải thưởng. Ô nét đứt bên dưới là liên kết ra Wikidata và DBpedia. Bên phải là nguyên tắc nhóm áp dụng: dùng lại vocabulary có sẵn trước khi tự đặt term mới. Nên Movie là Movie của schema.org, Person là Person của FOAF, director và starring lấy từ DBpedia ontology, còn tiêu đề dùng Dublin Core. Nhóm chỉ tự định nghĩa khi không có term phù hợp, ví dụ hasGenre hay releaseYear. Thêm một điểm ở góc dưới bên trái: một liên kết starring đơn thuần không nói được diễn viên đóng vai nào, nên mỗi lần một diễn viên xuất hiện trong một phim là một nút CastRole riêng, kèm tên nhân vật và thứ tự trên danh sách diễn viên. Đây chính là mẫu quan hệ n-ngôi trong bài Knowledge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~45 s
ENGLISH
This is the part we like most. Nobody in our data is tagged as an action movie or as an award-winning director. But once we run HermiT, the reasoner works it out by itself: 29 action movies, 16 comedies, 32 award-winning directors, and 5 people who directed and acted in the same film — Clint Eastwood is one of them. We get exactly the same numbers in Protégé and from our check_reasoning script — both use HermiT.
TIẾNG VIỆT
Đây là phần nhóm thích nhất. Trong dữ liệu không có phim nào được gắn nhãn là phim hành động, cũng không có ai được gắn là đạo diễn đoạt giải. Nhưng khi chạy HermiT, reasoner tự suy ra: 29 phim hành động, 16 phim hài, 32 đạo diễn từng đoạt giải, và 5 người vừa đạo diễn vừa đóng trong cùng một phim — Clint Eastwood là một ví dụ. Số liệu trong Protégé và trong script check_reasoning trùng khớp hoàn toàn — cả hai đều dùng HermiT.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~50 s
ENGLISH
So how are these classes defined? ActionMovie uses a hasValue restriction: any movie whose genre is Action is an ActionMovie — the same idea as VegetarianPizza in pizza.owl. ComedyMovie works the same way, and we declared the two classes disjoint. AwardWinningDirector is a director who has some award; the awards are Oscars for Best Director, which we pulled from Wikidata. ActorDirector needed a SWRL rule, because OWL can't say 'the same person appears in two different properties of the same movie'.
TIẾNG VIỆT
Vậy các lớp này được định nghĩa thế nào? ActionMovie dùng ràng buộc hasValue: phim nào có thể loại Action thì là ActionMovie — giống ý tưởng VegetarianPizza trong pizza.owl. ComedyMovie cũng vậy, và nhóm khai báo hai lớp này là disjoint, tức là không giao nhau. AwardWinningDirector là đạo diễn có ít nhất một giải thưởng; giải thưởng ở đây là Oscar Đạo diễn xuất sắc, lấy từ Wikidata. Riêng ActorDirector phải dùng luật SWRL, vì OWL không diễn đạt được ý 'cùng một người xuất hiện ở hai thuộc tính khác nhau của cùng một phim'.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~40 s
ENGLISH
Disjointness also lets the reasoner catch mistakes. In the demo we add one fake movie tagged as both Action and Comedy. It becomes a member of both classes — but the two classes are disjoint, so HermiT reports that the ontology is inconsistent. Protégé's Explain button shows exactly this chain, the same pattern as Russell's paradox in the lecture. That's also why our real data keeps only the main genre of each film. Đức, back to you.
TIẾNG VIỆT
Tính disjoint còn giúp reasoner phát hiện lỗi. Trong demo, nhóm thêm một phim giả được gắn cả Action lẫn Comedy. Phim đó thuộc cả hai lớp, mà hai lớp lại disjoint, nên HermiT báo ontology bị mâu thuẫn. Nút Explain trong Protégé hiển thị đúng chuỗi suy luận này — cùng dạng với nghịch lý Russell trong bài giảng. Đó cũng là lý do dữ liệu thật chỉ giữ thể loại chính của mỗi phim. Giờ em chuyển lại cho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~45 s
ENGLISH
Thanks, Minh. Now the data. We started from the TMDB 5000 dataset on Kaggle, which has about 4,800 films. We kept films with at least a thousand votes and took the 250 best rated. For each film we kept the director, the top three actors, the main genre, the studio and the country. That gives us 672 people, 17 genres, 99 studios and 16 countries. As the chart shows, drama dominates. The data comes from the TMDb API, so we credit TMDb as the source.
TIẾNG VIỆT
Cảm ơn Minh. Giờ đến phần dữ liệu. Nhóm bắt đầu từ bộ TMDB 5000 trên Kaggle, khoảng 4.800 phim. Nhóm giữ những phim có ít nhất một nghìn lượt đánh giá, rồi lấy 250 phim điểm cao nhất. Với mỗi phim, nhóm giữ đạo diễn, ba diễn viên chính, thể loại chính, hãng sản xuất và quốc gia. Tổng cộng có 672 người, 17 thể loại, 99 hãng và 16 quốc gia. Như biểu đồ cho thấy, phim chính kịch chiếm nhiều nhất. Dữ liệu lấy từ API của TMDb nên nhóm ghi rõ nguồn TMDb.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~45 s
ENGLISH
The whole pipeline is four Python scripts, and anyone can rerun it from scratch. The first one selects the films. The second converts the CSV to RDF with RDFLib — that's the four-star step. The third adds the links — the five-star step. And then we query the result. At the bottom you can see what one movie looks like in Turtle: The Prestige, with its title, year, director, genre and studio, and the two owl:sameAs links.
TIẾNG VIỆT
Toàn bộ pipeline gồm bốn script Python, ai cũng chạy lại được từ đầu. Script thứ nhất chọn phim. Script thứ hai chuyển CSV sang RDF bằng RDFLib — đó là bước bốn sao. Script thứ ba thêm liên kết — bước năm sao. Sau đó là truy vấn kết quả. Bên dưới là một bộ phim trông như thế nào trong Turtle: phim The Prestige, có tiêu đề, năm, đạo diễn, thể loại, hãng sản xuất, và hai liên kết owl:sameAs.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~40 s
ENGLISH
This table shows how each CSV column maps to RDF. The id becomes the movie's URI, typed as schema:Movie. The title goes to Dublin Core, director and cast to the DBpedia ontology, and names to FOAF. Genre, studio and country use our own terms. For the cast we keep the simple starring link, and we also create a CastRole for each actor in each movie, with the character name and billing order. One design choice is worth pointing out: the URIs reuse the TMDB ids. They stay the same every time we rerun the pipeline, and they also turn out to be the key for linking, as you'll see next.
TIẾNG VIỆT
Bảng này cho thấy mỗi cột CSV được ánh xạ sang RDF thế nào. Cột id trở thành URI của phim, kiểu schema:Movie. Tiêu đề dùng Dublin Core, đạo diễn và diễn viên dùng DBpedia ontology, tên người dùng FOAF. Thể loại, hãng và quốc gia dùng term của nhóm. Với diễn viên, nhóm vẫn giữ liên kết starring đơn giản, đồng thời tạo một CastRole cho mỗi diễn viên trong mỗi phim, kèm tên nhân vật và thứ tự trên danh sách. Có một lựa chọn thiết kế đáng chú ý: URI dùng lại id của TMDB. Nhờ vậy URI không đổi mỗi lần chạy lại pipeline, và id này còn chính là chìa khoá để liên kết, như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~50 s
ENGLISH
Our first linking attempt was the obvious one: search DBpedia by title and year. It matched zero out of eight test films, because DBpedia film pages have no release date property — and titles are ambiguous anyway, think of remakes. So we switched to identifiers. Wikidata stores the TMDB id of films and people, so the match is exact. For DBpedia, we follow DBpedia's own sameAs link to Wikidata, and only accept a Film or a Person. Anything ambiguous we leave unlinked instead of guessing. The result: 920 links to Wikidata, 912 to DBpedia, and 249 of our 250 films linked to both.
TIẾNG VIỆT
Cách liên kết đầu tiên nhóm thử là cách dễ nghĩ nhất: tìm trên DBpedia theo tên phim và năm. Kết quả là không khớp được phim nào trong tám phim thử, vì trang phim trên DBpedia không có thuộc tính ngày phát hành — mà tên phim thì vốn dễ trùng, ví dụ các bản làm lại. Nên nhóm chuyển sang khớp theo định danh. Wikidata lưu sẵn id TMDB của phim và của người, nên khớp chính xác tuyệt đối. Với DBpedia, nhóm đi theo liên kết sameAs mà chính DBpedia trỏ sang Wikidata, và chỉ nhận nếu đúng kiểu Film hoặc Person. Trường hợp nào mơ hồ thì để trống chứ không đoán. Kết quả: 920 liên kết sang Wikidata, 912 sang DBpedia, và 249 trên 250 phim được liên kết sang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~50 s
ENGLISH
We also checked the links by hand. We drew a random sample of 15 films and 15 people, opened every Wikidata and DBpedia page, and compared the year, director, occupation and birth date. Wikidata was 30 out of 30. DBpedia was 29 out of 30 — and that one wrong link taught us something. On DBpedia, when an article gets merged into another one, the old page becomes a redirect but keeps its sameAs link. So the actress Alakina Mann was pointing at the film The Others. When we scanned everything, we found four cases like that, and we fixed the script. That's exactly the kind of owl:sameAs misuse we studied in the LOD lecture.
TIẾNG VIỆT
Nhóm cũng kiểm tra liên kết thủ công. Nhóm lấy ngẫu nhiên 15 phim và 15 người, mở từng trang Wikidata và DBpedia, rồi so năm, đạo diễn, nghề nghiệp và ngày sinh. Wikidata đúng 30 trên 30. DBpedia đúng 29 trên 30 — và cái sai duy nhất lại rất đáng học. Trên DBpedia, khi một bài viết bị gộp vào bài khác, trang cũ trở thành trang chuyển hướng nhưng vẫn giữ liên kết sameAs. Thế nên nữ diễn viên Alakina Mann lại trỏ sang bộ phim The Others. Quét toàn bộ, nhóm tìm ra bốn trường hợp như vậy và đã sửa script. Đây đúng là kiểu dùng sai owl:sameAs mà lớp mình đã học trong bài LOD.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~40 s
ENGLISH
Chiến also added metadata about the dataset itself, which is a Linked Data best practice. DCAT describes the catalog and the downloadable files. VoID gives the statistics and the two linksets — 920 links to Wikidata and 912 to DBpedia. And PROV-O records where the data came from and which pipeline produced it. On the right are the licences: MIT for the code, CC BY-NC for our RDF because of TMDb's terms, and the original licences for the links. The metadata is generated from the real files, so the numbers can't drift. Minh, over to you.
TIẾNG VIỆT
Chiến bổ sung thêm metadata mô tả chính dataset, đây là một best practice khi công bố Linked Data. DCAT mô tả catalog và các file tải về. VoID cung cấp thống kê và hai linkset — 920 liên kết sang Wikidata và 912 sang DBpedia. Còn PROV-O ghi lại dữ liệu đến từ đâu và pipeline nào tạo ra nó. Bên phải là giấy phép: MIT cho code, CC BY-NC cho dữ liệu RDF vì điều khoản của TMDb, và giấy phép gốc cho các liên kết. Metadata được sinh tự động từ file thật nên số liệu không bị lệch. Giờ em xin chuyển lại cho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~40 s
ENGLISH
Thanks, Đức. You can query the graph in two ways: from the terminal with our sparql_cli script, or in Protégé's SPARQL tab. Here's query three, which answers 'which director has the most movies'. Steven Spielberg comes first with eight, followed by Tarantino and Nolan with seven each. Altogether there are 21 queries: five local ones — one per competency question, plus a check on the links — six on cast roles, and ten federated queries. Chiến wrote the cast-role and federated ones.
TIẾNG VIỆT
Cảm ơn Đức. Có hai cách truy vấn đồ thị: chạy trên terminal bằng script sparql_cli, hoặc dùng tab SPARQL trong Protégé. Đây là truy vấn số ba, trả lời câu hỏi đạo diễn nào có nhiều phim nhất. Steven Spielberg đứng đầu với tám phim, sau đó là Tarantino và Nolan, mỗi người bảy phim. Tổng cộng có 21 truy vấn: năm truy vấn local — mỗi câu ứng với một competency question, thêm một câu kiểm tra liên kết — sáu truy vấn về vai diễn, và mười truy vấn federated. Phần vai diễn và federated do Chiến viết.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~45 s
ENGLISH
This is where the fifth star pays off. We never stored anyone's birth date. But this query takes our directors with six or more films, and uses SERVICE to ask Wikidata for their birth dates on the fly. For example, Spielberg was born in 1946, and his earliest film in our dataset is from 1975, so he was 29. This only works because every director has an owl:sameAs link to Wikidata — without the links, the query would have nowhere to go.
TIẾNG VIỆT
Đây là lúc sao thứ năm phát huy tác dụng. Nhóm chưa hề lưu ngày sinh của ai. Nhưng truy vấn này lấy các đạo diễn có từ sáu phim trở lên, rồi dùng SERVICE hỏi Wikidata ngày sinh của họ ngay lúc chạy. Ví dụ, Spielberg sinh năm 1946, và phim sớm nhất của ông trong dataset là năm 1975, tức là lúc 29 tuổi. Truy vấn này chỉ chạy được vì mọi đạo diễn đều có liên kết owl:sameAs sang Wikidata — không có liên kết thì truy vấn không biết hỏi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 ~3–4 min
ENGLISH
Now let me show it live. I'll open the ontology in Protégé and merge in the data and the awards. Then I'll start HermiT, so you can see the defined classes fill up. I'll run a couple of the sample queries, and one federated query from the terminal. After that I'll add the SWRL rule, and finally I'll break the ontology on purpose with the bad movie, so you can see the explanation. (Before the talk: start HermiT and add the SWRL rule in advance — the reasoner takes three to four minutes in Protégé. Run the federated queries once to check that the endpoints are up. In the DL Query tab, type ont:ActionMovie, press Esc, then Execute; each film is listed three times because of owl:sameAs.)
TIẾNG VIỆT
Giờ em xin demo trực tiếp. Em sẽ mở ontology trong Protégé và gộp dữ liệu cùng giải thưởng vào. Sau đó em chạy HermiT để mọi người thấy các defined class tự có thành viên. Em sẽ chạy vài truy vấn mẫu, và một truy vấn federated trên terminal. Tiếp theo em thêm luật SWRL, và cuối cùng em cố tình làm hỏng ontology bằng bộ phim lỗi để mọi người xem phần giải thích. (Trước giờ trình bày: chạy HermiT và thêm luật SWRL từ trước — reasoner trong Protégé mất ba đến bốn phút. Chạy thử các truy vấn federated một lần để chắc endpoint đang hoạt động. Trong tab DL Query, gõ ont:ActionMovie, bấm Esc rồi Execute; mỗi phim hiện ba lần do owl:sameAs.)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~45 s
ENGLISH
To wrap up, a few honest limitations. First, Director and Actor are really roles, not types — by OntoClean's rigidity test, a hasRole property would be cleaner; we kept subclasses to stay simple. Second, we keep only one genre per film, so that the disjoint classes stay consistent. Third, our URIs live under example.org, so they don't resolve yet — publishing them behind a server like Fuseki is the natural next step. And finally, this is a snapshot of 250 films, with one film and one actor left unlinked because their ids were ambiguous. Also, the character name is just a string, not a resource: TMDB only gives us a name, so two different characters called 'Sam' look the same — query 18 shows that.
TIẾNG VIỆT
Để kết lại, nhóm xin nêu thẳng vài giới hạn. Thứ nhất, Director và Actor thực chất là vai trò chứ không phải kiểu cố định — theo kiểm tra rigidity của OntoClean, dùng thuộc tính hasRole sẽ đúng hơn; nhóm giữ dạng lớp con cho đơn giản. Thứ hai, mỗi phim chỉ giữ một thể loại để các lớp disjoint không bị mâu thuẫn. Thứ ba, URI đang nằm dưới example.org nên chưa truy cập được — bước tiếp theo là công bố qua một server như Fuseki. Và cuối cùng, đây là bản chụp 250 phim, còn một phim và một diễn viên chưa được liên kết vì id bị mơ hồ. Ngoài ra, tên nhân vật chỉ là một chuỗi chứ không phải resource: TMDB chỉ cho tên, nên hai nhân vật khác nhau cùng tên 'Sam' trông như một — truy vấn 18 cho thấy điều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 ~15 s
ENGLISH
That's our project. Everything — the scripts, the data and the instructions to rerun it — is in the GitHub repository on screen. Thank you for listening, and we're happy to take your questions.
TIẾNG VIỆT
Đó là toàn bộ dự án của nhóm. Mọi thứ — script, dữ liệu và hướng dẫn chạy lại — đều có trong repo GitHub trên màn hình. Cảm ơn thầy và các bạn đã lắng nghe, nhóm rất sẵn lòng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BF1E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40280"/>
            <a:ext cx="786384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520440"/>
            <a:ext cx="7863840" cy="82296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pic>
        <p:nvPicPr>
          <p:cNvPr id="3" name="Image 0" descr="/private/tmp/claude-501/-Users-ducnguyen-Projects-HUST2-IT6390E/fd98d370-efb0-44d7-8e0a-572d8244442c/scratchpad/brand/logo-soict-hust.png">    </p:cNvPr>
          <p:cNvPicPr>
            <a:picLocks noChangeAspect="1"/>
          </p:cNvPicPr>
          <p:nvPr/>
        </p:nvPicPr>
        <p:blipFill>
          <a:blip r:embed="rId1"/>
          <a:stretch>
            <a:fillRect/>
          </a:stretch>
        </p:blipFill>
        <p:spPr>
          <a:xfrm>
            <a:off x="10744200" y="384048"/>
            <a:ext cx="914400" cy="371383"/>
          </a:xfrm>
          <a:prstGeom prst="rect">
            <a:avLst/>
          </a:prstGeom>
        </p:spPr>
      </p:pic>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IT6390E Knowledge Graphs  ·  Group 2  ·  Movies Linked Open Data</a:t>
            </a:r>
            <a:endParaRPr lang="en-US" sz="10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3.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3.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card"/>
          <p:cNvSpPr/>
          <p:nvPr/>
        </p:nvSpPr>
        <p:spPr>
          <a:xfrm>
            <a:off x="640080" y="548640"/>
            <a:ext cx="3017520" cy="1481328"/>
          </a:xfrm>
          <a:prstGeom prst="roundRect">
            <a:avLst>
              <a:gd name="adj" fmla="val 4938"/>
            </a:avLst>
          </a:prstGeom>
          <a:solidFill>
            <a:schemeClr val="bg1"/>
          </a:solidFill>
          <a:ln w="12700">
            <a:solidFill>
              <a:srgbClr val="FFFFFF"/>
            </a:solidFill>
            <a:prstDash val="solid"/>
          </a:ln>
        </p:spPr>
      </p:sp>
      <p:pic>
        <p:nvPicPr>
          <p:cNvPr id="3" name="logo" descr="/private/tmp/claude-501/-Users-ducnguyen-Projects-HUST2-IT6390E/fd98d370-efb0-44d7-8e0a-572d8244442c/scratchpad/brand/logo-soict-hust.png">    </p:cNvPr>
          <p:cNvPicPr>
            <a:picLocks noChangeAspect="1"/>
          </p:cNvPicPr>
          <p:nvPr/>
        </p:nvPicPr>
        <p:blipFill>
          <a:blip r:embed="rId1"/>
          <a:stretch>
            <a:fillRect/>
          </a:stretch>
        </p:blipFill>
        <p:spPr>
          <a:xfrm>
            <a:off x="822960" y="685800"/>
            <a:ext cx="2651760" cy="1077009"/>
          </a:xfrm>
          <a:prstGeom prst="rect">
            <a:avLst/>
          </a:prstGeom>
        </p:spPr>
      </p:pic>
      <p:sp>
        <p:nvSpPr>
          <p:cNvPr id="4" name="Text 0"/>
          <p:cNvSpPr/>
          <p:nvPr>
            <p:ph idx="100" type="title" hasCustomPrompt="1"/>
          </p:nvPr>
        </p:nvSpPr>
        <p:spPr>
          <a:xfrm>
            <a:off x="640080" y="2240280"/>
            <a:ext cx="7863840" cy="1188720"/>
          </a:xfrm>
          <a:prstGeom prst="rect">
            <a:avLst/>
          </a:prstGeom>
          <a:noFill/>
          <a:ln/>
        </p:spPr>
        <p:txBody>
          <a:bodyPr wrap="square" lIns="0" tIns="0" rIns="0" bIns="0" rtlCol="0" anchor="b"/>
          <a:lstStyle/>
          <a:p>
            <a:pPr algn="l" indent="0" marL="0">
              <a:buNone/>
            </a:pPr>
            <a:r>
              <a:rPr lang="en-US" sz="4800" b="1" dirty="0">
                <a:solidFill>
                  <a:schemeClr val="bg1"/>
                </a:solidFill>
              </a:rPr>
              <a:t>Movies Linked Open Data</a:t>
            </a:r>
            <a:endParaRPr lang="en-US" sz="4800" dirty="0"/>
          </a:p>
        </p:txBody>
      </p:sp>
      <p:sp>
        <p:nvSpPr>
          <p:cNvPr id="5" name="Text 0"/>
          <p:cNvSpPr/>
          <p:nvPr>
            <p:ph idx="101" type="body" hasCustomPrompt="1"/>
          </p:nvPr>
        </p:nvSpPr>
        <p:spPr>
          <a:xfrm>
            <a:off x="640080" y="3520440"/>
            <a:ext cx="7863840" cy="822960"/>
          </a:xfrm>
          <a:prstGeom prst="rect">
            <a:avLst/>
          </a:prstGeom>
          <a:noFill/>
          <a:ln/>
        </p:spPr>
        <p:txBody>
          <a:bodyPr wrap="square" lIns="0" tIns="0" rIns="0" bIns="0" rtlCol="0" anchor="t"/>
          <a:lstStyle/>
          <a:p>
            <a:pPr algn="l" indent="0" marL="0">
              <a:buNone/>
            </a:pPr>
            <a:r>
              <a:rPr lang="en-US" sz="2200" dirty="0">
                <a:solidFill>
                  <a:schemeClr val="bg1"/>
                </a:solidFill>
              </a:rPr>
              <a:t>A 5-star knowledge graph of 250 films, linked to Wikidata and DBpedia</a:t>
            </a:r>
            <a:endParaRPr lang="en-US" sz="2200" dirty="0"/>
          </a:p>
        </p:txBody>
      </p:sp>
      <p:pic>
        <p:nvPicPr>
          <p:cNvPr id="6" name="star-1" descr="preencoded.png">    </p:cNvPr>
          <p:cNvPicPr>
            <a:picLocks noChangeAspect="1"/>
          </p:cNvPicPr>
          <p:nvPr/>
        </p:nvPicPr>
        <p:blipFill>
          <a:blip r:embed="rId2"/>
          <a:stretch>
            <a:fillRect/>
          </a:stretch>
        </p:blipFill>
        <p:spPr>
          <a:xfrm>
            <a:off x="8915400" y="685800"/>
            <a:ext cx="502920" cy="502920"/>
          </a:xfrm>
          <a:prstGeom prst="rect">
            <a:avLst/>
          </a:prstGeom>
        </p:spPr>
      </p:pic>
      <p:pic>
        <p:nvPicPr>
          <p:cNvPr id="7" name="star-2" descr="preencoded.png">    </p:cNvPr>
          <p:cNvPicPr>
            <a:picLocks noChangeAspect="1"/>
          </p:cNvPicPr>
          <p:nvPr/>
        </p:nvPicPr>
        <p:blipFill>
          <a:blip r:embed="rId3"/>
          <a:stretch>
            <a:fillRect/>
          </a:stretch>
        </p:blipFill>
        <p:spPr>
          <a:xfrm>
            <a:off x="9528048" y="685800"/>
            <a:ext cx="502920" cy="502920"/>
          </a:xfrm>
          <a:prstGeom prst="rect">
            <a:avLst/>
          </a:prstGeom>
        </p:spPr>
      </p:pic>
      <p:pic>
        <p:nvPicPr>
          <p:cNvPr id="8" name="star-3" descr="preencoded.png">    </p:cNvPr>
          <p:cNvPicPr>
            <a:picLocks noChangeAspect="1"/>
          </p:cNvPicPr>
          <p:nvPr/>
        </p:nvPicPr>
        <p:blipFill>
          <a:blip r:embed="rId4"/>
          <a:stretch>
            <a:fillRect/>
          </a:stretch>
        </p:blipFill>
        <p:spPr>
          <a:xfrm>
            <a:off x="10140696" y="685800"/>
            <a:ext cx="502920" cy="502920"/>
          </a:xfrm>
          <a:prstGeom prst="rect">
            <a:avLst/>
          </a:prstGeom>
        </p:spPr>
      </p:pic>
      <p:pic>
        <p:nvPicPr>
          <p:cNvPr id="9" name="star-4" descr="preencoded.png">    </p:cNvPr>
          <p:cNvPicPr>
            <a:picLocks noChangeAspect="1"/>
          </p:cNvPicPr>
          <p:nvPr/>
        </p:nvPicPr>
        <p:blipFill>
          <a:blip r:embed="rId5"/>
          <a:stretch>
            <a:fillRect/>
          </a:stretch>
        </p:blipFill>
        <p:spPr>
          <a:xfrm>
            <a:off x="10753344" y="685800"/>
            <a:ext cx="502920" cy="502920"/>
          </a:xfrm>
          <a:prstGeom prst="rect">
            <a:avLst/>
          </a:prstGeom>
        </p:spPr>
      </p:pic>
      <p:pic>
        <p:nvPicPr>
          <p:cNvPr id="10" name="star-5" descr="preencoded.png">    </p:cNvPr>
          <p:cNvPicPr>
            <a:picLocks noChangeAspect="1"/>
          </p:cNvPicPr>
          <p:nvPr/>
        </p:nvPicPr>
        <p:blipFill>
          <a:blip r:embed="rId6"/>
          <a:stretch>
            <a:fillRect/>
          </a:stretch>
        </p:blipFill>
        <p:spPr>
          <a:xfrm>
            <a:off x="11365992" y="685800"/>
            <a:ext cx="502920" cy="502920"/>
          </a:xfrm>
          <a:prstGeom prst="rect">
            <a:avLst/>
          </a:prstGeom>
        </p:spPr>
      </p:pic>
      <p:sp>
        <p:nvSpPr>
          <p:cNvPr id="11" name="text-6"/>
          <p:cNvSpPr txBox="1"/>
          <p:nvPr/>
        </p:nvSpPr>
        <p:spPr>
          <a:xfrm>
            <a:off x="640080" y="4800600"/>
            <a:ext cx="10515600" cy="141732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IT6390E Knowledge Graphs  ·  Capstone project</a:t>
            </a:r>
            <a:endParaRPr lang="en-US" sz="1600" dirty="0"/>
          </a:p>
          <a:p>
            <a:pPr indent="0" marL="0">
              <a:spcAft>
                <a:spcPts val="400"/>
              </a:spcAft>
              <a:buNone/>
            </a:pPr>
            <a:r>
              <a:rPr lang="en-US" sz="1600" dirty="0">
                <a:solidFill>
                  <a:schemeClr val="bg1"/>
                </a:solidFill>
              </a:rPr>
              <a:t>Group 2: Đỗ Tuấn Minh  ·  Nguyễn Tiến Đức  ·  Hoàng Huy Chiến</a:t>
            </a:r>
            <a:endParaRPr lang="en-US" sz="1600" dirty="0"/>
          </a:p>
          <a:p>
            <a:pPr indent="0" marL="0">
              <a:spcAft>
                <a:spcPts val="400"/>
              </a:spcAft>
              <a:buNone/>
            </a:pPr>
            <a:r>
              <a:rPr lang="en-US" sz="1600" dirty="0">
                <a:solidFill>
                  <a:schemeClr val="bg1"/>
                </a:solidFill>
              </a:rPr>
              <a:t>School of Information and Communication Technology, Hanoi University of Science and Technology</a:t>
            </a:r>
            <a:endParaRPr lang="en-US" sz="1600" dirty="0"/>
          </a:p>
          <a:p>
            <a:pPr indent="0" marL="0">
              <a:spcAft>
                <a:spcPts val="400"/>
              </a:spcAft>
              <a:buNone/>
            </a:pPr>
            <a:r>
              <a:rPr lang="en-US" sz="1600" dirty="0">
                <a:solidFill>
                  <a:schemeClr val="bg1"/>
                </a:solidFill>
              </a:rPr>
              <a:t>10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Agenda</a:t>
            </a:r>
            <a:endParaRPr lang="en-US" sz="3200" dirty="0"/>
          </a:p>
        </p:txBody>
      </p:sp>
      <p:sp>
        <p:nvSpPr>
          <p:cNvPr id="3" name="agenda-1"/>
          <p:cNvSpPr/>
          <p:nvPr/>
        </p:nvSpPr>
        <p:spPr>
          <a:xfrm>
            <a:off x="548640" y="1554480"/>
            <a:ext cx="11091672" cy="914400"/>
          </a:xfrm>
          <a:prstGeom prst="roundRect">
            <a:avLst>
              <a:gd name="adj" fmla="val 8000"/>
            </a:avLst>
          </a:prstGeom>
          <a:solidFill>
            <a:schemeClr val="bg2"/>
          </a:solidFill>
          <a:ln w="12700">
            <a:solidFill>
              <a:srgbClr val="F3F4F6"/>
            </a:solidFill>
            <a:prstDash val="solid"/>
          </a:ln>
        </p:spPr>
      </p:sp>
      <p:sp>
        <p:nvSpPr>
          <p:cNvPr id="4" name="text-7"/>
          <p:cNvSpPr txBox="1"/>
          <p:nvPr/>
        </p:nvSpPr>
        <p:spPr>
          <a:xfrm>
            <a:off x="822960" y="1554480"/>
            <a:ext cx="100584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01</a:t>
            </a:r>
            <a:endParaRPr lang="en-US" sz="3200" dirty="0"/>
          </a:p>
        </p:txBody>
      </p:sp>
      <p:sp>
        <p:nvSpPr>
          <p:cNvPr id="5" name="text-8"/>
          <p:cNvSpPr txBox="1"/>
          <p:nvPr/>
        </p:nvSpPr>
        <p:spPr>
          <a:xfrm>
            <a:off x="1920240" y="1682496"/>
            <a:ext cx="6858000" cy="384048"/>
          </a:xfrm>
          <a:prstGeom prst="rect">
            <a:avLst/>
          </a:prstGeom>
          <a:noFill/>
          <a:ln/>
        </p:spPr>
        <p:txBody>
          <a:bodyPr wrap="square" lIns="0" tIns="0" rIns="0" bIns="0" rtlCol="0" anchor="ctr"/>
          <a:lstStyle/>
          <a:p>
            <a:pPr indent="0" marL="0">
              <a:buNone/>
            </a:pPr>
            <a:r>
              <a:rPr lang="en-US" sz="1900" b="1" dirty="0">
                <a:solidFill>
                  <a:schemeClr val="tx1"/>
                </a:solidFill>
              </a:rPr>
              <a:t>Goal and the 5-star scheme</a:t>
            </a:r>
            <a:endParaRPr lang="en-US" sz="1900" dirty="0"/>
          </a:p>
        </p:txBody>
      </p:sp>
      <p:sp>
        <p:nvSpPr>
          <p:cNvPr id="6" name="text-9"/>
          <p:cNvSpPr txBox="1"/>
          <p:nvPr/>
        </p:nvSpPr>
        <p:spPr>
          <a:xfrm>
            <a:off x="1920240" y="2057400"/>
            <a:ext cx="6858000" cy="320040"/>
          </a:xfrm>
          <a:prstGeom prst="rect">
            <a:avLst/>
          </a:prstGeom>
          <a:noFill/>
          <a:ln/>
        </p:spPr>
        <p:txBody>
          <a:bodyPr wrap="square" lIns="0" tIns="0" rIns="0" bIns="0" rtlCol="0" anchor="ctr"/>
          <a:lstStyle/>
          <a:p>
            <a:pPr indent="0" marL="0">
              <a:buNone/>
            </a:pPr>
            <a:r>
              <a:rPr lang="en-US" sz="1400" dirty="0">
                <a:solidFill>
                  <a:schemeClr val="accent4"/>
                </a:solidFill>
              </a:rPr>
              <a:t>What the assignment asks for and how we measure it</a:t>
            </a:r>
            <a:endParaRPr lang="en-US" sz="1400" dirty="0"/>
          </a:p>
        </p:txBody>
      </p:sp>
      <p:sp>
        <p:nvSpPr>
          <p:cNvPr id="7" name="text-10"/>
          <p:cNvSpPr txBox="1"/>
          <p:nvPr/>
        </p:nvSpPr>
        <p:spPr>
          <a:xfrm>
            <a:off x="9509760" y="1554480"/>
            <a:ext cx="1828800" cy="914400"/>
          </a:xfrm>
          <a:prstGeom prst="rect">
            <a:avLst/>
          </a:prstGeom>
          <a:noFill/>
          <a:ln/>
        </p:spPr>
        <p:txBody>
          <a:bodyPr wrap="square" lIns="0" tIns="0" rIns="0" bIns="0" rtlCol="0" anchor="ctr"/>
          <a:lstStyle/>
          <a:p>
            <a:pPr algn="r" indent="0" marL="0">
              <a:buNone/>
            </a:pPr>
            <a:r>
              <a:rPr lang="en-US" sz="1500" b="1" dirty="0">
                <a:solidFill>
                  <a:schemeClr val="accent4"/>
                </a:solidFill>
              </a:rPr>
              <a:t>Đức</a:t>
            </a:r>
            <a:endParaRPr lang="en-US" sz="1500" dirty="0"/>
          </a:p>
        </p:txBody>
      </p:sp>
      <p:sp>
        <p:nvSpPr>
          <p:cNvPr id="8" name="agenda-2"/>
          <p:cNvSpPr/>
          <p:nvPr/>
        </p:nvSpPr>
        <p:spPr>
          <a:xfrm>
            <a:off x="548640" y="2670048"/>
            <a:ext cx="11091672" cy="914400"/>
          </a:xfrm>
          <a:prstGeom prst="roundRect">
            <a:avLst>
              <a:gd name="adj" fmla="val 8000"/>
            </a:avLst>
          </a:prstGeom>
          <a:solidFill>
            <a:schemeClr val="bg2"/>
          </a:solidFill>
          <a:ln w="12700">
            <a:solidFill>
              <a:srgbClr val="F3F4F6"/>
            </a:solidFill>
            <a:prstDash val="solid"/>
          </a:ln>
        </p:spPr>
      </p:sp>
      <p:sp>
        <p:nvSpPr>
          <p:cNvPr id="9" name="text-11"/>
          <p:cNvSpPr txBox="1"/>
          <p:nvPr/>
        </p:nvSpPr>
        <p:spPr>
          <a:xfrm>
            <a:off x="822960" y="2670048"/>
            <a:ext cx="100584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02</a:t>
            </a:r>
            <a:endParaRPr lang="en-US" sz="3200" dirty="0"/>
          </a:p>
        </p:txBody>
      </p:sp>
      <p:sp>
        <p:nvSpPr>
          <p:cNvPr id="10" name="text-12"/>
          <p:cNvSpPr txBox="1"/>
          <p:nvPr/>
        </p:nvSpPr>
        <p:spPr>
          <a:xfrm>
            <a:off x="1920240" y="2798064"/>
            <a:ext cx="6858000" cy="384048"/>
          </a:xfrm>
          <a:prstGeom prst="rect">
            <a:avLst/>
          </a:prstGeom>
          <a:noFill/>
          <a:ln/>
        </p:spPr>
        <p:txBody>
          <a:bodyPr wrap="square" lIns="0" tIns="0" rIns="0" bIns="0" rtlCol="0" anchor="ctr"/>
          <a:lstStyle/>
          <a:p>
            <a:pPr indent="0" marL="0">
              <a:buNone/>
            </a:pPr>
            <a:r>
              <a:rPr lang="en-US" sz="1900" b="1" dirty="0">
                <a:solidFill>
                  <a:schemeClr val="tx1"/>
                </a:solidFill>
              </a:rPr>
              <a:t>Ontology and reasoning</a:t>
            </a:r>
            <a:endParaRPr lang="en-US" sz="1900" dirty="0"/>
          </a:p>
        </p:txBody>
      </p:sp>
      <p:sp>
        <p:nvSpPr>
          <p:cNvPr id="11" name="text-13"/>
          <p:cNvSpPr txBox="1"/>
          <p:nvPr/>
        </p:nvSpPr>
        <p:spPr>
          <a:xfrm>
            <a:off x="1920240" y="3172968"/>
            <a:ext cx="6858000" cy="320040"/>
          </a:xfrm>
          <a:prstGeom prst="rect">
            <a:avLst/>
          </a:prstGeom>
          <a:noFill/>
          <a:ln/>
        </p:spPr>
        <p:txBody>
          <a:bodyPr wrap="square" lIns="0" tIns="0" rIns="0" bIns="0" rtlCol="0" anchor="ctr"/>
          <a:lstStyle/>
          <a:p>
            <a:pPr indent="0" marL="0">
              <a:buNone/>
            </a:pPr>
            <a:r>
              <a:rPr lang="en-US" sz="1400" dirty="0">
                <a:solidFill>
                  <a:schemeClr val="accent4"/>
                </a:solidFill>
              </a:rPr>
              <a:t>Competency questions, classes, defined classes, HermiT, SWRL</a:t>
            </a:r>
            <a:endParaRPr lang="en-US" sz="1400" dirty="0"/>
          </a:p>
        </p:txBody>
      </p:sp>
      <p:sp>
        <p:nvSpPr>
          <p:cNvPr id="12" name="text-14"/>
          <p:cNvSpPr txBox="1"/>
          <p:nvPr/>
        </p:nvSpPr>
        <p:spPr>
          <a:xfrm>
            <a:off x="9509760" y="2670048"/>
            <a:ext cx="1828800" cy="914400"/>
          </a:xfrm>
          <a:prstGeom prst="rect">
            <a:avLst/>
          </a:prstGeom>
          <a:noFill/>
          <a:ln/>
        </p:spPr>
        <p:txBody>
          <a:bodyPr wrap="square" lIns="0" tIns="0" rIns="0" bIns="0" rtlCol="0" anchor="ctr"/>
          <a:lstStyle/>
          <a:p>
            <a:pPr algn="r" indent="0" marL="0">
              <a:buNone/>
            </a:pPr>
            <a:r>
              <a:rPr lang="en-US" sz="1500" b="1" dirty="0">
                <a:solidFill>
                  <a:schemeClr val="accent4"/>
                </a:solidFill>
              </a:rPr>
              <a:t>Minh</a:t>
            </a:r>
            <a:endParaRPr lang="en-US" sz="1500" dirty="0"/>
          </a:p>
        </p:txBody>
      </p:sp>
      <p:sp>
        <p:nvSpPr>
          <p:cNvPr id="13" name="agenda-3"/>
          <p:cNvSpPr/>
          <p:nvPr/>
        </p:nvSpPr>
        <p:spPr>
          <a:xfrm>
            <a:off x="548640" y="3785616"/>
            <a:ext cx="11091672" cy="914400"/>
          </a:xfrm>
          <a:prstGeom prst="roundRect">
            <a:avLst>
              <a:gd name="adj" fmla="val 8000"/>
            </a:avLst>
          </a:prstGeom>
          <a:solidFill>
            <a:schemeClr val="bg2"/>
          </a:solidFill>
          <a:ln w="12700">
            <a:solidFill>
              <a:srgbClr val="F3F4F6"/>
            </a:solidFill>
            <a:prstDash val="solid"/>
          </a:ln>
        </p:spPr>
      </p:sp>
      <p:sp>
        <p:nvSpPr>
          <p:cNvPr id="14" name="text-15"/>
          <p:cNvSpPr txBox="1"/>
          <p:nvPr/>
        </p:nvSpPr>
        <p:spPr>
          <a:xfrm>
            <a:off x="822960" y="3785616"/>
            <a:ext cx="100584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03</a:t>
            </a:r>
            <a:endParaRPr lang="en-US" sz="3200" dirty="0"/>
          </a:p>
        </p:txBody>
      </p:sp>
      <p:sp>
        <p:nvSpPr>
          <p:cNvPr id="15" name="text-16"/>
          <p:cNvSpPr txBox="1"/>
          <p:nvPr/>
        </p:nvSpPr>
        <p:spPr>
          <a:xfrm>
            <a:off x="1920240" y="3913632"/>
            <a:ext cx="6858000" cy="384048"/>
          </a:xfrm>
          <a:prstGeom prst="rect">
            <a:avLst/>
          </a:prstGeom>
          <a:noFill/>
          <a:ln/>
        </p:spPr>
        <p:txBody>
          <a:bodyPr wrap="square" lIns="0" tIns="0" rIns="0" bIns="0" rtlCol="0" anchor="ctr"/>
          <a:lstStyle/>
          <a:p>
            <a:pPr indent="0" marL="0">
              <a:buNone/>
            </a:pPr>
            <a:r>
              <a:rPr lang="en-US" sz="1900" b="1" dirty="0">
                <a:solidFill>
                  <a:schemeClr val="tx1"/>
                </a:solidFill>
              </a:rPr>
              <a:t>Data and linking</a:t>
            </a:r>
            <a:endParaRPr lang="en-US" sz="1900" dirty="0"/>
          </a:p>
        </p:txBody>
      </p:sp>
      <p:sp>
        <p:nvSpPr>
          <p:cNvPr id="16" name="text-17"/>
          <p:cNvSpPr txBox="1"/>
          <p:nvPr/>
        </p:nvSpPr>
        <p:spPr>
          <a:xfrm>
            <a:off x="1920240" y="4288536"/>
            <a:ext cx="6858000" cy="320040"/>
          </a:xfrm>
          <a:prstGeom prst="rect">
            <a:avLst/>
          </a:prstGeom>
          <a:noFill/>
          <a:ln/>
        </p:spPr>
        <p:txBody>
          <a:bodyPr wrap="square" lIns="0" tIns="0" rIns="0" bIns="0" rtlCol="0" anchor="ctr"/>
          <a:lstStyle/>
          <a:p>
            <a:pPr indent="0" marL="0">
              <a:buNone/>
            </a:pPr>
            <a:r>
              <a:rPr lang="en-US" sz="1400" dirty="0">
                <a:solidFill>
                  <a:schemeClr val="accent4"/>
                </a:solidFill>
              </a:rPr>
              <a:t>TMDB data, RDF pipeline, links to Wikidata and DBpedia, link quality</a:t>
            </a:r>
            <a:endParaRPr lang="en-US" sz="1400" dirty="0"/>
          </a:p>
        </p:txBody>
      </p:sp>
      <p:sp>
        <p:nvSpPr>
          <p:cNvPr id="17" name="text-18"/>
          <p:cNvSpPr txBox="1"/>
          <p:nvPr/>
        </p:nvSpPr>
        <p:spPr>
          <a:xfrm>
            <a:off x="9509760" y="3785616"/>
            <a:ext cx="1828800" cy="914400"/>
          </a:xfrm>
          <a:prstGeom prst="rect">
            <a:avLst/>
          </a:prstGeom>
          <a:noFill/>
          <a:ln/>
        </p:spPr>
        <p:txBody>
          <a:bodyPr wrap="square" lIns="0" tIns="0" rIns="0" bIns="0" rtlCol="0" anchor="ctr"/>
          <a:lstStyle/>
          <a:p>
            <a:pPr algn="r" indent="0" marL="0">
              <a:buNone/>
            </a:pPr>
            <a:r>
              <a:rPr lang="en-US" sz="1500" b="1" dirty="0">
                <a:solidFill>
                  <a:schemeClr val="accent4"/>
                </a:solidFill>
              </a:rPr>
              <a:t>Đức</a:t>
            </a:r>
            <a:endParaRPr lang="en-US" sz="1500" dirty="0"/>
          </a:p>
        </p:txBody>
      </p:sp>
      <p:sp>
        <p:nvSpPr>
          <p:cNvPr id="18" name="agenda-4"/>
          <p:cNvSpPr/>
          <p:nvPr/>
        </p:nvSpPr>
        <p:spPr>
          <a:xfrm>
            <a:off x="548640" y="4901184"/>
            <a:ext cx="11091672" cy="914400"/>
          </a:xfrm>
          <a:prstGeom prst="roundRect">
            <a:avLst>
              <a:gd name="adj" fmla="val 8000"/>
            </a:avLst>
          </a:prstGeom>
          <a:solidFill>
            <a:schemeClr val="bg2"/>
          </a:solidFill>
          <a:ln w="12700">
            <a:solidFill>
              <a:srgbClr val="F3F4F6"/>
            </a:solidFill>
            <a:prstDash val="solid"/>
          </a:ln>
        </p:spPr>
      </p:sp>
      <p:sp>
        <p:nvSpPr>
          <p:cNvPr id="19" name="text-19"/>
          <p:cNvSpPr txBox="1"/>
          <p:nvPr/>
        </p:nvSpPr>
        <p:spPr>
          <a:xfrm>
            <a:off x="822960" y="4901184"/>
            <a:ext cx="100584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04</a:t>
            </a:r>
            <a:endParaRPr lang="en-US" sz="3200" dirty="0"/>
          </a:p>
        </p:txBody>
      </p:sp>
      <p:sp>
        <p:nvSpPr>
          <p:cNvPr id="20" name="text-20"/>
          <p:cNvSpPr txBox="1"/>
          <p:nvPr/>
        </p:nvSpPr>
        <p:spPr>
          <a:xfrm>
            <a:off x="1920240" y="5029200"/>
            <a:ext cx="6858000" cy="384048"/>
          </a:xfrm>
          <a:prstGeom prst="rect">
            <a:avLst/>
          </a:prstGeom>
          <a:noFill/>
          <a:ln/>
        </p:spPr>
        <p:txBody>
          <a:bodyPr wrap="square" lIns="0" tIns="0" rIns="0" bIns="0" rtlCol="0" anchor="ctr"/>
          <a:lstStyle/>
          <a:p>
            <a:pPr indent="0" marL="0">
              <a:buNone/>
            </a:pPr>
            <a:r>
              <a:rPr lang="en-US" sz="1900" b="1" dirty="0">
                <a:solidFill>
                  <a:schemeClr val="tx1"/>
                </a:solidFill>
              </a:rPr>
              <a:t>Querying and live demo</a:t>
            </a:r>
            <a:endParaRPr lang="en-US" sz="1900" dirty="0"/>
          </a:p>
        </p:txBody>
      </p:sp>
      <p:sp>
        <p:nvSpPr>
          <p:cNvPr id="21" name="text-21"/>
          <p:cNvSpPr txBox="1"/>
          <p:nvPr/>
        </p:nvSpPr>
        <p:spPr>
          <a:xfrm>
            <a:off x="1920240" y="5404104"/>
            <a:ext cx="6858000" cy="320040"/>
          </a:xfrm>
          <a:prstGeom prst="rect">
            <a:avLst/>
          </a:prstGeom>
          <a:noFill/>
          <a:ln/>
        </p:spPr>
        <p:txBody>
          <a:bodyPr wrap="square" lIns="0" tIns="0" rIns="0" bIns="0" rtlCol="0" anchor="ctr"/>
          <a:lstStyle/>
          <a:p>
            <a:pPr indent="0" marL="0">
              <a:buNone/>
            </a:pPr>
            <a:r>
              <a:rPr lang="en-US" sz="1400" dirty="0">
                <a:solidFill>
                  <a:schemeClr val="accent4"/>
                </a:solidFill>
              </a:rPr>
              <a:t>Local and federated SPARQL, Protégé walkthrough, limitations</a:t>
            </a:r>
            <a:endParaRPr lang="en-US" sz="1400" dirty="0"/>
          </a:p>
        </p:txBody>
      </p:sp>
      <p:sp>
        <p:nvSpPr>
          <p:cNvPr id="22" name="text-22"/>
          <p:cNvSpPr txBox="1"/>
          <p:nvPr/>
        </p:nvSpPr>
        <p:spPr>
          <a:xfrm>
            <a:off x="9509760" y="4901184"/>
            <a:ext cx="1828800" cy="914400"/>
          </a:xfrm>
          <a:prstGeom prst="rect">
            <a:avLst/>
          </a:prstGeom>
          <a:noFill/>
          <a:ln/>
        </p:spPr>
        <p:txBody>
          <a:bodyPr wrap="square" lIns="0" tIns="0" rIns="0" bIns="0" rtlCol="0" anchor="ctr"/>
          <a:lstStyle/>
          <a:p>
            <a:pPr algn="r" indent="0" marL="0">
              <a:buNone/>
            </a:pPr>
            <a:r>
              <a:rPr lang="en-US" sz="1500" b="1" dirty="0">
                <a:solidFill>
                  <a:schemeClr val="accent4"/>
                </a:solidFill>
              </a:rPr>
              <a:t>Minh</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Five steps from a raw CSV to 5-star Linked Data</a:t>
            </a:r>
            <a:endParaRPr lang="en-US" sz="3200" dirty="0"/>
          </a:p>
        </p:txBody>
      </p:sp>
      <p:sp>
        <p:nvSpPr>
          <p:cNvPr id="3" name="step-card-1"/>
          <p:cNvSpPr/>
          <p:nvPr/>
        </p:nvSpPr>
        <p:spPr>
          <a:xfrm>
            <a:off x="548640" y="1600200"/>
            <a:ext cx="1998878" cy="4206240"/>
          </a:xfrm>
          <a:prstGeom prst="roundRect">
            <a:avLst>
              <a:gd name="adj" fmla="val 3660"/>
            </a:avLst>
          </a:prstGeom>
          <a:solidFill>
            <a:schemeClr val="bg2"/>
          </a:solidFill>
          <a:ln w="12700">
            <a:solidFill>
              <a:srgbClr val="F3F4F6"/>
            </a:solidFill>
            <a:prstDash val="solid"/>
          </a:ln>
        </p:spPr>
      </p:sp>
      <p:sp>
        <p:nvSpPr>
          <p:cNvPr id="4" name="icon-bg-23"/>
          <p:cNvSpPr/>
          <p:nvPr/>
        </p:nvSpPr>
        <p:spPr>
          <a:xfrm>
            <a:off x="822960" y="1874520"/>
            <a:ext cx="731520" cy="731520"/>
          </a:xfrm>
          <a:prstGeom prst="ellipse">
            <a:avLst/>
          </a:prstGeom>
          <a:solidFill>
            <a:srgbClr val="BF1E2E"/>
          </a:solidFill>
          <a:ln w="12700">
            <a:solidFill>
              <a:srgbClr val="BF1E2E"/>
            </a:solidFill>
            <a:prstDash val="solid"/>
          </a:ln>
        </p:spPr>
      </p:sp>
      <p:pic>
        <p:nvPicPr>
          <p:cNvPr id="5" name="icon-23" descr="preencoded.png">    </p:cNvPr>
          <p:cNvPicPr>
            <a:picLocks noChangeAspect="1"/>
          </p:cNvPicPr>
          <p:nvPr/>
        </p:nvPicPr>
        <p:blipFill>
          <a:blip r:embed="rId1"/>
          <a:stretch>
            <a:fillRect/>
          </a:stretch>
        </p:blipFill>
        <p:spPr>
          <a:xfrm>
            <a:off x="998525" y="2050085"/>
            <a:ext cx="380390" cy="380390"/>
          </a:xfrm>
          <a:prstGeom prst="rect">
            <a:avLst/>
          </a:prstGeom>
        </p:spPr>
      </p:pic>
      <p:sp>
        <p:nvSpPr>
          <p:cNvPr id="6" name="text-24"/>
          <p:cNvSpPr txBox="1"/>
          <p:nvPr/>
        </p:nvSpPr>
        <p:spPr>
          <a:xfrm>
            <a:off x="822960" y="2788920"/>
            <a:ext cx="1450238" cy="274320"/>
          </a:xfrm>
          <a:prstGeom prst="rect">
            <a:avLst/>
          </a:prstGeom>
          <a:noFill/>
          <a:ln/>
        </p:spPr>
        <p:txBody>
          <a:bodyPr wrap="square" lIns="0" tIns="0" rIns="0" bIns="0" rtlCol="0" anchor="ctr"/>
          <a:lstStyle/>
          <a:p>
            <a:pPr indent="0" marL="0">
              <a:buNone/>
            </a:pPr>
            <a:r>
              <a:rPr lang="en-US" sz="1200" b="1" dirty="0">
                <a:solidFill>
                  <a:schemeClr val="accent1"/>
                </a:solidFill>
              </a:rPr>
              <a:t>Step 1</a:t>
            </a:r>
            <a:endParaRPr lang="en-US" sz="1200" dirty="0"/>
          </a:p>
        </p:txBody>
      </p:sp>
      <p:sp>
        <p:nvSpPr>
          <p:cNvPr id="7" name="text-25"/>
          <p:cNvSpPr txBox="1"/>
          <p:nvPr/>
        </p:nvSpPr>
        <p:spPr>
          <a:xfrm>
            <a:off x="822960" y="3063240"/>
            <a:ext cx="145023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Ontology</a:t>
            </a:r>
            <a:endParaRPr lang="en-US" sz="2200" dirty="0"/>
          </a:p>
        </p:txBody>
      </p:sp>
      <p:sp>
        <p:nvSpPr>
          <p:cNvPr id="8" name="text-26"/>
          <p:cNvSpPr txBox="1"/>
          <p:nvPr/>
        </p:nvSpPr>
        <p:spPr>
          <a:xfrm>
            <a:off x="822960" y="3611880"/>
            <a:ext cx="1450238" cy="1463040"/>
          </a:xfrm>
          <a:prstGeom prst="rect">
            <a:avLst/>
          </a:prstGeom>
          <a:noFill/>
          <a:ln/>
        </p:spPr>
        <p:txBody>
          <a:bodyPr wrap="square" lIns="0" tIns="0" rIns="0" bIns="0" rtlCol="0" anchor="t"/>
          <a:lstStyle/>
          <a:p>
            <a:pPr indent="0" marL="0">
              <a:buNone/>
            </a:pPr>
            <a:r>
              <a:rPr lang="en-US" sz="1400" dirty="0">
                <a:solidFill>
                  <a:schemeClr val="accent4"/>
                </a:solidFill>
              </a:rPr>
              <a:t>Core classes, an n-ary CastRole, reused vocabularies, defined classes the reasoner can fill</a:t>
            </a:r>
            <a:endParaRPr lang="en-US" sz="1400" dirty="0"/>
          </a:p>
        </p:txBody>
      </p:sp>
      <p:sp>
        <p:nvSpPr>
          <p:cNvPr id="9" name="step-card-2"/>
          <p:cNvSpPr/>
          <p:nvPr/>
        </p:nvSpPr>
        <p:spPr>
          <a:xfrm>
            <a:off x="2821838" y="1600200"/>
            <a:ext cx="1998878" cy="4206240"/>
          </a:xfrm>
          <a:prstGeom prst="roundRect">
            <a:avLst>
              <a:gd name="adj" fmla="val 3660"/>
            </a:avLst>
          </a:prstGeom>
          <a:solidFill>
            <a:schemeClr val="bg2"/>
          </a:solidFill>
          <a:ln w="12700">
            <a:solidFill>
              <a:srgbClr val="F3F4F6"/>
            </a:solidFill>
            <a:prstDash val="solid"/>
          </a:ln>
        </p:spPr>
      </p:sp>
      <p:sp>
        <p:nvSpPr>
          <p:cNvPr id="10" name="icon-bg-27"/>
          <p:cNvSpPr/>
          <p:nvPr/>
        </p:nvSpPr>
        <p:spPr>
          <a:xfrm>
            <a:off x="3096158" y="1874520"/>
            <a:ext cx="731520" cy="731520"/>
          </a:xfrm>
          <a:prstGeom prst="ellipse">
            <a:avLst/>
          </a:prstGeom>
          <a:solidFill>
            <a:srgbClr val="BF1E2E"/>
          </a:solidFill>
          <a:ln w="12700">
            <a:solidFill>
              <a:srgbClr val="BF1E2E"/>
            </a:solidFill>
            <a:prstDash val="solid"/>
          </a:ln>
        </p:spPr>
      </p:sp>
      <p:pic>
        <p:nvPicPr>
          <p:cNvPr id="11" name="icon-27" descr="preencoded.png">    </p:cNvPr>
          <p:cNvPicPr>
            <a:picLocks noChangeAspect="1"/>
          </p:cNvPicPr>
          <p:nvPr/>
        </p:nvPicPr>
        <p:blipFill>
          <a:blip r:embed="rId2"/>
          <a:stretch>
            <a:fillRect/>
          </a:stretch>
        </p:blipFill>
        <p:spPr>
          <a:xfrm>
            <a:off x="3271723" y="2050085"/>
            <a:ext cx="380390" cy="380390"/>
          </a:xfrm>
          <a:prstGeom prst="rect">
            <a:avLst/>
          </a:prstGeom>
        </p:spPr>
      </p:pic>
      <p:sp>
        <p:nvSpPr>
          <p:cNvPr id="12" name="text-28"/>
          <p:cNvSpPr txBox="1"/>
          <p:nvPr/>
        </p:nvSpPr>
        <p:spPr>
          <a:xfrm>
            <a:off x="3096158" y="2788920"/>
            <a:ext cx="1450238" cy="274320"/>
          </a:xfrm>
          <a:prstGeom prst="rect">
            <a:avLst/>
          </a:prstGeom>
          <a:noFill/>
          <a:ln/>
        </p:spPr>
        <p:txBody>
          <a:bodyPr wrap="square" lIns="0" tIns="0" rIns="0" bIns="0" rtlCol="0" anchor="ctr"/>
          <a:lstStyle/>
          <a:p>
            <a:pPr indent="0" marL="0">
              <a:buNone/>
            </a:pPr>
            <a:r>
              <a:rPr lang="en-US" sz="1200" b="1" dirty="0">
                <a:solidFill>
                  <a:schemeClr val="accent1"/>
                </a:solidFill>
              </a:rPr>
              <a:t>Step 2</a:t>
            </a:r>
            <a:endParaRPr lang="en-US" sz="1200" dirty="0"/>
          </a:p>
        </p:txBody>
      </p:sp>
      <p:sp>
        <p:nvSpPr>
          <p:cNvPr id="13" name="text-29"/>
          <p:cNvSpPr txBox="1"/>
          <p:nvPr/>
        </p:nvSpPr>
        <p:spPr>
          <a:xfrm>
            <a:off x="3096158" y="3063240"/>
            <a:ext cx="145023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Data</a:t>
            </a:r>
            <a:endParaRPr lang="en-US" sz="2200" dirty="0"/>
          </a:p>
        </p:txBody>
      </p:sp>
      <p:sp>
        <p:nvSpPr>
          <p:cNvPr id="14" name="text-30"/>
          <p:cNvSpPr txBox="1"/>
          <p:nvPr/>
        </p:nvSpPr>
        <p:spPr>
          <a:xfrm>
            <a:off x="3096158" y="3611880"/>
            <a:ext cx="1450238" cy="1463040"/>
          </a:xfrm>
          <a:prstGeom prst="rect">
            <a:avLst/>
          </a:prstGeom>
          <a:noFill/>
          <a:ln/>
        </p:spPr>
        <p:txBody>
          <a:bodyPr wrap="square" lIns="0" tIns="0" rIns="0" bIns="0" rtlCol="0" anchor="t"/>
          <a:lstStyle/>
          <a:p>
            <a:pPr indent="0" marL="0">
              <a:buNone/>
            </a:pPr>
            <a:r>
              <a:rPr lang="en-US" sz="1400" dirty="0">
                <a:solidFill>
                  <a:schemeClr val="accent4"/>
                </a:solidFill>
              </a:rPr>
              <a:t>250 top-rated films from the Kaggle TMDB 5000 dataset</a:t>
            </a:r>
            <a:endParaRPr lang="en-US" sz="1400" dirty="0"/>
          </a:p>
        </p:txBody>
      </p:sp>
      <p:sp>
        <p:nvSpPr>
          <p:cNvPr id="15" name="step-card-3"/>
          <p:cNvSpPr/>
          <p:nvPr/>
        </p:nvSpPr>
        <p:spPr>
          <a:xfrm>
            <a:off x="5095037" y="1600200"/>
            <a:ext cx="1998878" cy="4206240"/>
          </a:xfrm>
          <a:prstGeom prst="roundRect">
            <a:avLst>
              <a:gd name="adj" fmla="val 3660"/>
            </a:avLst>
          </a:prstGeom>
          <a:solidFill>
            <a:schemeClr val="bg2"/>
          </a:solidFill>
          <a:ln w="12700">
            <a:solidFill>
              <a:srgbClr val="F3F4F6"/>
            </a:solidFill>
            <a:prstDash val="solid"/>
          </a:ln>
        </p:spPr>
      </p:sp>
      <p:sp>
        <p:nvSpPr>
          <p:cNvPr id="16" name="icon-bg-31"/>
          <p:cNvSpPr/>
          <p:nvPr/>
        </p:nvSpPr>
        <p:spPr>
          <a:xfrm>
            <a:off x="5369357" y="1874520"/>
            <a:ext cx="731520" cy="731520"/>
          </a:xfrm>
          <a:prstGeom prst="ellipse">
            <a:avLst/>
          </a:prstGeom>
          <a:solidFill>
            <a:srgbClr val="BF1E2E"/>
          </a:solidFill>
          <a:ln w="12700">
            <a:solidFill>
              <a:srgbClr val="BF1E2E"/>
            </a:solidFill>
            <a:prstDash val="solid"/>
          </a:ln>
        </p:spPr>
      </p:sp>
      <p:pic>
        <p:nvPicPr>
          <p:cNvPr id="17" name="icon-31" descr="preencoded.png">    </p:cNvPr>
          <p:cNvPicPr>
            <a:picLocks noChangeAspect="1"/>
          </p:cNvPicPr>
          <p:nvPr/>
        </p:nvPicPr>
        <p:blipFill>
          <a:blip r:embed="rId3"/>
          <a:stretch>
            <a:fillRect/>
          </a:stretch>
        </p:blipFill>
        <p:spPr>
          <a:xfrm>
            <a:off x="5544922" y="2050085"/>
            <a:ext cx="380390" cy="380390"/>
          </a:xfrm>
          <a:prstGeom prst="rect">
            <a:avLst/>
          </a:prstGeom>
        </p:spPr>
      </p:pic>
      <p:sp>
        <p:nvSpPr>
          <p:cNvPr id="18" name="text-32"/>
          <p:cNvSpPr txBox="1"/>
          <p:nvPr/>
        </p:nvSpPr>
        <p:spPr>
          <a:xfrm>
            <a:off x="5369357" y="2788920"/>
            <a:ext cx="1450238" cy="274320"/>
          </a:xfrm>
          <a:prstGeom prst="rect">
            <a:avLst/>
          </a:prstGeom>
          <a:noFill/>
          <a:ln/>
        </p:spPr>
        <p:txBody>
          <a:bodyPr wrap="square" lIns="0" tIns="0" rIns="0" bIns="0" rtlCol="0" anchor="ctr"/>
          <a:lstStyle/>
          <a:p>
            <a:pPr indent="0" marL="0">
              <a:buNone/>
            </a:pPr>
            <a:r>
              <a:rPr lang="en-US" sz="1200" b="1" dirty="0">
                <a:solidFill>
                  <a:schemeClr val="accent1"/>
                </a:solidFill>
              </a:rPr>
              <a:t>Step 3</a:t>
            </a:r>
            <a:endParaRPr lang="en-US" sz="1200" dirty="0"/>
          </a:p>
        </p:txBody>
      </p:sp>
      <p:sp>
        <p:nvSpPr>
          <p:cNvPr id="19" name="text-33"/>
          <p:cNvSpPr txBox="1"/>
          <p:nvPr/>
        </p:nvSpPr>
        <p:spPr>
          <a:xfrm>
            <a:off x="5369357" y="3063240"/>
            <a:ext cx="145023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RDF</a:t>
            </a:r>
            <a:endParaRPr lang="en-US" sz="2200" dirty="0"/>
          </a:p>
        </p:txBody>
      </p:sp>
      <p:sp>
        <p:nvSpPr>
          <p:cNvPr id="20" name="text-34"/>
          <p:cNvSpPr txBox="1"/>
          <p:nvPr/>
        </p:nvSpPr>
        <p:spPr>
          <a:xfrm>
            <a:off x="5369357" y="3611880"/>
            <a:ext cx="1450238" cy="1463040"/>
          </a:xfrm>
          <a:prstGeom prst="rect">
            <a:avLst/>
          </a:prstGeom>
          <a:noFill/>
          <a:ln/>
        </p:spPr>
        <p:txBody>
          <a:bodyPr wrap="square" lIns="0" tIns="0" rIns="0" bIns="0" rtlCol="0" anchor="t"/>
          <a:lstStyle/>
          <a:p>
            <a:pPr indent="0" marL="0">
              <a:buNone/>
            </a:pPr>
            <a:r>
              <a:rPr lang="en-US" sz="1400" dirty="0">
                <a:solidFill>
                  <a:schemeClr val="accent4"/>
                </a:solidFill>
              </a:rPr>
              <a:t>Turtle generated with Python RDFLib, a URI for every film and person</a:t>
            </a:r>
            <a:endParaRPr lang="en-US" sz="1400" dirty="0"/>
          </a:p>
        </p:txBody>
      </p:sp>
      <p:pic>
        <p:nvPicPr>
          <p:cNvPr id="21" name="star-35" descr="preencoded.png">    </p:cNvPr>
          <p:cNvPicPr>
            <a:picLocks noChangeAspect="1"/>
          </p:cNvPicPr>
          <p:nvPr/>
        </p:nvPicPr>
        <p:blipFill>
          <a:blip r:embed="rId4"/>
          <a:stretch>
            <a:fillRect/>
          </a:stretch>
        </p:blipFill>
        <p:spPr>
          <a:xfrm>
            <a:off x="5369357" y="5257800"/>
            <a:ext cx="237744" cy="237744"/>
          </a:xfrm>
          <a:prstGeom prst="rect">
            <a:avLst/>
          </a:prstGeom>
        </p:spPr>
      </p:pic>
      <p:pic>
        <p:nvPicPr>
          <p:cNvPr id="22" name="star-36" descr="preencoded.png">    </p:cNvPr>
          <p:cNvPicPr>
            <a:picLocks noChangeAspect="1"/>
          </p:cNvPicPr>
          <p:nvPr/>
        </p:nvPicPr>
        <p:blipFill>
          <a:blip r:embed="rId5"/>
          <a:stretch>
            <a:fillRect/>
          </a:stretch>
        </p:blipFill>
        <p:spPr>
          <a:xfrm>
            <a:off x="5652821" y="5257800"/>
            <a:ext cx="237744" cy="237744"/>
          </a:xfrm>
          <a:prstGeom prst="rect">
            <a:avLst/>
          </a:prstGeom>
        </p:spPr>
      </p:pic>
      <p:pic>
        <p:nvPicPr>
          <p:cNvPr id="23" name="star-37" descr="preencoded.png">    </p:cNvPr>
          <p:cNvPicPr>
            <a:picLocks noChangeAspect="1"/>
          </p:cNvPicPr>
          <p:nvPr/>
        </p:nvPicPr>
        <p:blipFill>
          <a:blip r:embed="rId6"/>
          <a:stretch>
            <a:fillRect/>
          </a:stretch>
        </p:blipFill>
        <p:spPr>
          <a:xfrm>
            <a:off x="5936285" y="5257800"/>
            <a:ext cx="237744" cy="237744"/>
          </a:xfrm>
          <a:prstGeom prst="rect">
            <a:avLst/>
          </a:prstGeom>
        </p:spPr>
      </p:pic>
      <p:pic>
        <p:nvPicPr>
          <p:cNvPr id="24" name="star-38" descr="preencoded.png">    </p:cNvPr>
          <p:cNvPicPr>
            <a:picLocks noChangeAspect="1"/>
          </p:cNvPicPr>
          <p:nvPr/>
        </p:nvPicPr>
        <p:blipFill>
          <a:blip r:embed="rId7"/>
          <a:stretch>
            <a:fillRect/>
          </a:stretch>
        </p:blipFill>
        <p:spPr>
          <a:xfrm>
            <a:off x="6219749" y="5257800"/>
            <a:ext cx="237744" cy="237744"/>
          </a:xfrm>
          <a:prstGeom prst="rect">
            <a:avLst/>
          </a:prstGeom>
        </p:spPr>
      </p:pic>
      <p:sp>
        <p:nvSpPr>
          <p:cNvPr id="25" name="text-39"/>
          <p:cNvSpPr txBox="1"/>
          <p:nvPr/>
        </p:nvSpPr>
        <p:spPr>
          <a:xfrm>
            <a:off x="6548933" y="5239512"/>
            <a:ext cx="914400" cy="274320"/>
          </a:xfrm>
          <a:prstGeom prst="rect">
            <a:avLst/>
          </a:prstGeom>
          <a:noFill/>
          <a:ln/>
        </p:spPr>
        <p:txBody>
          <a:bodyPr wrap="square" lIns="0" tIns="0" rIns="0" bIns="0" rtlCol="0" anchor="ctr"/>
          <a:lstStyle/>
          <a:p>
            <a:pPr indent="0" marL="0">
              <a:buNone/>
            </a:pPr>
            <a:r>
              <a:rPr lang="en-US" sz="1200" b="1" dirty="0">
                <a:solidFill>
                  <a:schemeClr val="accent4"/>
                </a:solidFill>
              </a:rPr>
              <a:t>4-star</a:t>
            </a:r>
            <a:endParaRPr lang="en-US" sz="1200" dirty="0"/>
          </a:p>
        </p:txBody>
      </p:sp>
      <p:sp>
        <p:nvSpPr>
          <p:cNvPr id="26" name="step-card-4"/>
          <p:cNvSpPr/>
          <p:nvPr/>
        </p:nvSpPr>
        <p:spPr>
          <a:xfrm>
            <a:off x="7368235" y="1600200"/>
            <a:ext cx="1998878" cy="4206240"/>
          </a:xfrm>
          <a:prstGeom prst="roundRect">
            <a:avLst>
              <a:gd name="adj" fmla="val 3660"/>
            </a:avLst>
          </a:prstGeom>
          <a:solidFill>
            <a:schemeClr val="bg2"/>
          </a:solidFill>
          <a:ln w="12700">
            <a:solidFill>
              <a:srgbClr val="F3F4F6"/>
            </a:solidFill>
            <a:prstDash val="solid"/>
          </a:ln>
        </p:spPr>
      </p:sp>
      <p:sp>
        <p:nvSpPr>
          <p:cNvPr id="27" name="icon-bg-40"/>
          <p:cNvSpPr/>
          <p:nvPr/>
        </p:nvSpPr>
        <p:spPr>
          <a:xfrm>
            <a:off x="7642555" y="1874520"/>
            <a:ext cx="731520" cy="731520"/>
          </a:xfrm>
          <a:prstGeom prst="ellipse">
            <a:avLst/>
          </a:prstGeom>
          <a:solidFill>
            <a:srgbClr val="BF1E2E"/>
          </a:solidFill>
          <a:ln w="12700">
            <a:solidFill>
              <a:srgbClr val="BF1E2E"/>
            </a:solidFill>
            <a:prstDash val="solid"/>
          </a:ln>
        </p:spPr>
      </p:sp>
      <p:pic>
        <p:nvPicPr>
          <p:cNvPr id="28" name="icon-40" descr="preencoded.png">    </p:cNvPr>
          <p:cNvPicPr>
            <a:picLocks noChangeAspect="1"/>
          </p:cNvPicPr>
          <p:nvPr/>
        </p:nvPicPr>
        <p:blipFill>
          <a:blip r:embed="rId8"/>
          <a:stretch>
            <a:fillRect/>
          </a:stretch>
        </p:blipFill>
        <p:spPr>
          <a:xfrm>
            <a:off x="7818120" y="2050085"/>
            <a:ext cx="380390" cy="380390"/>
          </a:xfrm>
          <a:prstGeom prst="rect">
            <a:avLst/>
          </a:prstGeom>
        </p:spPr>
      </p:pic>
      <p:sp>
        <p:nvSpPr>
          <p:cNvPr id="29" name="text-41"/>
          <p:cNvSpPr txBox="1"/>
          <p:nvPr/>
        </p:nvSpPr>
        <p:spPr>
          <a:xfrm>
            <a:off x="7642555" y="2788920"/>
            <a:ext cx="1450238" cy="274320"/>
          </a:xfrm>
          <a:prstGeom prst="rect">
            <a:avLst/>
          </a:prstGeom>
          <a:noFill/>
          <a:ln/>
        </p:spPr>
        <p:txBody>
          <a:bodyPr wrap="square" lIns="0" tIns="0" rIns="0" bIns="0" rtlCol="0" anchor="ctr"/>
          <a:lstStyle/>
          <a:p>
            <a:pPr indent="0" marL="0">
              <a:buNone/>
            </a:pPr>
            <a:r>
              <a:rPr lang="en-US" sz="1200" b="1" dirty="0">
                <a:solidFill>
                  <a:schemeClr val="accent1"/>
                </a:solidFill>
              </a:rPr>
              <a:t>Step 4</a:t>
            </a:r>
            <a:endParaRPr lang="en-US" sz="1200" dirty="0"/>
          </a:p>
        </p:txBody>
      </p:sp>
      <p:sp>
        <p:nvSpPr>
          <p:cNvPr id="30" name="text-42"/>
          <p:cNvSpPr txBox="1"/>
          <p:nvPr/>
        </p:nvSpPr>
        <p:spPr>
          <a:xfrm>
            <a:off x="7642555" y="3063240"/>
            <a:ext cx="145023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Links</a:t>
            </a:r>
            <a:endParaRPr lang="en-US" sz="2200" dirty="0"/>
          </a:p>
        </p:txBody>
      </p:sp>
      <p:sp>
        <p:nvSpPr>
          <p:cNvPr id="31" name="text-43"/>
          <p:cNvSpPr txBox="1"/>
          <p:nvPr/>
        </p:nvSpPr>
        <p:spPr>
          <a:xfrm>
            <a:off x="7642555" y="3611880"/>
            <a:ext cx="1450238" cy="1463040"/>
          </a:xfrm>
          <a:prstGeom prst="rect">
            <a:avLst/>
          </a:prstGeom>
          <a:noFill/>
          <a:ln/>
        </p:spPr>
        <p:txBody>
          <a:bodyPr wrap="square" lIns="0" tIns="0" rIns="0" bIns="0" rtlCol="0" anchor="t"/>
          <a:lstStyle/>
          <a:p>
            <a:pPr indent="0" marL="0">
              <a:buNone/>
            </a:pPr>
            <a:r>
              <a:rPr lang="en-US" sz="1400" dirty="0">
                <a:solidFill>
                  <a:schemeClr val="accent4"/>
                </a:solidFill>
              </a:rPr>
              <a:t>920 owl:sameAs links to Wikidata, 912 to DBpedia</a:t>
            </a:r>
            <a:endParaRPr lang="en-US" sz="1400" dirty="0"/>
          </a:p>
        </p:txBody>
      </p:sp>
      <p:pic>
        <p:nvPicPr>
          <p:cNvPr id="32" name="star-44" descr="preencoded.png">    </p:cNvPr>
          <p:cNvPicPr>
            <a:picLocks noChangeAspect="1"/>
          </p:cNvPicPr>
          <p:nvPr/>
        </p:nvPicPr>
        <p:blipFill>
          <a:blip r:embed="rId9"/>
          <a:stretch>
            <a:fillRect/>
          </a:stretch>
        </p:blipFill>
        <p:spPr>
          <a:xfrm>
            <a:off x="7642555" y="5257800"/>
            <a:ext cx="237744" cy="237744"/>
          </a:xfrm>
          <a:prstGeom prst="rect">
            <a:avLst/>
          </a:prstGeom>
        </p:spPr>
      </p:pic>
      <p:pic>
        <p:nvPicPr>
          <p:cNvPr id="33" name="star-45" descr="preencoded.png">    </p:cNvPr>
          <p:cNvPicPr>
            <a:picLocks noChangeAspect="1"/>
          </p:cNvPicPr>
          <p:nvPr/>
        </p:nvPicPr>
        <p:blipFill>
          <a:blip r:embed="rId10"/>
          <a:stretch>
            <a:fillRect/>
          </a:stretch>
        </p:blipFill>
        <p:spPr>
          <a:xfrm>
            <a:off x="7926019" y="5257800"/>
            <a:ext cx="237744" cy="237744"/>
          </a:xfrm>
          <a:prstGeom prst="rect">
            <a:avLst/>
          </a:prstGeom>
        </p:spPr>
      </p:pic>
      <p:pic>
        <p:nvPicPr>
          <p:cNvPr id="34" name="star-46" descr="preencoded.png">    </p:cNvPr>
          <p:cNvPicPr>
            <a:picLocks noChangeAspect="1"/>
          </p:cNvPicPr>
          <p:nvPr/>
        </p:nvPicPr>
        <p:blipFill>
          <a:blip r:embed="rId11"/>
          <a:stretch>
            <a:fillRect/>
          </a:stretch>
        </p:blipFill>
        <p:spPr>
          <a:xfrm>
            <a:off x="8209483" y="5257800"/>
            <a:ext cx="237744" cy="237744"/>
          </a:xfrm>
          <a:prstGeom prst="rect">
            <a:avLst/>
          </a:prstGeom>
        </p:spPr>
      </p:pic>
      <p:pic>
        <p:nvPicPr>
          <p:cNvPr id="35" name="star-47" descr="preencoded.png">    </p:cNvPr>
          <p:cNvPicPr>
            <a:picLocks noChangeAspect="1"/>
          </p:cNvPicPr>
          <p:nvPr/>
        </p:nvPicPr>
        <p:blipFill>
          <a:blip r:embed="rId12"/>
          <a:stretch>
            <a:fillRect/>
          </a:stretch>
        </p:blipFill>
        <p:spPr>
          <a:xfrm>
            <a:off x="8492947" y="5257800"/>
            <a:ext cx="237744" cy="237744"/>
          </a:xfrm>
          <a:prstGeom prst="rect">
            <a:avLst/>
          </a:prstGeom>
        </p:spPr>
      </p:pic>
      <p:pic>
        <p:nvPicPr>
          <p:cNvPr id="36" name="star-48" descr="preencoded.png">    </p:cNvPr>
          <p:cNvPicPr>
            <a:picLocks noChangeAspect="1"/>
          </p:cNvPicPr>
          <p:nvPr/>
        </p:nvPicPr>
        <p:blipFill>
          <a:blip r:embed="rId13"/>
          <a:stretch>
            <a:fillRect/>
          </a:stretch>
        </p:blipFill>
        <p:spPr>
          <a:xfrm>
            <a:off x="8776411" y="5257800"/>
            <a:ext cx="237744" cy="237744"/>
          </a:xfrm>
          <a:prstGeom prst="rect">
            <a:avLst/>
          </a:prstGeom>
        </p:spPr>
      </p:pic>
      <p:sp>
        <p:nvSpPr>
          <p:cNvPr id="37" name="text-49"/>
          <p:cNvSpPr txBox="1"/>
          <p:nvPr/>
        </p:nvSpPr>
        <p:spPr>
          <a:xfrm>
            <a:off x="9105595" y="5239512"/>
            <a:ext cx="914400" cy="274320"/>
          </a:xfrm>
          <a:prstGeom prst="rect">
            <a:avLst/>
          </a:prstGeom>
          <a:noFill/>
          <a:ln/>
        </p:spPr>
        <p:txBody>
          <a:bodyPr wrap="square" lIns="0" tIns="0" rIns="0" bIns="0" rtlCol="0" anchor="ctr"/>
          <a:lstStyle/>
          <a:p>
            <a:pPr indent="0" marL="0">
              <a:buNone/>
            </a:pPr>
            <a:r>
              <a:rPr lang="en-US" sz="1200" b="1" dirty="0">
                <a:solidFill>
                  <a:schemeClr val="accent4"/>
                </a:solidFill>
              </a:rPr>
              <a:t>5-star</a:t>
            </a:r>
            <a:endParaRPr lang="en-US" sz="1200" dirty="0"/>
          </a:p>
        </p:txBody>
      </p:sp>
      <p:sp>
        <p:nvSpPr>
          <p:cNvPr id="38" name="step-card-5"/>
          <p:cNvSpPr/>
          <p:nvPr/>
        </p:nvSpPr>
        <p:spPr>
          <a:xfrm>
            <a:off x="9641434" y="1600200"/>
            <a:ext cx="1998878" cy="4206240"/>
          </a:xfrm>
          <a:prstGeom prst="roundRect">
            <a:avLst>
              <a:gd name="adj" fmla="val 3660"/>
            </a:avLst>
          </a:prstGeom>
          <a:solidFill>
            <a:schemeClr val="bg2"/>
          </a:solidFill>
          <a:ln w="12700">
            <a:solidFill>
              <a:srgbClr val="F3F4F6"/>
            </a:solidFill>
            <a:prstDash val="solid"/>
          </a:ln>
        </p:spPr>
      </p:sp>
      <p:sp>
        <p:nvSpPr>
          <p:cNvPr id="39" name="icon-bg-50"/>
          <p:cNvSpPr/>
          <p:nvPr/>
        </p:nvSpPr>
        <p:spPr>
          <a:xfrm>
            <a:off x="9915754" y="1874520"/>
            <a:ext cx="731520" cy="731520"/>
          </a:xfrm>
          <a:prstGeom prst="ellipse">
            <a:avLst/>
          </a:prstGeom>
          <a:solidFill>
            <a:srgbClr val="BF1E2E"/>
          </a:solidFill>
          <a:ln w="12700">
            <a:solidFill>
              <a:srgbClr val="BF1E2E"/>
            </a:solidFill>
            <a:prstDash val="solid"/>
          </a:ln>
        </p:spPr>
      </p:sp>
      <p:pic>
        <p:nvPicPr>
          <p:cNvPr id="40" name="icon-50" descr="preencoded.png">    </p:cNvPr>
          <p:cNvPicPr>
            <a:picLocks noChangeAspect="1"/>
          </p:cNvPicPr>
          <p:nvPr/>
        </p:nvPicPr>
        <p:blipFill>
          <a:blip r:embed="rId14"/>
          <a:stretch>
            <a:fillRect/>
          </a:stretch>
        </p:blipFill>
        <p:spPr>
          <a:xfrm>
            <a:off x="10091318" y="2050085"/>
            <a:ext cx="380390" cy="380390"/>
          </a:xfrm>
          <a:prstGeom prst="rect">
            <a:avLst/>
          </a:prstGeom>
        </p:spPr>
      </p:pic>
      <p:sp>
        <p:nvSpPr>
          <p:cNvPr id="41" name="text-51"/>
          <p:cNvSpPr txBox="1"/>
          <p:nvPr/>
        </p:nvSpPr>
        <p:spPr>
          <a:xfrm>
            <a:off x="9915754" y="2788920"/>
            <a:ext cx="1450238" cy="274320"/>
          </a:xfrm>
          <a:prstGeom prst="rect">
            <a:avLst/>
          </a:prstGeom>
          <a:noFill/>
          <a:ln/>
        </p:spPr>
        <p:txBody>
          <a:bodyPr wrap="square" lIns="0" tIns="0" rIns="0" bIns="0" rtlCol="0" anchor="ctr"/>
          <a:lstStyle/>
          <a:p>
            <a:pPr indent="0" marL="0">
              <a:buNone/>
            </a:pPr>
            <a:r>
              <a:rPr lang="en-US" sz="1200" b="1" dirty="0">
                <a:solidFill>
                  <a:schemeClr val="accent1"/>
                </a:solidFill>
              </a:rPr>
              <a:t>Step 5</a:t>
            </a:r>
            <a:endParaRPr lang="en-US" sz="1200" dirty="0"/>
          </a:p>
        </p:txBody>
      </p:sp>
      <p:sp>
        <p:nvSpPr>
          <p:cNvPr id="42" name="text-52"/>
          <p:cNvSpPr txBox="1"/>
          <p:nvPr/>
        </p:nvSpPr>
        <p:spPr>
          <a:xfrm>
            <a:off x="9915754" y="3063240"/>
            <a:ext cx="145023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SPARQL</a:t>
            </a:r>
            <a:endParaRPr lang="en-US" sz="2200" dirty="0"/>
          </a:p>
        </p:txBody>
      </p:sp>
      <p:sp>
        <p:nvSpPr>
          <p:cNvPr id="43" name="text-53"/>
          <p:cNvSpPr txBox="1"/>
          <p:nvPr/>
        </p:nvSpPr>
        <p:spPr>
          <a:xfrm>
            <a:off x="9915754" y="3611880"/>
            <a:ext cx="1450238" cy="1463040"/>
          </a:xfrm>
          <a:prstGeom prst="rect">
            <a:avLst/>
          </a:prstGeom>
          <a:noFill/>
          <a:ln/>
        </p:spPr>
        <p:txBody>
          <a:bodyPr wrap="square" lIns="0" tIns="0" rIns="0" bIns="0" rtlCol="0" anchor="t"/>
          <a:lstStyle/>
          <a:p>
            <a:pPr indent="0" marL="0">
              <a:buNone/>
            </a:pPr>
            <a:r>
              <a:rPr lang="en-US" sz="1400" dirty="0">
                <a:solidFill>
                  <a:schemeClr val="accent4"/>
                </a:solidFill>
              </a:rPr>
              <a:t>Terminal interface and Protégé, 21 queries: local, cast-role and federated</a:t>
            </a:r>
            <a:endParaRPr lang="en-US" sz="14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The 5-star Linked Open Data scheme, applied</a:t>
            </a:r>
            <a:endParaRPr lang="en-US" sz="3200" dirty="0"/>
          </a:p>
        </p:txBody>
      </p:sp>
      <p:pic>
        <p:nvPicPr>
          <p:cNvPr id="3" name="star-54" descr="preencoded.png">    </p:cNvPr>
          <p:cNvPicPr>
            <a:picLocks noChangeAspect="1"/>
          </p:cNvPicPr>
          <p:nvPr/>
        </p:nvPicPr>
        <p:blipFill>
          <a:blip r:embed="rId1"/>
          <a:stretch>
            <a:fillRect/>
          </a:stretch>
        </p:blipFill>
        <p:spPr>
          <a:xfrm>
            <a:off x="548640" y="1755648"/>
            <a:ext cx="274320" cy="274320"/>
          </a:xfrm>
          <a:prstGeom prst="rect">
            <a:avLst/>
          </a:prstGeom>
        </p:spPr>
      </p:pic>
      <p:sp>
        <p:nvSpPr>
          <p:cNvPr id="4" name="text-55"/>
          <p:cNvSpPr txBox="1"/>
          <p:nvPr/>
        </p:nvSpPr>
        <p:spPr>
          <a:xfrm>
            <a:off x="2423160" y="1508760"/>
            <a:ext cx="3566160" cy="777240"/>
          </a:xfrm>
          <a:prstGeom prst="rect">
            <a:avLst/>
          </a:prstGeom>
          <a:noFill/>
          <a:ln/>
        </p:spPr>
        <p:txBody>
          <a:bodyPr wrap="square" lIns="0" tIns="0" rIns="0" bIns="0" rtlCol="0" anchor="ctr"/>
          <a:lstStyle/>
          <a:p>
            <a:pPr indent="0" marL="0">
              <a:buNone/>
            </a:pPr>
            <a:r>
              <a:rPr lang="en-US" sz="1700" b="1" dirty="0">
                <a:solidFill>
                  <a:schemeClr val="tx1"/>
                </a:solidFill>
              </a:rPr>
              <a:t>On the web under a licence</a:t>
            </a:r>
            <a:endParaRPr lang="en-US" sz="1700" dirty="0"/>
          </a:p>
        </p:txBody>
      </p:sp>
      <p:sp>
        <p:nvSpPr>
          <p:cNvPr id="5" name="scheme-ours-1"/>
          <p:cNvSpPr/>
          <p:nvPr/>
        </p:nvSpPr>
        <p:spPr>
          <a:xfrm>
            <a:off x="6126480" y="1563624"/>
            <a:ext cx="5513832" cy="676656"/>
          </a:xfrm>
          <a:prstGeom prst="roundRect">
            <a:avLst>
              <a:gd name="adj" fmla="val 10811"/>
            </a:avLst>
          </a:prstGeom>
          <a:solidFill>
            <a:schemeClr val="bg2"/>
          </a:solidFill>
          <a:ln w="12700">
            <a:solidFill>
              <a:srgbClr val="F3F4F6"/>
            </a:solidFill>
            <a:prstDash val="solid"/>
          </a:ln>
        </p:spPr>
      </p:sp>
      <p:sp>
        <p:nvSpPr>
          <p:cNvPr id="6" name="text-56"/>
          <p:cNvSpPr txBox="1"/>
          <p:nvPr/>
        </p:nvSpPr>
        <p:spPr>
          <a:xfrm>
            <a:off x="6355080" y="1563624"/>
            <a:ext cx="5120640" cy="676656"/>
          </a:xfrm>
          <a:prstGeom prst="rect">
            <a:avLst/>
          </a:prstGeom>
          <a:noFill/>
          <a:ln/>
        </p:spPr>
        <p:txBody>
          <a:bodyPr wrap="square" lIns="0" tIns="0" rIns="0" bIns="0" rtlCol="0" anchor="ctr"/>
          <a:lstStyle/>
          <a:p>
            <a:pPr indent="0" marL="0">
              <a:buNone/>
            </a:pPr>
            <a:r>
              <a:rPr lang="en-US" sz="1400" dirty="0">
                <a:solidFill>
                  <a:schemeClr val="tx1"/>
                </a:solidFill>
              </a:rPr>
              <a:t>Repository on GitHub; RDF under CC BY-NC 4.0, code under MIT</a:t>
            </a:r>
            <a:endParaRPr lang="en-US" sz="1400" dirty="0"/>
          </a:p>
        </p:txBody>
      </p:sp>
      <p:pic>
        <p:nvPicPr>
          <p:cNvPr id="7" name="star-57" descr="preencoded.png">    </p:cNvPr>
          <p:cNvPicPr>
            <a:picLocks noChangeAspect="1"/>
          </p:cNvPicPr>
          <p:nvPr/>
        </p:nvPicPr>
        <p:blipFill>
          <a:blip r:embed="rId2"/>
          <a:stretch>
            <a:fillRect/>
          </a:stretch>
        </p:blipFill>
        <p:spPr>
          <a:xfrm>
            <a:off x="548640" y="2651760"/>
            <a:ext cx="274320" cy="274320"/>
          </a:xfrm>
          <a:prstGeom prst="rect">
            <a:avLst/>
          </a:prstGeom>
        </p:spPr>
      </p:pic>
      <p:pic>
        <p:nvPicPr>
          <p:cNvPr id="8" name="star-58" descr="preencoded.png">    </p:cNvPr>
          <p:cNvPicPr>
            <a:picLocks noChangeAspect="1"/>
          </p:cNvPicPr>
          <p:nvPr/>
        </p:nvPicPr>
        <p:blipFill>
          <a:blip r:embed="rId3"/>
          <a:stretch>
            <a:fillRect/>
          </a:stretch>
        </p:blipFill>
        <p:spPr>
          <a:xfrm>
            <a:off x="877824" y="2651760"/>
            <a:ext cx="274320" cy="274320"/>
          </a:xfrm>
          <a:prstGeom prst="rect">
            <a:avLst/>
          </a:prstGeom>
        </p:spPr>
      </p:pic>
      <p:sp>
        <p:nvSpPr>
          <p:cNvPr id="9" name="text-59"/>
          <p:cNvSpPr txBox="1"/>
          <p:nvPr/>
        </p:nvSpPr>
        <p:spPr>
          <a:xfrm>
            <a:off x="2423160" y="2404872"/>
            <a:ext cx="3566160" cy="777240"/>
          </a:xfrm>
          <a:prstGeom prst="rect">
            <a:avLst/>
          </a:prstGeom>
          <a:noFill/>
          <a:ln/>
        </p:spPr>
        <p:txBody>
          <a:bodyPr wrap="square" lIns="0" tIns="0" rIns="0" bIns="0" rtlCol="0" anchor="ctr"/>
          <a:lstStyle/>
          <a:p>
            <a:pPr indent="0" marL="0">
              <a:buNone/>
            </a:pPr>
            <a:r>
              <a:rPr lang="en-US" sz="1700" b="1" dirty="0">
                <a:solidFill>
                  <a:schemeClr val="tx1"/>
                </a:solidFill>
              </a:rPr>
              <a:t>Machine-readable structured data</a:t>
            </a:r>
            <a:endParaRPr lang="en-US" sz="1700" dirty="0"/>
          </a:p>
        </p:txBody>
      </p:sp>
      <p:sp>
        <p:nvSpPr>
          <p:cNvPr id="10" name="scheme-ours-2"/>
          <p:cNvSpPr/>
          <p:nvPr/>
        </p:nvSpPr>
        <p:spPr>
          <a:xfrm>
            <a:off x="6126480" y="2459736"/>
            <a:ext cx="5513832" cy="676656"/>
          </a:xfrm>
          <a:prstGeom prst="roundRect">
            <a:avLst>
              <a:gd name="adj" fmla="val 10811"/>
            </a:avLst>
          </a:prstGeom>
          <a:solidFill>
            <a:schemeClr val="bg2"/>
          </a:solidFill>
          <a:ln w="12700">
            <a:solidFill>
              <a:srgbClr val="F3F4F6"/>
            </a:solidFill>
            <a:prstDash val="solid"/>
          </a:ln>
        </p:spPr>
      </p:sp>
      <p:sp>
        <p:nvSpPr>
          <p:cNvPr id="11" name="text-60"/>
          <p:cNvSpPr txBox="1"/>
          <p:nvPr/>
        </p:nvSpPr>
        <p:spPr>
          <a:xfrm>
            <a:off x="6355080" y="2459736"/>
            <a:ext cx="5120640" cy="676656"/>
          </a:xfrm>
          <a:prstGeom prst="rect">
            <a:avLst/>
          </a:prstGeom>
          <a:noFill/>
          <a:ln/>
        </p:spPr>
        <p:txBody>
          <a:bodyPr wrap="square" lIns="0" tIns="0" rIns="0" bIns="0" rtlCol="0" anchor="ctr"/>
          <a:lstStyle/>
          <a:p>
            <a:pPr indent="0" marL="0">
              <a:buNone/>
            </a:pPr>
            <a:r>
              <a:rPr lang="en-US" sz="1400" dirty="0">
                <a:solidFill>
                  <a:schemeClr val="tx1"/>
                </a:solidFill>
              </a:rPr>
              <a:t>The cleaned dataset is a CSV table, not a scan or a PDF</a:t>
            </a:r>
            <a:endParaRPr lang="en-US" sz="1400" dirty="0"/>
          </a:p>
        </p:txBody>
      </p:sp>
      <p:pic>
        <p:nvPicPr>
          <p:cNvPr id="12" name="star-61" descr="preencoded.png">    </p:cNvPr>
          <p:cNvPicPr>
            <a:picLocks noChangeAspect="1"/>
          </p:cNvPicPr>
          <p:nvPr/>
        </p:nvPicPr>
        <p:blipFill>
          <a:blip r:embed="rId4"/>
          <a:stretch>
            <a:fillRect/>
          </a:stretch>
        </p:blipFill>
        <p:spPr>
          <a:xfrm>
            <a:off x="548640" y="3547872"/>
            <a:ext cx="274320" cy="274320"/>
          </a:xfrm>
          <a:prstGeom prst="rect">
            <a:avLst/>
          </a:prstGeom>
        </p:spPr>
      </p:pic>
      <p:pic>
        <p:nvPicPr>
          <p:cNvPr id="13" name="star-62" descr="preencoded.png">    </p:cNvPr>
          <p:cNvPicPr>
            <a:picLocks noChangeAspect="1"/>
          </p:cNvPicPr>
          <p:nvPr/>
        </p:nvPicPr>
        <p:blipFill>
          <a:blip r:embed="rId5"/>
          <a:stretch>
            <a:fillRect/>
          </a:stretch>
        </p:blipFill>
        <p:spPr>
          <a:xfrm>
            <a:off x="877824" y="3547872"/>
            <a:ext cx="274320" cy="274320"/>
          </a:xfrm>
          <a:prstGeom prst="rect">
            <a:avLst/>
          </a:prstGeom>
        </p:spPr>
      </p:pic>
      <p:pic>
        <p:nvPicPr>
          <p:cNvPr id="14" name="star-63" descr="preencoded.png">    </p:cNvPr>
          <p:cNvPicPr>
            <a:picLocks noChangeAspect="1"/>
          </p:cNvPicPr>
          <p:nvPr/>
        </p:nvPicPr>
        <p:blipFill>
          <a:blip r:embed="rId6"/>
          <a:stretch>
            <a:fillRect/>
          </a:stretch>
        </p:blipFill>
        <p:spPr>
          <a:xfrm>
            <a:off x="1207008" y="3547872"/>
            <a:ext cx="274320" cy="274320"/>
          </a:xfrm>
          <a:prstGeom prst="rect">
            <a:avLst/>
          </a:prstGeom>
        </p:spPr>
      </p:pic>
      <p:sp>
        <p:nvSpPr>
          <p:cNvPr id="15" name="text-64"/>
          <p:cNvSpPr txBox="1"/>
          <p:nvPr/>
        </p:nvSpPr>
        <p:spPr>
          <a:xfrm>
            <a:off x="2423160" y="3300984"/>
            <a:ext cx="3566160" cy="777240"/>
          </a:xfrm>
          <a:prstGeom prst="rect">
            <a:avLst/>
          </a:prstGeom>
          <a:noFill/>
          <a:ln/>
        </p:spPr>
        <p:txBody>
          <a:bodyPr wrap="square" lIns="0" tIns="0" rIns="0" bIns="0" rtlCol="0" anchor="ctr"/>
          <a:lstStyle/>
          <a:p>
            <a:pPr indent="0" marL="0">
              <a:buNone/>
            </a:pPr>
            <a:r>
              <a:rPr lang="en-US" sz="1700" b="1" dirty="0">
                <a:solidFill>
                  <a:schemeClr val="tx1"/>
                </a:solidFill>
              </a:rPr>
              <a:t>Non-proprietary format</a:t>
            </a:r>
            <a:endParaRPr lang="en-US" sz="1700" dirty="0"/>
          </a:p>
        </p:txBody>
      </p:sp>
      <p:sp>
        <p:nvSpPr>
          <p:cNvPr id="16" name="scheme-ours-3"/>
          <p:cNvSpPr/>
          <p:nvPr/>
        </p:nvSpPr>
        <p:spPr>
          <a:xfrm>
            <a:off x="6126480" y="3355848"/>
            <a:ext cx="5513832" cy="676656"/>
          </a:xfrm>
          <a:prstGeom prst="roundRect">
            <a:avLst>
              <a:gd name="adj" fmla="val 10811"/>
            </a:avLst>
          </a:prstGeom>
          <a:solidFill>
            <a:schemeClr val="bg2"/>
          </a:solidFill>
          <a:ln w="12700">
            <a:solidFill>
              <a:srgbClr val="F3F4F6"/>
            </a:solidFill>
            <a:prstDash val="solid"/>
          </a:ln>
        </p:spPr>
      </p:sp>
      <p:sp>
        <p:nvSpPr>
          <p:cNvPr id="17" name="text-65"/>
          <p:cNvSpPr txBox="1"/>
          <p:nvPr/>
        </p:nvSpPr>
        <p:spPr>
          <a:xfrm>
            <a:off x="6355080" y="3355848"/>
            <a:ext cx="5120640" cy="676656"/>
          </a:xfrm>
          <a:prstGeom prst="rect">
            <a:avLst/>
          </a:prstGeom>
          <a:noFill/>
          <a:ln/>
        </p:spPr>
        <p:txBody>
          <a:bodyPr wrap="square" lIns="0" tIns="0" rIns="0" bIns="0" rtlCol="0" anchor="ctr"/>
          <a:lstStyle/>
          <a:p>
            <a:pPr indent="0" marL="0">
              <a:buNone/>
            </a:pPr>
            <a:r>
              <a:rPr lang="en-US" sz="1400" dirty="0">
                <a:solidFill>
                  <a:schemeClr val="tx1"/>
                </a:solidFill>
              </a:rPr>
              <a:t>CSV and Turtle, readable without any vendor software</a:t>
            </a:r>
            <a:endParaRPr lang="en-US" sz="1400" dirty="0"/>
          </a:p>
        </p:txBody>
      </p:sp>
      <p:pic>
        <p:nvPicPr>
          <p:cNvPr id="18" name="star-66" descr="preencoded.png">    </p:cNvPr>
          <p:cNvPicPr>
            <a:picLocks noChangeAspect="1"/>
          </p:cNvPicPr>
          <p:nvPr/>
        </p:nvPicPr>
        <p:blipFill>
          <a:blip r:embed="rId7"/>
          <a:stretch>
            <a:fillRect/>
          </a:stretch>
        </p:blipFill>
        <p:spPr>
          <a:xfrm>
            <a:off x="548640" y="4443984"/>
            <a:ext cx="274320" cy="274320"/>
          </a:xfrm>
          <a:prstGeom prst="rect">
            <a:avLst/>
          </a:prstGeom>
        </p:spPr>
      </p:pic>
      <p:pic>
        <p:nvPicPr>
          <p:cNvPr id="19" name="star-67" descr="preencoded.png">    </p:cNvPr>
          <p:cNvPicPr>
            <a:picLocks noChangeAspect="1"/>
          </p:cNvPicPr>
          <p:nvPr/>
        </p:nvPicPr>
        <p:blipFill>
          <a:blip r:embed="rId8"/>
          <a:stretch>
            <a:fillRect/>
          </a:stretch>
        </p:blipFill>
        <p:spPr>
          <a:xfrm>
            <a:off x="877824" y="4443984"/>
            <a:ext cx="274320" cy="274320"/>
          </a:xfrm>
          <a:prstGeom prst="rect">
            <a:avLst/>
          </a:prstGeom>
        </p:spPr>
      </p:pic>
      <p:pic>
        <p:nvPicPr>
          <p:cNvPr id="20" name="star-68" descr="preencoded.png">    </p:cNvPr>
          <p:cNvPicPr>
            <a:picLocks noChangeAspect="1"/>
          </p:cNvPicPr>
          <p:nvPr/>
        </p:nvPicPr>
        <p:blipFill>
          <a:blip r:embed="rId9"/>
          <a:stretch>
            <a:fillRect/>
          </a:stretch>
        </p:blipFill>
        <p:spPr>
          <a:xfrm>
            <a:off x="1207008" y="4443984"/>
            <a:ext cx="274320" cy="274320"/>
          </a:xfrm>
          <a:prstGeom prst="rect">
            <a:avLst/>
          </a:prstGeom>
        </p:spPr>
      </p:pic>
      <p:pic>
        <p:nvPicPr>
          <p:cNvPr id="21" name="star-69" descr="preencoded.png">    </p:cNvPr>
          <p:cNvPicPr>
            <a:picLocks noChangeAspect="1"/>
          </p:cNvPicPr>
          <p:nvPr/>
        </p:nvPicPr>
        <p:blipFill>
          <a:blip r:embed="rId10"/>
          <a:stretch>
            <a:fillRect/>
          </a:stretch>
        </p:blipFill>
        <p:spPr>
          <a:xfrm>
            <a:off x="1536192" y="4443984"/>
            <a:ext cx="274320" cy="274320"/>
          </a:xfrm>
          <a:prstGeom prst="rect">
            <a:avLst/>
          </a:prstGeom>
        </p:spPr>
      </p:pic>
      <p:sp>
        <p:nvSpPr>
          <p:cNvPr id="22" name="text-70"/>
          <p:cNvSpPr txBox="1"/>
          <p:nvPr/>
        </p:nvSpPr>
        <p:spPr>
          <a:xfrm>
            <a:off x="2423160" y="4197096"/>
            <a:ext cx="3566160" cy="777240"/>
          </a:xfrm>
          <a:prstGeom prst="rect">
            <a:avLst/>
          </a:prstGeom>
          <a:noFill/>
          <a:ln/>
        </p:spPr>
        <p:txBody>
          <a:bodyPr wrap="square" lIns="0" tIns="0" rIns="0" bIns="0" rtlCol="0" anchor="ctr"/>
          <a:lstStyle/>
          <a:p>
            <a:pPr indent="0" marL="0">
              <a:buNone/>
            </a:pPr>
            <a:r>
              <a:rPr lang="en-US" sz="1700" b="1" dirty="0">
                <a:solidFill>
                  <a:schemeClr val="tx1"/>
                </a:solidFill>
              </a:rPr>
              <a:t>URIs and W3C standards</a:t>
            </a:r>
            <a:endParaRPr lang="en-US" sz="1700" dirty="0"/>
          </a:p>
        </p:txBody>
      </p:sp>
      <p:sp>
        <p:nvSpPr>
          <p:cNvPr id="23" name="scheme-ours-4"/>
          <p:cNvSpPr/>
          <p:nvPr/>
        </p:nvSpPr>
        <p:spPr>
          <a:xfrm>
            <a:off x="6126480" y="4251960"/>
            <a:ext cx="5513832" cy="676656"/>
          </a:xfrm>
          <a:prstGeom prst="roundRect">
            <a:avLst>
              <a:gd name="adj" fmla="val 10811"/>
            </a:avLst>
          </a:prstGeom>
          <a:solidFill>
            <a:schemeClr val="accent1"/>
          </a:solidFill>
          <a:ln w="12700">
            <a:solidFill>
              <a:srgbClr val="BF1E2E"/>
            </a:solidFill>
            <a:prstDash val="solid"/>
          </a:ln>
        </p:spPr>
      </p:sp>
      <p:sp>
        <p:nvSpPr>
          <p:cNvPr id="24" name="text-71"/>
          <p:cNvSpPr txBox="1"/>
          <p:nvPr/>
        </p:nvSpPr>
        <p:spPr>
          <a:xfrm>
            <a:off x="6355080" y="4251960"/>
            <a:ext cx="5120640" cy="676656"/>
          </a:xfrm>
          <a:prstGeom prst="rect">
            <a:avLst/>
          </a:prstGeom>
          <a:noFill/>
          <a:ln/>
        </p:spPr>
        <p:txBody>
          <a:bodyPr wrap="square" lIns="0" tIns="0" rIns="0" bIns="0" rtlCol="0" anchor="ctr"/>
          <a:lstStyle/>
          <a:p>
            <a:pPr indent="0" marL="0">
              <a:buNone/>
            </a:pPr>
            <a:r>
              <a:rPr lang="en-US" sz="1400" dirty="0">
                <a:solidFill>
                  <a:schemeClr val="bg1"/>
                </a:solidFill>
              </a:rPr>
              <a:t>A URI for every film, person, genre; RDF, OWL and SPARQL</a:t>
            </a:r>
            <a:endParaRPr lang="en-US" sz="1400" dirty="0"/>
          </a:p>
        </p:txBody>
      </p:sp>
      <p:pic>
        <p:nvPicPr>
          <p:cNvPr id="25" name="star-72" descr="preencoded.png">    </p:cNvPr>
          <p:cNvPicPr>
            <a:picLocks noChangeAspect="1"/>
          </p:cNvPicPr>
          <p:nvPr/>
        </p:nvPicPr>
        <p:blipFill>
          <a:blip r:embed="rId11"/>
          <a:stretch>
            <a:fillRect/>
          </a:stretch>
        </p:blipFill>
        <p:spPr>
          <a:xfrm>
            <a:off x="548640" y="5340096"/>
            <a:ext cx="274320" cy="274320"/>
          </a:xfrm>
          <a:prstGeom prst="rect">
            <a:avLst/>
          </a:prstGeom>
        </p:spPr>
      </p:pic>
      <p:pic>
        <p:nvPicPr>
          <p:cNvPr id="26" name="star-73" descr="preencoded.png">    </p:cNvPr>
          <p:cNvPicPr>
            <a:picLocks noChangeAspect="1"/>
          </p:cNvPicPr>
          <p:nvPr/>
        </p:nvPicPr>
        <p:blipFill>
          <a:blip r:embed="rId12"/>
          <a:stretch>
            <a:fillRect/>
          </a:stretch>
        </p:blipFill>
        <p:spPr>
          <a:xfrm>
            <a:off x="877824" y="5340096"/>
            <a:ext cx="274320" cy="274320"/>
          </a:xfrm>
          <a:prstGeom prst="rect">
            <a:avLst/>
          </a:prstGeom>
        </p:spPr>
      </p:pic>
      <p:pic>
        <p:nvPicPr>
          <p:cNvPr id="27" name="star-74" descr="preencoded.png">    </p:cNvPr>
          <p:cNvPicPr>
            <a:picLocks noChangeAspect="1"/>
          </p:cNvPicPr>
          <p:nvPr/>
        </p:nvPicPr>
        <p:blipFill>
          <a:blip r:embed="rId13"/>
          <a:stretch>
            <a:fillRect/>
          </a:stretch>
        </p:blipFill>
        <p:spPr>
          <a:xfrm>
            <a:off x="1207008" y="5340096"/>
            <a:ext cx="274320" cy="274320"/>
          </a:xfrm>
          <a:prstGeom prst="rect">
            <a:avLst/>
          </a:prstGeom>
        </p:spPr>
      </p:pic>
      <p:pic>
        <p:nvPicPr>
          <p:cNvPr id="28" name="star-75" descr="preencoded.png">    </p:cNvPr>
          <p:cNvPicPr>
            <a:picLocks noChangeAspect="1"/>
          </p:cNvPicPr>
          <p:nvPr/>
        </p:nvPicPr>
        <p:blipFill>
          <a:blip r:embed="rId14"/>
          <a:stretch>
            <a:fillRect/>
          </a:stretch>
        </p:blipFill>
        <p:spPr>
          <a:xfrm>
            <a:off x="1536192" y="5340096"/>
            <a:ext cx="274320" cy="274320"/>
          </a:xfrm>
          <a:prstGeom prst="rect">
            <a:avLst/>
          </a:prstGeom>
        </p:spPr>
      </p:pic>
      <p:pic>
        <p:nvPicPr>
          <p:cNvPr id="29" name="star-76" descr="preencoded.png">    </p:cNvPr>
          <p:cNvPicPr>
            <a:picLocks noChangeAspect="1"/>
          </p:cNvPicPr>
          <p:nvPr/>
        </p:nvPicPr>
        <p:blipFill>
          <a:blip r:embed="rId15"/>
          <a:stretch>
            <a:fillRect/>
          </a:stretch>
        </p:blipFill>
        <p:spPr>
          <a:xfrm>
            <a:off x="1865376" y="5340096"/>
            <a:ext cx="274320" cy="274320"/>
          </a:xfrm>
          <a:prstGeom prst="rect">
            <a:avLst/>
          </a:prstGeom>
        </p:spPr>
      </p:pic>
      <p:sp>
        <p:nvSpPr>
          <p:cNvPr id="30" name="text-77"/>
          <p:cNvSpPr txBox="1"/>
          <p:nvPr/>
        </p:nvSpPr>
        <p:spPr>
          <a:xfrm>
            <a:off x="2423160" y="5093208"/>
            <a:ext cx="3566160" cy="777240"/>
          </a:xfrm>
          <a:prstGeom prst="rect">
            <a:avLst/>
          </a:prstGeom>
          <a:noFill/>
          <a:ln/>
        </p:spPr>
        <p:txBody>
          <a:bodyPr wrap="square" lIns="0" tIns="0" rIns="0" bIns="0" rtlCol="0" anchor="ctr"/>
          <a:lstStyle/>
          <a:p>
            <a:pPr indent="0" marL="0">
              <a:buNone/>
            </a:pPr>
            <a:r>
              <a:rPr lang="en-US" sz="1700" b="1" dirty="0">
                <a:solidFill>
                  <a:schemeClr val="tx1"/>
                </a:solidFill>
              </a:rPr>
              <a:t>Linked to other data</a:t>
            </a:r>
            <a:endParaRPr lang="en-US" sz="1700" dirty="0"/>
          </a:p>
        </p:txBody>
      </p:sp>
      <p:sp>
        <p:nvSpPr>
          <p:cNvPr id="31" name="scheme-ours-5"/>
          <p:cNvSpPr/>
          <p:nvPr/>
        </p:nvSpPr>
        <p:spPr>
          <a:xfrm>
            <a:off x="6126480" y="5148072"/>
            <a:ext cx="5513832" cy="676656"/>
          </a:xfrm>
          <a:prstGeom prst="roundRect">
            <a:avLst>
              <a:gd name="adj" fmla="val 10811"/>
            </a:avLst>
          </a:prstGeom>
          <a:solidFill>
            <a:schemeClr val="accent1"/>
          </a:solidFill>
          <a:ln w="12700">
            <a:solidFill>
              <a:srgbClr val="BF1E2E"/>
            </a:solidFill>
            <a:prstDash val="solid"/>
          </a:ln>
        </p:spPr>
      </p:sp>
      <p:sp>
        <p:nvSpPr>
          <p:cNvPr id="32" name="text-78"/>
          <p:cNvSpPr txBox="1"/>
          <p:nvPr/>
        </p:nvSpPr>
        <p:spPr>
          <a:xfrm>
            <a:off x="6355080" y="5148072"/>
            <a:ext cx="5120640" cy="676656"/>
          </a:xfrm>
          <a:prstGeom prst="rect">
            <a:avLst/>
          </a:prstGeom>
          <a:noFill/>
          <a:ln/>
        </p:spPr>
        <p:txBody>
          <a:bodyPr wrap="square" lIns="0" tIns="0" rIns="0" bIns="0" rtlCol="0" anchor="ctr"/>
          <a:lstStyle/>
          <a:p>
            <a:pPr indent="0" marL="0">
              <a:buNone/>
            </a:pPr>
            <a:r>
              <a:rPr lang="en-US" sz="1400" dirty="0">
                <a:solidFill>
                  <a:schemeClr val="bg1"/>
                </a:solidFill>
              </a:rPr>
              <a:t>owl:sameAs: 920 links to Wikidata, 912 to DBpedia</a:t>
            </a:r>
            <a:endParaRPr lang="en-US" sz="14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Questions the knowledge graph must answer</a:t>
            </a:r>
            <a:endParaRPr lang="en-US" sz="3200" dirty="0"/>
          </a:p>
        </p:txBody>
      </p:sp>
      <p:sp>
        <p:nvSpPr>
          <p:cNvPr id="3" name="cq-card-1"/>
          <p:cNvSpPr/>
          <p:nvPr/>
        </p:nvSpPr>
        <p:spPr>
          <a:xfrm>
            <a:off x="548640" y="1600200"/>
            <a:ext cx="3520440" cy="1874520"/>
          </a:xfrm>
          <a:prstGeom prst="roundRect">
            <a:avLst>
              <a:gd name="adj" fmla="val 3902"/>
            </a:avLst>
          </a:prstGeom>
          <a:solidFill>
            <a:schemeClr val="bg2"/>
          </a:solidFill>
          <a:ln w="12700">
            <a:solidFill>
              <a:srgbClr val="F3F4F6"/>
            </a:solidFill>
            <a:prstDash val="solid"/>
          </a:ln>
        </p:spPr>
      </p:sp>
      <p:sp>
        <p:nvSpPr>
          <p:cNvPr id="4" name="icon-bg-79"/>
          <p:cNvSpPr/>
          <p:nvPr/>
        </p:nvSpPr>
        <p:spPr>
          <a:xfrm>
            <a:off x="822960" y="1874520"/>
            <a:ext cx="548640" cy="548640"/>
          </a:xfrm>
          <a:prstGeom prst="ellipse">
            <a:avLst/>
          </a:prstGeom>
          <a:solidFill>
            <a:srgbClr val="BF1E2E"/>
          </a:solidFill>
          <a:ln w="12700">
            <a:solidFill>
              <a:srgbClr val="BF1E2E"/>
            </a:solidFill>
            <a:prstDash val="solid"/>
          </a:ln>
        </p:spPr>
      </p:sp>
      <p:pic>
        <p:nvPicPr>
          <p:cNvPr id="5" name="icon-79"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6" name="text-80"/>
          <p:cNvSpPr txBox="1"/>
          <p:nvPr/>
        </p:nvSpPr>
        <p:spPr>
          <a:xfrm>
            <a:off x="822960" y="2514600"/>
            <a:ext cx="3017520" cy="594360"/>
          </a:xfrm>
          <a:prstGeom prst="rect">
            <a:avLst/>
          </a:prstGeom>
          <a:noFill/>
          <a:ln/>
        </p:spPr>
        <p:txBody>
          <a:bodyPr wrap="square" lIns="0" tIns="0" rIns="0" bIns="0" rtlCol="0" anchor="t"/>
          <a:lstStyle/>
          <a:p>
            <a:pPr indent="0" marL="0">
              <a:buNone/>
            </a:pPr>
            <a:r>
              <a:rPr lang="en-US" sz="1700" b="1" dirty="0">
                <a:solidFill>
                  <a:schemeClr val="tx1"/>
                </a:solidFill>
              </a:rPr>
              <a:t>Who directed movie X?</a:t>
            </a:r>
            <a:endParaRPr lang="en-US" sz="1700" dirty="0"/>
          </a:p>
        </p:txBody>
      </p:sp>
      <p:sp>
        <p:nvSpPr>
          <p:cNvPr id="7" name="text-81"/>
          <p:cNvSpPr txBox="1"/>
          <p:nvPr/>
        </p:nvSpPr>
        <p:spPr>
          <a:xfrm>
            <a:off x="822960" y="3063240"/>
            <a:ext cx="3017520" cy="274320"/>
          </a:xfrm>
          <a:prstGeom prst="rect">
            <a:avLst/>
          </a:prstGeom>
          <a:noFill/>
          <a:ln/>
        </p:spPr>
        <p:txBody>
          <a:bodyPr wrap="square" lIns="0" tIns="0" rIns="0" bIns="0" rtlCol="0" anchor="ctr"/>
          <a:lstStyle/>
          <a:p>
            <a:pPr indent="0" marL="0">
              <a:buNone/>
            </a:pPr>
            <a:r>
              <a:rPr lang="en-US" sz="1200" b="1" dirty="0">
                <a:solidFill>
                  <a:schemeClr val="accent1"/>
                </a:solidFill>
              </a:rPr>
              <a:t>Answered by Query 1</a:t>
            </a:r>
            <a:endParaRPr lang="en-US" sz="1200" dirty="0"/>
          </a:p>
        </p:txBody>
      </p:sp>
      <p:sp>
        <p:nvSpPr>
          <p:cNvPr id="8" name="cq-card-2"/>
          <p:cNvSpPr/>
          <p:nvPr/>
        </p:nvSpPr>
        <p:spPr>
          <a:xfrm>
            <a:off x="4343400" y="1600200"/>
            <a:ext cx="3520440" cy="1874520"/>
          </a:xfrm>
          <a:prstGeom prst="roundRect">
            <a:avLst>
              <a:gd name="adj" fmla="val 3902"/>
            </a:avLst>
          </a:prstGeom>
          <a:solidFill>
            <a:schemeClr val="bg2"/>
          </a:solidFill>
          <a:ln w="12700">
            <a:solidFill>
              <a:srgbClr val="F3F4F6"/>
            </a:solidFill>
            <a:prstDash val="solid"/>
          </a:ln>
        </p:spPr>
      </p:sp>
      <p:sp>
        <p:nvSpPr>
          <p:cNvPr id="9" name="icon-bg-82"/>
          <p:cNvSpPr/>
          <p:nvPr/>
        </p:nvSpPr>
        <p:spPr>
          <a:xfrm>
            <a:off x="4617720" y="1874520"/>
            <a:ext cx="548640" cy="548640"/>
          </a:xfrm>
          <a:prstGeom prst="ellipse">
            <a:avLst/>
          </a:prstGeom>
          <a:solidFill>
            <a:srgbClr val="BF1E2E"/>
          </a:solidFill>
          <a:ln w="12700">
            <a:solidFill>
              <a:srgbClr val="BF1E2E"/>
            </a:solidFill>
            <a:prstDash val="solid"/>
          </a:ln>
        </p:spPr>
      </p:sp>
      <p:pic>
        <p:nvPicPr>
          <p:cNvPr id="10" name="icon-82" descr="preencoded.png">    </p:cNvPr>
          <p:cNvPicPr>
            <a:picLocks noChangeAspect="1"/>
          </p:cNvPicPr>
          <p:nvPr/>
        </p:nvPicPr>
        <p:blipFill>
          <a:blip r:embed="rId2"/>
          <a:stretch>
            <a:fillRect/>
          </a:stretch>
        </p:blipFill>
        <p:spPr>
          <a:xfrm>
            <a:off x="4749394" y="2006194"/>
            <a:ext cx="285293" cy="285293"/>
          </a:xfrm>
          <a:prstGeom prst="rect">
            <a:avLst/>
          </a:prstGeom>
        </p:spPr>
      </p:pic>
      <p:sp>
        <p:nvSpPr>
          <p:cNvPr id="11" name="text-83"/>
          <p:cNvSpPr txBox="1"/>
          <p:nvPr/>
        </p:nvSpPr>
        <p:spPr>
          <a:xfrm>
            <a:off x="4617720" y="2514600"/>
            <a:ext cx="3017520" cy="594360"/>
          </a:xfrm>
          <a:prstGeom prst="rect">
            <a:avLst/>
          </a:prstGeom>
          <a:noFill/>
          <a:ln/>
        </p:spPr>
        <p:txBody>
          <a:bodyPr wrap="square" lIns="0" tIns="0" rIns="0" bIns="0" rtlCol="0" anchor="t"/>
          <a:lstStyle/>
          <a:p>
            <a:pPr indent="0" marL="0">
              <a:buNone/>
            </a:pPr>
            <a:r>
              <a:rPr lang="en-US" sz="1700" b="1" dirty="0">
                <a:solidFill>
                  <a:schemeClr val="tx1"/>
                </a:solidFill>
              </a:rPr>
              <a:t>Which movies feature actor Y?</a:t>
            </a:r>
            <a:endParaRPr lang="en-US" sz="1700" dirty="0"/>
          </a:p>
        </p:txBody>
      </p:sp>
      <p:sp>
        <p:nvSpPr>
          <p:cNvPr id="12" name="text-84"/>
          <p:cNvSpPr txBox="1"/>
          <p:nvPr/>
        </p:nvSpPr>
        <p:spPr>
          <a:xfrm>
            <a:off x="4617720" y="3063240"/>
            <a:ext cx="3017520" cy="274320"/>
          </a:xfrm>
          <a:prstGeom prst="rect">
            <a:avLst/>
          </a:prstGeom>
          <a:noFill/>
          <a:ln/>
        </p:spPr>
        <p:txBody>
          <a:bodyPr wrap="square" lIns="0" tIns="0" rIns="0" bIns="0" rtlCol="0" anchor="ctr"/>
          <a:lstStyle/>
          <a:p>
            <a:pPr indent="0" marL="0">
              <a:buNone/>
            </a:pPr>
            <a:r>
              <a:rPr lang="en-US" sz="1200" b="1" dirty="0">
                <a:solidFill>
                  <a:schemeClr val="accent1"/>
                </a:solidFill>
              </a:rPr>
              <a:t>Answered by Query 5</a:t>
            </a:r>
            <a:endParaRPr lang="en-US" sz="1200" dirty="0"/>
          </a:p>
        </p:txBody>
      </p:sp>
      <p:sp>
        <p:nvSpPr>
          <p:cNvPr id="13" name="cq-card-3"/>
          <p:cNvSpPr/>
          <p:nvPr/>
        </p:nvSpPr>
        <p:spPr>
          <a:xfrm>
            <a:off x="548640" y="3749040"/>
            <a:ext cx="3520440" cy="1874520"/>
          </a:xfrm>
          <a:prstGeom prst="roundRect">
            <a:avLst>
              <a:gd name="adj" fmla="val 3902"/>
            </a:avLst>
          </a:prstGeom>
          <a:solidFill>
            <a:schemeClr val="bg2"/>
          </a:solidFill>
          <a:ln w="12700">
            <a:solidFill>
              <a:srgbClr val="F3F4F6"/>
            </a:solidFill>
            <a:prstDash val="solid"/>
          </a:ln>
        </p:spPr>
      </p:sp>
      <p:sp>
        <p:nvSpPr>
          <p:cNvPr id="14" name="icon-bg-85"/>
          <p:cNvSpPr/>
          <p:nvPr/>
        </p:nvSpPr>
        <p:spPr>
          <a:xfrm>
            <a:off x="822960" y="4023360"/>
            <a:ext cx="548640" cy="548640"/>
          </a:xfrm>
          <a:prstGeom prst="ellipse">
            <a:avLst/>
          </a:prstGeom>
          <a:solidFill>
            <a:srgbClr val="BF1E2E"/>
          </a:solidFill>
          <a:ln w="12700">
            <a:solidFill>
              <a:srgbClr val="BF1E2E"/>
            </a:solidFill>
            <a:prstDash val="solid"/>
          </a:ln>
        </p:spPr>
      </p:sp>
      <p:pic>
        <p:nvPicPr>
          <p:cNvPr id="15" name="icon-85" descr="preencoded.png">    </p:cNvPr>
          <p:cNvPicPr>
            <a:picLocks noChangeAspect="1"/>
          </p:cNvPicPr>
          <p:nvPr/>
        </p:nvPicPr>
        <p:blipFill>
          <a:blip r:embed="rId3"/>
          <a:stretch>
            <a:fillRect/>
          </a:stretch>
        </p:blipFill>
        <p:spPr>
          <a:xfrm>
            <a:off x="954634" y="4155034"/>
            <a:ext cx="285293" cy="285293"/>
          </a:xfrm>
          <a:prstGeom prst="rect">
            <a:avLst/>
          </a:prstGeom>
        </p:spPr>
      </p:pic>
      <p:sp>
        <p:nvSpPr>
          <p:cNvPr id="16" name="text-86"/>
          <p:cNvSpPr txBox="1"/>
          <p:nvPr/>
        </p:nvSpPr>
        <p:spPr>
          <a:xfrm>
            <a:off x="822960" y="4663440"/>
            <a:ext cx="3017520" cy="594360"/>
          </a:xfrm>
          <a:prstGeom prst="rect">
            <a:avLst/>
          </a:prstGeom>
          <a:noFill/>
          <a:ln/>
        </p:spPr>
        <p:txBody>
          <a:bodyPr wrap="square" lIns="0" tIns="0" rIns="0" bIns="0" rtlCol="0" anchor="t"/>
          <a:lstStyle/>
          <a:p>
            <a:pPr indent="0" marL="0">
              <a:buNone/>
            </a:pPr>
            <a:r>
              <a:rPr lang="en-US" sz="1700" b="1" dirty="0">
                <a:solidFill>
                  <a:schemeClr val="tx1"/>
                </a:solidFill>
              </a:rPr>
              <a:t>Which movies were released after year Y?</a:t>
            </a:r>
            <a:endParaRPr lang="en-US" sz="1700" dirty="0"/>
          </a:p>
        </p:txBody>
      </p:sp>
      <p:sp>
        <p:nvSpPr>
          <p:cNvPr id="17" name="text-87"/>
          <p:cNvSpPr txBox="1"/>
          <p:nvPr/>
        </p:nvSpPr>
        <p:spPr>
          <a:xfrm>
            <a:off x="822960" y="5212080"/>
            <a:ext cx="3017520" cy="274320"/>
          </a:xfrm>
          <a:prstGeom prst="rect">
            <a:avLst/>
          </a:prstGeom>
          <a:noFill/>
          <a:ln/>
        </p:spPr>
        <p:txBody>
          <a:bodyPr wrap="square" lIns="0" tIns="0" rIns="0" bIns="0" rtlCol="0" anchor="ctr"/>
          <a:lstStyle/>
          <a:p>
            <a:pPr indent="0" marL="0">
              <a:buNone/>
            </a:pPr>
            <a:r>
              <a:rPr lang="en-US" sz="1200" b="1" dirty="0">
                <a:solidFill>
                  <a:schemeClr val="accent1"/>
                </a:solidFill>
              </a:rPr>
              <a:t>Answered by Query 2</a:t>
            </a:r>
            <a:endParaRPr lang="en-US" sz="1200" dirty="0"/>
          </a:p>
        </p:txBody>
      </p:sp>
      <p:sp>
        <p:nvSpPr>
          <p:cNvPr id="18" name="cq-card-4"/>
          <p:cNvSpPr/>
          <p:nvPr/>
        </p:nvSpPr>
        <p:spPr>
          <a:xfrm>
            <a:off x="4343400" y="3749040"/>
            <a:ext cx="3520440" cy="1874520"/>
          </a:xfrm>
          <a:prstGeom prst="roundRect">
            <a:avLst>
              <a:gd name="adj" fmla="val 3902"/>
            </a:avLst>
          </a:prstGeom>
          <a:solidFill>
            <a:schemeClr val="bg2"/>
          </a:solidFill>
          <a:ln w="12700">
            <a:solidFill>
              <a:srgbClr val="F3F4F6"/>
            </a:solidFill>
            <a:prstDash val="solid"/>
          </a:ln>
        </p:spPr>
      </p:sp>
      <p:sp>
        <p:nvSpPr>
          <p:cNvPr id="19" name="icon-bg-88"/>
          <p:cNvSpPr/>
          <p:nvPr/>
        </p:nvSpPr>
        <p:spPr>
          <a:xfrm>
            <a:off x="4617720" y="4023360"/>
            <a:ext cx="548640" cy="548640"/>
          </a:xfrm>
          <a:prstGeom prst="ellipse">
            <a:avLst/>
          </a:prstGeom>
          <a:solidFill>
            <a:srgbClr val="BF1E2E"/>
          </a:solidFill>
          <a:ln w="12700">
            <a:solidFill>
              <a:srgbClr val="BF1E2E"/>
            </a:solidFill>
            <a:prstDash val="solid"/>
          </a:ln>
        </p:spPr>
      </p:sp>
      <p:pic>
        <p:nvPicPr>
          <p:cNvPr id="20" name="icon-88" descr="preencoded.png">    </p:cNvPr>
          <p:cNvPicPr>
            <a:picLocks noChangeAspect="1"/>
          </p:cNvPicPr>
          <p:nvPr/>
        </p:nvPicPr>
        <p:blipFill>
          <a:blip r:embed="rId4"/>
          <a:stretch>
            <a:fillRect/>
          </a:stretch>
        </p:blipFill>
        <p:spPr>
          <a:xfrm>
            <a:off x="4749394" y="4155034"/>
            <a:ext cx="285293" cy="285293"/>
          </a:xfrm>
          <a:prstGeom prst="rect">
            <a:avLst/>
          </a:prstGeom>
        </p:spPr>
      </p:pic>
      <p:sp>
        <p:nvSpPr>
          <p:cNvPr id="21" name="text-89"/>
          <p:cNvSpPr txBox="1"/>
          <p:nvPr/>
        </p:nvSpPr>
        <p:spPr>
          <a:xfrm>
            <a:off x="4617720" y="4663440"/>
            <a:ext cx="3017520" cy="594360"/>
          </a:xfrm>
          <a:prstGeom prst="rect">
            <a:avLst/>
          </a:prstGeom>
          <a:noFill/>
          <a:ln/>
        </p:spPr>
        <p:txBody>
          <a:bodyPr wrap="square" lIns="0" tIns="0" rIns="0" bIns="0" rtlCol="0" anchor="t"/>
          <a:lstStyle/>
          <a:p>
            <a:pPr indent="0" marL="0">
              <a:buNone/>
            </a:pPr>
            <a:r>
              <a:rPr lang="en-US" sz="1700" b="1" dirty="0">
                <a:solidFill>
                  <a:schemeClr val="tx1"/>
                </a:solidFill>
              </a:rPr>
              <a:t>Which director has the most movies?</a:t>
            </a:r>
            <a:endParaRPr lang="en-US" sz="1700" dirty="0"/>
          </a:p>
        </p:txBody>
      </p:sp>
      <p:sp>
        <p:nvSpPr>
          <p:cNvPr id="22" name="text-90"/>
          <p:cNvSpPr txBox="1"/>
          <p:nvPr/>
        </p:nvSpPr>
        <p:spPr>
          <a:xfrm>
            <a:off x="4617720" y="5212080"/>
            <a:ext cx="3017520" cy="274320"/>
          </a:xfrm>
          <a:prstGeom prst="rect">
            <a:avLst/>
          </a:prstGeom>
          <a:noFill/>
          <a:ln/>
        </p:spPr>
        <p:txBody>
          <a:bodyPr wrap="square" lIns="0" tIns="0" rIns="0" bIns="0" rtlCol="0" anchor="ctr"/>
          <a:lstStyle/>
          <a:p>
            <a:pPr indent="0" marL="0">
              <a:buNone/>
            </a:pPr>
            <a:r>
              <a:rPr lang="en-US" sz="1200" b="1" dirty="0">
                <a:solidFill>
                  <a:schemeClr val="accent1"/>
                </a:solidFill>
              </a:rPr>
              <a:t>Answered by Query 3</a:t>
            </a:r>
            <a:endParaRPr lang="en-US" sz="1200" dirty="0"/>
          </a:p>
        </p:txBody>
      </p:sp>
      <p:sp>
        <p:nvSpPr>
          <p:cNvPr id="23" name="cq-callout"/>
          <p:cNvSpPr/>
          <p:nvPr/>
        </p:nvSpPr>
        <p:spPr>
          <a:xfrm>
            <a:off x="8366760" y="1600200"/>
            <a:ext cx="3273552" cy="4023360"/>
          </a:xfrm>
          <a:prstGeom prst="roundRect">
            <a:avLst>
              <a:gd name="adj" fmla="val 2235"/>
            </a:avLst>
          </a:prstGeom>
          <a:solidFill>
            <a:schemeClr val="accent1"/>
          </a:solidFill>
          <a:ln w="12700">
            <a:solidFill>
              <a:srgbClr val="BF1E2E"/>
            </a:solidFill>
            <a:prstDash val="solid"/>
          </a:ln>
        </p:spPr>
      </p:sp>
      <p:sp>
        <p:nvSpPr>
          <p:cNvPr id="24" name="text-91"/>
          <p:cNvSpPr txBox="1"/>
          <p:nvPr/>
        </p:nvSpPr>
        <p:spPr>
          <a:xfrm>
            <a:off x="8686800" y="1920240"/>
            <a:ext cx="265176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Written first</a:t>
            </a:r>
            <a:endParaRPr lang="en-US" sz="2200" dirty="0"/>
          </a:p>
        </p:txBody>
      </p:sp>
      <p:sp>
        <p:nvSpPr>
          <p:cNvPr id="25" name="text-92"/>
          <p:cNvSpPr txBox="1"/>
          <p:nvPr/>
        </p:nvSpPr>
        <p:spPr>
          <a:xfrm>
            <a:off x="8686800" y="2468880"/>
            <a:ext cx="2651760" cy="2926080"/>
          </a:xfrm>
          <a:prstGeom prst="rect">
            <a:avLst/>
          </a:prstGeom>
          <a:noFill/>
          <a:ln/>
        </p:spPr>
        <p:txBody>
          <a:bodyPr wrap="square" lIns="0" tIns="0" rIns="0" bIns="0" rtlCol="0" anchor="t"/>
          <a:lstStyle/>
          <a:p>
            <a:pPr indent="0" marL="0">
              <a:buNone/>
            </a:pPr>
            <a:r>
              <a:rPr lang="en-US" sz="1500" dirty="0">
                <a:solidFill>
                  <a:schemeClr val="bg1"/>
                </a:solidFill>
              </a:rPr>
              <a:t>Following Grüninger &amp; Fox, the competency questions were fixed before modelling. Each one fixed which classes and properties the ontology needs, and each one became a SPARQL query in the demo.</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Ontology: core classes, mostly reused vocabulary</a:t>
            </a:r>
            <a:endParaRPr lang="en-US" sz="3200" dirty="0"/>
          </a:p>
        </p:txBody>
      </p:sp>
      <p:sp>
        <p:nvSpPr>
          <p:cNvPr id="3" name="edge-93"/>
          <p:cNvSpPr/>
          <p:nvPr/>
        </p:nvSpPr>
        <p:spPr>
          <a:xfrm flipH="1" flipV="1">
            <a:off x="3790188" y="2633472"/>
            <a:ext cx="809244" cy="539496"/>
          </a:xfrm>
          <a:prstGeom prst="line">
            <a:avLst/>
          </a:prstGeom>
          <a:noFill/>
          <a:ln w="19050">
            <a:solidFill>
              <a:srgbClr val="1F2329"/>
            </a:solidFill>
            <a:prstDash val="solid"/>
            <a:tailEnd type="triangle"/>
          </a:ln>
        </p:spPr>
      </p:sp>
      <p:sp>
        <p:nvSpPr>
          <p:cNvPr id="4" name="text-94"/>
          <p:cNvSpPr txBox="1"/>
          <p:nvPr/>
        </p:nvSpPr>
        <p:spPr>
          <a:xfrm>
            <a:off x="3646170" y="272948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dbo:director</a:t>
            </a:r>
            <a:endParaRPr lang="en-US" sz="1100" dirty="0"/>
          </a:p>
        </p:txBody>
      </p:sp>
      <p:sp>
        <p:nvSpPr>
          <p:cNvPr id="5" name="edge-95"/>
          <p:cNvSpPr/>
          <p:nvPr/>
        </p:nvSpPr>
        <p:spPr>
          <a:xfrm flipH="1">
            <a:off x="3790188" y="3867912"/>
            <a:ext cx="809244" cy="539496"/>
          </a:xfrm>
          <a:prstGeom prst="line">
            <a:avLst/>
          </a:prstGeom>
          <a:noFill/>
          <a:ln w="19050">
            <a:solidFill>
              <a:srgbClr val="1F2329"/>
            </a:solidFill>
            <a:prstDash val="solid"/>
            <a:tailEnd type="triangle"/>
          </a:ln>
        </p:spPr>
      </p:sp>
      <p:sp>
        <p:nvSpPr>
          <p:cNvPr id="6" name="text-96"/>
          <p:cNvSpPr txBox="1"/>
          <p:nvPr/>
        </p:nvSpPr>
        <p:spPr>
          <a:xfrm>
            <a:off x="3646170" y="405536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dbo:starring</a:t>
            </a:r>
            <a:endParaRPr lang="en-US" sz="1100" dirty="0"/>
          </a:p>
        </p:txBody>
      </p:sp>
      <p:sp>
        <p:nvSpPr>
          <p:cNvPr id="7" name="edge-97"/>
          <p:cNvSpPr/>
          <p:nvPr/>
        </p:nvSpPr>
        <p:spPr>
          <a:xfrm flipV="1">
            <a:off x="5641848" y="2267712"/>
            <a:ext cx="1357884" cy="905256"/>
          </a:xfrm>
          <a:prstGeom prst="line">
            <a:avLst/>
          </a:prstGeom>
          <a:noFill/>
          <a:ln w="19050">
            <a:solidFill>
              <a:srgbClr val="1F2329"/>
            </a:solidFill>
            <a:prstDash val="solid"/>
            <a:tailEnd type="triangle"/>
          </a:ln>
        </p:spPr>
      </p:sp>
      <p:sp>
        <p:nvSpPr>
          <p:cNvPr id="8" name="text-98"/>
          <p:cNvSpPr txBox="1"/>
          <p:nvPr/>
        </p:nvSpPr>
        <p:spPr>
          <a:xfrm>
            <a:off x="5772150" y="259232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hasGenre</a:t>
            </a:r>
            <a:endParaRPr lang="en-US" sz="1100" dirty="0"/>
          </a:p>
        </p:txBody>
      </p:sp>
      <p:sp>
        <p:nvSpPr>
          <p:cNvPr id="9" name="edge-99"/>
          <p:cNvSpPr/>
          <p:nvPr/>
        </p:nvSpPr>
        <p:spPr>
          <a:xfrm flipV="1">
            <a:off x="5925312" y="3520440"/>
            <a:ext cx="996696" cy="0"/>
          </a:xfrm>
          <a:prstGeom prst="line">
            <a:avLst/>
          </a:prstGeom>
          <a:noFill/>
          <a:ln w="19050">
            <a:solidFill>
              <a:srgbClr val="1F2329"/>
            </a:solidFill>
            <a:prstDash val="solid"/>
            <a:tailEnd type="triangle"/>
          </a:ln>
        </p:spPr>
      </p:sp>
      <p:sp>
        <p:nvSpPr>
          <p:cNvPr id="10" name="text-100"/>
          <p:cNvSpPr txBox="1"/>
          <p:nvPr/>
        </p:nvSpPr>
        <p:spPr>
          <a:xfrm>
            <a:off x="5875020" y="3172968"/>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producedBy</a:t>
            </a:r>
            <a:endParaRPr lang="en-US" sz="1100" dirty="0"/>
          </a:p>
        </p:txBody>
      </p:sp>
      <p:sp>
        <p:nvSpPr>
          <p:cNvPr id="11" name="edge-101"/>
          <p:cNvSpPr/>
          <p:nvPr/>
        </p:nvSpPr>
        <p:spPr>
          <a:xfrm>
            <a:off x="5446838" y="3867912"/>
            <a:ext cx="1536565" cy="1636776"/>
          </a:xfrm>
          <a:prstGeom prst="line">
            <a:avLst/>
          </a:prstGeom>
          <a:noFill/>
          <a:ln w="19050">
            <a:solidFill>
              <a:srgbClr val="BF1E2E"/>
            </a:solidFill>
            <a:prstDash val="dash"/>
            <a:tailEnd type="triangle"/>
          </a:ln>
        </p:spPr>
      </p:sp>
      <p:sp>
        <p:nvSpPr>
          <p:cNvPr id="12" name="text-102"/>
          <p:cNvSpPr txBox="1"/>
          <p:nvPr/>
        </p:nvSpPr>
        <p:spPr>
          <a:xfrm>
            <a:off x="5757921" y="455828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owl:sameAs</a:t>
            </a:r>
            <a:endParaRPr lang="en-US" sz="1100" dirty="0"/>
          </a:p>
        </p:txBody>
      </p:sp>
      <p:sp>
        <p:nvSpPr>
          <p:cNvPr id="13" name="edge-103"/>
          <p:cNvSpPr/>
          <p:nvPr/>
        </p:nvSpPr>
        <p:spPr>
          <a:xfrm>
            <a:off x="5120640" y="3867912"/>
            <a:ext cx="0" cy="1636776"/>
          </a:xfrm>
          <a:prstGeom prst="line">
            <a:avLst/>
          </a:prstGeom>
          <a:noFill/>
          <a:ln w="19050">
            <a:solidFill>
              <a:srgbClr val="1F2329"/>
            </a:solidFill>
            <a:prstDash val="solid"/>
            <a:tailEnd type="triangle"/>
          </a:ln>
        </p:spPr>
      </p:sp>
      <p:sp>
        <p:nvSpPr>
          <p:cNvPr id="14" name="text-104"/>
          <p:cNvSpPr txBox="1"/>
          <p:nvPr/>
        </p:nvSpPr>
        <p:spPr>
          <a:xfrm>
            <a:off x="4572000" y="455828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hasCastRole</a:t>
            </a:r>
            <a:endParaRPr lang="en-US" sz="1100" dirty="0"/>
          </a:p>
        </p:txBody>
      </p:sp>
      <p:sp>
        <p:nvSpPr>
          <p:cNvPr id="15" name="edge-105"/>
          <p:cNvSpPr/>
          <p:nvPr/>
        </p:nvSpPr>
        <p:spPr>
          <a:xfrm flipH="1" flipV="1">
            <a:off x="3849226" y="5010912"/>
            <a:ext cx="837272" cy="493776"/>
          </a:xfrm>
          <a:prstGeom prst="line">
            <a:avLst/>
          </a:prstGeom>
          <a:noFill/>
          <a:ln w="19050">
            <a:solidFill>
              <a:srgbClr val="1F2329"/>
            </a:solidFill>
            <a:prstDash val="solid"/>
            <a:tailEnd type="triangle"/>
          </a:ln>
        </p:spPr>
      </p:sp>
      <p:sp>
        <p:nvSpPr>
          <p:cNvPr id="16" name="text-106"/>
          <p:cNvSpPr txBox="1"/>
          <p:nvPr/>
        </p:nvSpPr>
        <p:spPr>
          <a:xfrm>
            <a:off x="3033423" y="5239512"/>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playedBy</a:t>
            </a:r>
            <a:endParaRPr lang="en-US" sz="1100" dirty="0"/>
          </a:p>
        </p:txBody>
      </p:sp>
      <p:sp>
        <p:nvSpPr>
          <p:cNvPr id="17" name="edge-107"/>
          <p:cNvSpPr/>
          <p:nvPr/>
        </p:nvSpPr>
        <p:spPr>
          <a:xfrm>
            <a:off x="5641848" y="3867912"/>
            <a:ext cx="1357884" cy="905256"/>
          </a:xfrm>
          <a:prstGeom prst="line">
            <a:avLst/>
          </a:prstGeom>
          <a:noFill/>
          <a:ln w="19050">
            <a:solidFill>
              <a:srgbClr val="1F2329"/>
            </a:solidFill>
            <a:prstDash val="solid"/>
            <a:tailEnd type="triangle"/>
          </a:ln>
        </p:spPr>
      </p:sp>
      <p:sp>
        <p:nvSpPr>
          <p:cNvPr id="18" name="text-108"/>
          <p:cNvSpPr txBox="1"/>
          <p:nvPr/>
        </p:nvSpPr>
        <p:spPr>
          <a:xfrm>
            <a:off x="5772150" y="419252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producedIn</a:t>
            </a:r>
            <a:endParaRPr lang="en-US" sz="1100" dirty="0"/>
          </a:p>
        </p:txBody>
      </p:sp>
      <p:sp>
        <p:nvSpPr>
          <p:cNvPr id="19" name="edge-109"/>
          <p:cNvSpPr/>
          <p:nvPr/>
        </p:nvSpPr>
        <p:spPr>
          <a:xfrm flipH="1">
            <a:off x="1802423" y="2633472"/>
            <a:ext cx="1012874" cy="585216"/>
          </a:xfrm>
          <a:prstGeom prst="line">
            <a:avLst/>
          </a:prstGeom>
          <a:noFill/>
          <a:ln w="19050">
            <a:solidFill>
              <a:srgbClr val="5F6670"/>
            </a:solidFill>
            <a:prstDash val="dash"/>
            <a:tailEnd type="triangle"/>
          </a:ln>
        </p:spPr>
      </p:sp>
      <p:sp>
        <p:nvSpPr>
          <p:cNvPr id="20" name="text-110"/>
          <p:cNvSpPr txBox="1"/>
          <p:nvPr/>
        </p:nvSpPr>
        <p:spPr>
          <a:xfrm>
            <a:off x="1760220" y="279806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subClassOf</a:t>
            </a:r>
            <a:endParaRPr lang="en-US" sz="1100" dirty="0"/>
          </a:p>
        </p:txBody>
      </p:sp>
      <p:sp>
        <p:nvSpPr>
          <p:cNvPr id="21" name="edge-111"/>
          <p:cNvSpPr/>
          <p:nvPr/>
        </p:nvSpPr>
        <p:spPr>
          <a:xfrm flipH="1" flipV="1">
            <a:off x="1802423" y="3822192"/>
            <a:ext cx="1012874" cy="585216"/>
          </a:xfrm>
          <a:prstGeom prst="line">
            <a:avLst/>
          </a:prstGeom>
          <a:noFill/>
          <a:ln w="19050">
            <a:solidFill>
              <a:srgbClr val="5F6670"/>
            </a:solidFill>
            <a:prstDash val="dash"/>
            <a:tailEnd type="triangle"/>
          </a:ln>
        </p:spPr>
      </p:sp>
      <p:sp>
        <p:nvSpPr>
          <p:cNvPr id="22" name="text-112"/>
          <p:cNvSpPr txBox="1"/>
          <p:nvPr/>
        </p:nvSpPr>
        <p:spPr>
          <a:xfrm>
            <a:off x="1760220" y="398678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subClassOf</a:t>
            </a:r>
            <a:endParaRPr lang="en-US" sz="1100" dirty="0"/>
          </a:p>
        </p:txBody>
      </p:sp>
      <p:sp>
        <p:nvSpPr>
          <p:cNvPr id="23" name="edge-113"/>
          <p:cNvSpPr/>
          <p:nvPr/>
        </p:nvSpPr>
        <p:spPr>
          <a:xfrm flipV="1">
            <a:off x="1280160" y="2176272"/>
            <a:ext cx="0" cy="1042416"/>
          </a:xfrm>
          <a:prstGeom prst="line">
            <a:avLst/>
          </a:prstGeom>
          <a:noFill/>
          <a:ln w="19050">
            <a:solidFill>
              <a:srgbClr val="1F2329"/>
            </a:solidFill>
            <a:prstDash val="solid"/>
            <a:tailEnd type="triangle"/>
          </a:ln>
        </p:spPr>
      </p:sp>
      <p:sp>
        <p:nvSpPr>
          <p:cNvPr id="24" name="text-114"/>
          <p:cNvSpPr txBox="1"/>
          <p:nvPr/>
        </p:nvSpPr>
        <p:spPr>
          <a:xfrm>
            <a:off x="731520" y="2569464"/>
            <a:ext cx="1097280" cy="256032"/>
          </a:xfrm>
          <a:prstGeom prst="rect">
            <a:avLst/>
          </a:prstGeom>
          <a:solidFill>
            <a:schemeClr val="bg1"/>
          </a:solidFill>
          <a:ln/>
        </p:spPr>
        <p:txBody>
          <a:bodyPr wrap="square" lIns="0" tIns="0" rIns="0" bIns="0" rtlCol="0" anchor="ctr"/>
          <a:lstStyle/>
          <a:p>
            <a:pPr algn="ctr" indent="0" marL="0">
              <a:buNone/>
            </a:pPr>
            <a:r>
              <a:rPr lang="en-US" sz="1100" dirty="0">
                <a:solidFill>
                  <a:schemeClr val="accent4"/>
                </a:solidFill>
                <a:latin typeface="Courier New" pitchFamily="34" charset="0"/>
                <a:ea typeface="Courier New" pitchFamily="34" charset="-122"/>
                <a:cs typeface="Courier New" pitchFamily="34" charset="-120"/>
              </a:rPr>
              <a:t>hasAward</a:t>
            </a:r>
            <a:endParaRPr lang="en-US" sz="1100" dirty="0"/>
          </a:p>
        </p:txBody>
      </p:sp>
      <p:sp>
        <p:nvSpPr>
          <p:cNvPr id="25" name="node-Award"/>
          <p:cNvSpPr/>
          <p:nvPr/>
        </p:nvSpPr>
        <p:spPr>
          <a:xfrm>
            <a:off x="548640" y="1600200"/>
            <a:ext cx="1463040" cy="548640"/>
          </a:xfrm>
          <a:prstGeom prst="roundRect">
            <a:avLst>
              <a:gd name="adj" fmla="val 20000"/>
            </a:avLst>
          </a:prstGeom>
          <a:solidFill>
            <a:schemeClr val="bg1"/>
          </a:solidFill>
          <a:ln w="19050">
            <a:solidFill>
              <a:srgbClr val="BF1E2E"/>
            </a:solidFill>
            <a:prstDash val="solid"/>
          </a:ln>
        </p:spPr>
      </p:sp>
      <p:sp>
        <p:nvSpPr>
          <p:cNvPr id="26" name="text-115"/>
          <p:cNvSpPr txBox="1"/>
          <p:nvPr/>
        </p:nvSpPr>
        <p:spPr>
          <a:xfrm>
            <a:off x="548640" y="1600200"/>
            <a:ext cx="1463040" cy="548640"/>
          </a:xfrm>
          <a:prstGeom prst="rect">
            <a:avLst/>
          </a:prstGeom>
          <a:noFill/>
          <a:ln/>
        </p:spPr>
        <p:txBody>
          <a:bodyPr wrap="square" lIns="0" tIns="0" rIns="0" bIns="0" rtlCol="0" anchor="ctr"/>
          <a:lstStyle/>
          <a:p>
            <a:pPr algn="ctr" indent="0" marL="0">
              <a:buNone/>
            </a:pPr>
            <a:r>
              <a:rPr lang="en-US" sz="1500" b="1" dirty="0">
                <a:solidFill>
                  <a:schemeClr val="tx1"/>
                </a:solidFill>
              </a:rPr>
              <a:t>Award</a:t>
            </a:r>
            <a:endParaRPr lang="en-US" sz="1500" dirty="0"/>
          </a:p>
        </p:txBody>
      </p:sp>
      <p:sp>
        <p:nvSpPr>
          <p:cNvPr id="27" name="node-Person"/>
          <p:cNvSpPr/>
          <p:nvPr/>
        </p:nvSpPr>
        <p:spPr>
          <a:xfrm>
            <a:off x="548640" y="3246120"/>
            <a:ext cx="1463040" cy="548640"/>
          </a:xfrm>
          <a:prstGeom prst="roundRect">
            <a:avLst>
              <a:gd name="adj" fmla="val 20000"/>
            </a:avLst>
          </a:prstGeom>
          <a:solidFill>
            <a:schemeClr val="bg1"/>
          </a:solidFill>
          <a:ln w="19050">
            <a:solidFill>
              <a:srgbClr val="BF1E2E"/>
            </a:solidFill>
            <a:prstDash val="solid"/>
          </a:ln>
        </p:spPr>
      </p:sp>
      <p:sp>
        <p:nvSpPr>
          <p:cNvPr id="28" name="text-116"/>
          <p:cNvSpPr txBox="1"/>
          <p:nvPr/>
        </p:nvSpPr>
        <p:spPr>
          <a:xfrm>
            <a:off x="548640" y="3246120"/>
            <a:ext cx="1463040" cy="548640"/>
          </a:xfrm>
          <a:prstGeom prst="rect">
            <a:avLst/>
          </a:prstGeom>
          <a:noFill/>
          <a:ln/>
        </p:spPr>
        <p:txBody>
          <a:bodyPr wrap="square" lIns="0" tIns="0" rIns="0" bIns="0" rtlCol="0" anchor="ctr"/>
          <a:lstStyle/>
          <a:p>
            <a:pPr algn="ctr" indent="0" marL="0">
              <a:buNone/>
            </a:pPr>
            <a:r>
              <a:rPr lang="en-US" sz="1500" b="1" dirty="0">
                <a:solidFill>
                  <a:schemeClr val="tx1"/>
                </a:solidFill>
              </a:rPr>
              <a:t>Person</a:t>
            </a:r>
            <a:endParaRPr lang="en-US" sz="1500" dirty="0"/>
          </a:p>
        </p:txBody>
      </p:sp>
      <p:sp>
        <p:nvSpPr>
          <p:cNvPr id="29" name="node-Director"/>
          <p:cNvSpPr/>
          <p:nvPr/>
        </p:nvSpPr>
        <p:spPr>
          <a:xfrm>
            <a:off x="2606040" y="2057400"/>
            <a:ext cx="1463040" cy="548640"/>
          </a:xfrm>
          <a:prstGeom prst="roundRect">
            <a:avLst>
              <a:gd name="adj" fmla="val 20000"/>
            </a:avLst>
          </a:prstGeom>
          <a:solidFill>
            <a:schemeClr val="bg1"/>
          </a:solidFill>
          <a:ln w="19050">
            <a:solidFill>
              <a:srgbClr val="BF1E2E"/>
            </a:solidFill>
            <a:prstDash val="solid"/>
          </a:ln>
        </p:spPr>
      </p:sp>
      <p:sp>
        <p:nvSpPr>
          <p:cNvPr id="30" name="text-117"/>
          <p:cNvSpPr txBox="1"/>
          <p:nvPr/>
        </p:nvSpPr>
        <p:spPr>
          <a:xfrm>
            <a:off x="2606040" y="2057400"/>
            <a:ext cx="1463040" cy="548640"/>
          </a:xfrm>
          <a:prstGeom prst="rect">
            <a:avLst/>
          </a:prstGeom>
          <a:noFill/>
          <a:ln/>
        </p:spPr>
        <p:txBody>
          <a:bodyPr wrap="square" lIns="0" tIns="0" rIns="0" bIns="0" rtlCol="0" anchor="ctr"/>
          <a:lstStyle/>
          <a:p>
            <a:pPr algn="ctr" indent="0" marL="0">
              <a:buNone/>
            </a:pPr>
            <a:r>
              <a:rPr lang="en-US" sz="1500" b="1" dirty="0">
                <a:solidFill>
                  <a:schemeClr val="tx1"/>
                </a:solidFill>
              </a:rPr>
              <a:t>Director</a:t>
            </a:r>
            <a:endParaRPr lang="en-US" sz="1500" dirty="0"/>
          </a:p>
        </p:txBody>
      </p:sp>
      <p:sp>
        <p:nvSpPr>
          <p:cNvPr id="31" name="node-Actor"/>
          <p:cNvSpPr/>
          <p:nvPr/>
        </p:nvSpPr>
        <p:spPr>
          <a:xfrm>
            <a:off x="2606040" y="4434840"/>
            <a:ext cx="1463040" cy="548640"/>
          </a:xfrm>
          <a:prstGeom prst="roundRect">
            <a:avLst>
              <a:gd name="adj" fmla="val 20000"/>
            </a:avLst>
          </a:prstGeom>
          <a:solidFill>
            <a:schemeClr val="bg1"/>
          </a:solidFill>
          <a:ln w="19050">
            <a:solidFill>
              <a:srgbClr val="BF1E2E"/>
            </a:solidFill>
            <a:prstDash val="solid"/>
          </a:ln>
        </p:spPr>
      </p:sp>
      <p:sp>
        <p:nvSpPr>
          <p:cNvPr id="32" name="text-118"/>
          <p:cNvSpPr txBox="1"/>
          <p:nvPr/>
        </p:nvSpPr>
        <p:spPr>
          <a:xfrm>
            <a:off x="2606040" y="4434840"/>
            <a:ext cx="1463040" cy="548640"/>
          </a:xfrm>
          <a:prstGeom prst="rect">
            <a:avLst/>
          </a:prstGeom>
          <a:noFill/>
          <a:ln/>
        </p:spPr>
        <p:txBody>
          <a:bodyPr wrap="square" lIns="0" tIns="0" rIns="0" bIns="0" rtlCol="0" anchor="ctr"/>
          <a:lstStyle/>
          <a:p>
            <a:pPr algn="ctr" indent="0" marL="0">
              <a:buNone/>
            </a:pPr>
            <a:r>
              <a:rPr lang="en-US" sz="1500" b="1" dirty="0">
                <a:solidFill>
                  <a:schemeClr val="tx1"/>
                </a:solidFill>
              </a:rPr>
              <a:t>Actor</a:t>
            </a:r>
            <a:endParaRPr lang="en-US" sz="1500" dirty="0"/>
          </a:p>
        </p:txBody>
      </p:sp>
      <p:sp>
        <p:nvSpPr>
          <p:cNvPr id="33" name="node-Movie"/>
          <p:cNvSpPr/>
          <p:nvPr/>
        </p:nvSpPr>
        <p:spPr>
          <a:xfrm>
            <a:off x="4343400" y="3200400"/>
            <a:ext cx="1554480" cy="640080"/>
          </a:xfrm>
          <a:prstGeom prst="roundRect">
            <a:avLst>
              <a:gd name="adj" fmla="val 17143"/>
            </a:avLst>
          </a:prstGeom>
          <a:solidFill>
            <a:schemeClr val="accent1"/>
          </a:solidFill>
          <a:ln w="19050">
            <a:solidFill>
              <a:srgbClr val="BF1E2E"/>
            </a:solidFill>
            <a:prstDash val="solid"/>
          </a:ln>
        </p:spPr>
      </p:sp>
      <p:sp>
        <p:nvSpPr>
          <p:cNvPr id="34" name="text-119"/>
          <p:cNvSpPr txBox="1"/>
          <p:nvPr/>
        </p:nvSpPr>
        <p:spPr>
          <a:xfrm>
            <a:off x="4343400" y="3200400"/>
            <a:ext cx="1554480" cy="640080"/>
          </a:xfrm>
          <a:prstGeom prst="rect">
            <a:avLst/>
          </a:prstGeom>
          <a:noFill/>
          <a:ln/>
        </p:spPr>
        <p:txBody>
          <a:bodyPr wrap="square" lIns="0" tIns="0" rIns="0" bIns="0" rtlCol="0" anchor="ctr"/>
          <a:lstStyle/>
          <a:p>
            <a:pPr algn="ctr" indent="0" marL="0">
              <a:buNone/>
            </a:pPr>
            <a:r>
              <a:rPr lang="en-US" sz="1700" b="1" dirty="0">
                <a:solidFill>
                  <a:schemeClr val="bg1"/>
                </a:solidFill>
              </a:rPr>
              <a:t>Movie</a:t>
            </a:r>
            <a:endParaRPr lang="en-US" sz="1700" dirty="0"/>
          </a:p>
        </p:txBody>
      </p:sp>
      <p:sp>
        <p:nvSpPr>
          <p:cNvPr id="35" name="node-Links"/>
          <p:cNvSpPr/>
          <p:nvPr/>
        </p:nvSpPr>
        <p:spPr>
          <a:xfrm>
            <a:off x="6263640" y="5532120"/>
            <a:ext cx="1920240" cy="457200"/>
          </a:xfrm>
          <a:prstGeom prst="roundRect">
            <a:avLst>
              <a:gd name="adj" fmla="val 24000"/>
            </a:avLst>
          </a:prstGeom>
          <a:solidFill>
            <a:schemeClr val="bg1"/>
          </a:solidFill>
          <a:ln w="19050">
            <a:solidFill>
              <a:srgbClr val="BF1E2E"/>
            </a:solidFill>
            <a:prstDash val="dash"/>
          </a:ln>
        </p:spPr>
      </p:sp>
      <p:sp>
        <p:nvSpPr>
          <p:cNvPr id="36" name="text-120"/>
          <p:cNvSpPr txBox="1"/>
          <p:nvPr/>
        </p:nvSpPr>
        <p:spPr>
          <a:xfrm>
            <a:off x="6263640" y="5532120"/>
            <a:ext cx="1920240" cy="457200"/>
          </a:xfrm>
          <a:prstGeom prst="rect">
            <a:avLst/>
          </a:prstGeom>
          <a:noFill/>
          <a:ln/>
        </p:spPr>
        <p:txBody>
          <a:bodyPr wrap="square" lIns="0" tIns="0" rIns="0" bIns="0" rtlCol="0" anchor="ctr"/>
          <a:lstStyle/>
          <a:p>
            <a:pPr algn="ctr" indent="0" marL="0">
              <a:buNone/>
            </a:pPr>
            <a:r>
              <a:rPr lang="en-US" sz="1500" b="1" dirty="0">
                <a:solidFill>
                  <a:schemeClr val="tx1"/>
                </a:solidFill>
              </a:rPr>
              <a:t>Wikidata · DBpedia</a:t>
            </a:r>
            <a:endParaRPr lang="en-US" sz="1500" dirty="0"/>
          </a:p>
        </p:txBody>
      </p:sp>
      <p:sp>
        <p:nvSpPr>
          <p:cNvPr id="37" name="node-CastRole"/>
          <p:cNvSpPr/>
          <p:nvPr/>
        </p:nvSpPr>
        <p:spPr>
          <a:xfrm>
            <a:off x="4434840" y="5532120"/>
            <a:ext cx="1371600" cy="457200"/>
          </a:xfrm>
          <a:prstGeom prst="roundRect">
            <a:avLst>
              <a:gd name="adj" fmla="val 24000"/>
            </a:avLst>
          </a:prstGeom>
          <a:solidFill>
            <a:schemeClr val="bg1"/>
          </a:solidFill>
          <a:ln w="19050">
            <a:solidFill>
              <a:srgbClr val="BF1E2E"/>
            </a:solidFill>
            <a:prstDash val="solid"/>
          </a:ln>
        </p:spPr>
      </p:sp>
      <p:sp>
        <p:nvSpPr>
          <p:cNvPr id="38" name="text-121"/>
          <p:cNvSpPr txBox="1"/>
          <p:nvPr/>
        </p:nvSpPr>
        <p:spPr>
          <a:xfrm>
            <a:off x="4434840" y="5532120"/>
            <a:ext cx="1371600" cy="457200"/>
          </a:xfrm>
          <a:prstGeom prst="rect">
            <a:avLst/>
          </a:prstGeom>
          <a:noFill/>
          <a:ln/>
        </p:spPr>
        <p:txBody>
          <a:bodyPr wrap="square" lIns="0" tIns="0" rIns="0" bIns="0" rtlCol="0" anchor="ctr"/>
          <a:lstStyle/>
          <a:p>
            <a:pPr algn="ctr" indent="0" marL="0">
              <a:buNone/>
            </a:pPr>
            <a:r>
              <a:rPr lang="en-US" sz="1500" b="1" dirty="0">
                <a:solidFill>
                  <a:schemeClr val="tx1"/>
                </a:solidFill>
              </a:rPr>
              <a:t>CastRole</a:t>
            </a:r>
            <a:endParaRPr lang="en-US" sz="1500" dirty="0"/>
          </a:p>
        </p:txBody>
      </p:sp>
      <p:sp>
        <p:nvSpPr>
          <p:cNvPr id="39" name="node-Genre"/>
          <p:cNvSpPr/>
          <p:nvPr/>
        </p:nvSpPr>
        <p:spPr>
          <a:xfrm>
            <a:off x="6766560" y="1691640"/>
            <a:ext cx="1371600" cy="548640"/>
          </a:xfrm>
          <a:prstGeom prst="roundRect">
            <a:avLst>
              <a:gd name="adj" fmla="val 20000"/>
            </a:avLst>
          </a:prstGeom>
          <a:solidFill>
            <a:schemeClr val="bg1"/>
          </a:solidFill>
          <a:ln w="19050">
            <a:solidFill>
              <a:srgbClr val="BF1E2E"/>
            </a:solidFill>
            <a:prstDash val="solid"/>
          </a:ln>
        </p:spPr>
      </p:sp>
      <p:sp>
        <p:nvSpPr>
          <p:cNvPr id="40" name="text-122"/>
          <p:cNvSpPr txBox="1"/>
          <p:nvPr/>
        </p:nvSpPr>
        <p:spPr>
          <a:xfrm>
            <a:off x="6766560" y="1691640"/>
            <a:ext cx="1371600" cy="548640"/>
          </a:xfrm>
          <a:prstGeom prst="rect">
            <a:avLst/>
          </a:prstGeom>
          <a:noFill/>
          <a:ln/>
        </p:spPr>
        <p:txBody>
          <a:bodyPr wrap="square" lIns="0" tIns="0" rIns="0" bIns="0" rtlCol="0" anchor="ctr"/>
          <a:lstStyle/>
          <a:p>
            <a:pPr algn="ctr" indent="0" marL="0">
              <a:buNone/>
            </a:pPr>
            <a:r>
              <a:rPr lang="en-US" sz="1500" b="1" dirty="0">
                <a:solidFill>
                  <a:schemeClr val="tx1"/>
                </a:solidFill>
              </a:rPr>
              <a:t>Genre</a:t>
            </a:r>
            <a:endParaRPr lang="en-US" sz="1500" dirty="0"/>
          </a:p>
        </p:txBody>
      </p:sp>
      <p:sp>
        <p:nvSpPr>
          <p:cNvPr id="41" name="node-Studio"/>
          <p:cNvSpPr/>
          <p:nvPr/>
        </p:nvSpPr>
        <p:spPr>
          <a:xfrm>
            <a:off x="6949440" y="3246120"/>
            <a:ext cx="1280160" cy="548640"/>
          </a:xfrm>
          <a:prstGeom prst="roundRect">
            <a:avLst>
              <a:gd name="adj" fmla="val 20000"/>
            </a:avLst>
          </a:prstGeom>
          <a:solidFill>
            <a:schemeClr val="bg1"/>
          </a:solidFill>
          <a:ln w="19050">
            <a:solidFill>
              <a:srgbClr val="BF1E2E"/>
            </a:solidFill>
            <a:prstDash val="solid"/>
          </a:ln>
        </p:spPr>
      </p:sp>
      <p:sp>
        <p:nvSpPr>
          <p:cNvPr id="42" name="text-123"/>
          <p:cNvSpPr txBox="1"/>
          <p:nvPr/>
        </p:nvSpPr>
        <p:spPr>
          <a:xfrm>
            <a:off x="6949440" y="3246120"/>
            <a:ext cx="1280160" cy="548640"/>
          </a:xfrm>
          <a:prstGeom prst="rect">
            <a:avLst/>
          </a:prstGeom>
          <a:noFill/>
          <a:ln/>
        </p:spPr>
        <p:txBody>
          <a:bodyPr wrap="square" lIns="0" tIns="0" rIns="0" bIns="0" rtlCol="0" anchor="ctr"/>
          <a:lstStyle/>
          <a:p>
            <a:pPr algn="ctr" indent="0" marL="0">
              <a:buNone/>
            </a:pPr>
            <a:r>
              <a:rPr lang="en-US" sz="1500" b="1" dirty="0">
                <a:solidFill>
                  <a:schemeClr val="tx1"/>
                </a:solidFill>
              </a:rPr>
              <a:t>Studio</a:t>
            </a:r>
            <a:endParaRPr lang="en-US" sz="1500" dirty="0"/>
          </a:p>
        </p:txBody>
      </p:sp>
      <p:sp>
        <p:nvSpPr>
          <p:cNvPr id="43" name="node-Country"/>
          <p:cNvSpPr/>
          <p:nvPr/>
        </p:nvSpPr>
        <p:spPr>
          <a:xfrm>
            <a:off x="6766560" y="4800600"/>
            <a:ext cx="1371600" cy="548640"/>
          </a:xfrm>
          <a:prstGeom prst="roundRect">
            <a:avLst>
              <a:gd name="adj" fmla="val 20000"/>
            </a:avLst>
          </a:prstGeom>
          <a:solidFill>
            <a:schemeClr val="bg1"/>
          </a:solidFill>
          <a:ln w="19050">
            <a:solidFill>
              <a:srgbClr val="BF1E2E"/>
            </a:solidFill>
            <a:prstDash val="solid"/>
          </a:ln>
        </p:spPr>
      </p:sp>
      <p:sp>
        <p:nvSpPr>
          <p:cNvPr id="44" name="text-124"/>
          <p:cNvSpPr txBox="1"/>
          <p:nvPr/>
        </p:nvSpPr>
        <p:spPr>
          <a:xfrm>
            <a:off x="6766560" y="4800600"/>
            <a:ext cx="1371600" cy="548640"/>
          </a:xfrm>
          <a:prstGeom prst="rect">
            <a:avLst/>
          </a:prstGeom>
          <a:noFill/>
          <a:ln/>
        </p:spPr>
        <p:txBody>
          <a:bodyPr wrap="square" lIns="0" tIns="0" rIns="0" bIns="0" rtlCol="0" anchor="ctr"/>
          <a:lstStyle/>
          <a:p>
            <a:pPr algn="ctr" indent="0" marL="0">
              <a:buNone/>
            </a:pPr>
            <a:r>
              <a:rPr lang="en-US" sz="1500" b="1" dirty="0">
                <a:solidFill>
                  <a:schemeClr val="tx1"/>
                </a:solidFill>
              </a:rPr>
              <a:t>Country</a:t>
            </a:r>
            <a:endParaRPr lang="en-US" sz="1500" dirty="0"/>
          </a:p>
        </p:txBody>
      </p:sp>
      <p:sp>
        <p:nvSpPr>
          <p:cNvPr id="45" name="vocab-card"/>
          <p:cNvSpPr/>
          <p:nvPr/>
        </p:nvSpPr>
        <p:spPr>
          <a:xfrm>
            <a:off x="8549640" y="1600200"/>
            <a:ext cx="3090672" cy="4206240"/>
          </a:xfrm>
          <a:prstGeom prst="roundRect">
            <a:avLst>
              <a:gd name="adj" fmla="val 2367"/>
            </a:avLst>
          </a:prstGeom>
          <a:solidFill>
            <a:schemeClr val="bg2"/>
          </a:solidFill>
          <a:ln w="12700">
            <a:solidFill>
              <a:srgbClr val="F3F4F6"/>
            </a:solidFill>
            <a:prstDash val="solid"/>
          </a:ln>
        </p:spPr>
      </p:sp>
      <p:sp>
        <p:nvSpPr>
          <p:cNvPr id="46" name="text-125"/>
          <p:cNvSpPr txBox="1"/>
          <p:nvPr/>
        </p:nvSpPr>
        <p:spPr>
          <a:xfrm>
            <a:off x="8823960" y="1783080"/>
            <a:ext cx="2651760" cy="365760"/>
          </a:xfrm>
          <a:prstGeom prst="rect">
            <a:avLst/>
          </a:prstGeom>
          <a:noFill/>
          <a:ln/>
        </p:spPr>
        <p:txBody>
          <a:bodyPr wrap="square" lIns="0" tIns="0" rIns="0" bIns="0" rtlCol="0" anchor="ctr"/>
          <a:lstStyle/>
          <a:p>
            <a:pPr indent="0" marL="0">
              <a:buNone/>
            </a:pPr>
            <a:r>
              <a:rPr lang="en-US" sz="1700" b="1" dirty="0">
                <a:solidFill>
                  <a:schemeClr val="tx1"/>
                </a:solidFill>
              </a:rPr>
              <a:t>Reused before minting</a:t>
            </a:r>
            <a:endParaRPr lang="en-US" sz="1700" dirty="0"/>
          </a:p>
        </p:txBody>
      </p:sp>
      <p:sp>
        <p:nvSpPr>
          <p:cNvPr id="47" name="text-126"/>
          <p:cNvSpPr txBox="1"/>
          <p:nvPr/>
        </p:nvSpPr>
        <p:spPr>
          <a:xfrm>
            <a:off x="8823960" y="2194560"/>
            <a:ext cx="265176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schema:Movie, foaf:Person</a:t>
            </a:r>
            <a:endParaRPr lang="en-US" sz="1400" dirty="0"/>
          </a:p>
          <a:p>
            <a:pPr marL="342900" indent="-342900">
              <a:spcAft>
                <a:spcPts val="400"/>
              </a:spcAft>
              <a:buSzPct val="100000"/>
              <a:buChar char="•"/>
            </a:pPr>
            <a:r>
              <a:rPr lang="en-US" sz="1400" dirty="0">
                <a:solidFill>
                  <a:schemeClr val="tx1"/>
                </a:solidFill>
              </a:rPr>
              <a:t>dbo:director, dbo:starring</a:t>
            </a:r>
            <a:endParaRPr lang="en-US" sz="1400" dirty="0"/>
          </a:p>
          <a:p>
            <a:pPr marL="342900" indent="-342900">
              <a:spcAft>
                <a:spcPts val="400"/>
              </a:spcAft>
              <a:buSzPct val="100000"/>
              <a:buChar char="•"/>
            </a:pPr>
            <a:r>
              <a:rPr lang="en-US" sz="1400" dirty="0">
                <a:solidFill>
                  <a:schemeClr val="tx1"/>
                </a:solidFill>
              </a:rPr>
              <a:t>dc:title, foaf:name</a:t>
            </a:r>
            <a:endParaRPr lang="en-US" sz="1400" dirty="0"/>
          </a:p>
        </p:txBody>
      </p:sp>
      <p:sp>
        <p:nvSpPr>
          <p:cNvPr id="48" name="text-127"/>
          <p:cNvSpPr txBox="1"/>
          <p:nvPr/>
        </p:nvSpPr>
        <p:spPr>
          <a:xfrm>
            <a:off x="8823960" y="3291840"/>
            <a:ext cx="2651760" cy="365760"/>
          </a:xfrm>
          <a:prstGeom prst="rect">
            <a:avLst/>
          </a:prstGeom>
          <a:noFill/>
          <a:ln/>
        </p:spPr>
        <p:txBody>
          <a:bodyPr wrap="square" lIns="0" tIns="0" rIns="0" bIns="0" rtlCol="0" anchor="ctr"/>
          <a:lstStyle/>
          <a:p>
            <a:pPr indent="0" marL="0">
              <a:buNone/>
            </a:pPr>
            <a:r>
              <a:rPr lang="en-US" sz="1700" b="1" dirty="0">
                <a:solidFill>
                  <a:schemeClr val="tx1"/>
                </a:solidFill>
              </a:rPr>
              <a:t>Local terms</a:t>
            </a:r>
            <a:endParaRPr lang="en-US" sz="1700" dirty="0"/>
          </a:p>
        </p:txBody>
      </p:sp>
      <p:sp>
        <p:nvSpPr>
          <p:cNvPr id="49" name="text-128"/>
          <p:cNvSpPr txBox="1"/>
          <p:nvPr/>
        </p:nvSpPr>
        <p:spPr>
          <a:xfrm>
            <a:off x="8823960" y="3703320"/>
            <a:ext cx="2651760" cy="1920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hasGenre, producedBy, producedIn</a:t>
            </a:r>
            <a:endParaRPr lang="en-US" sz="1400" dirty="0"/>
          </a:p>
          <a:p>
            <a:pPr marL="342900" indent="-342900">
              <a:spcAft>
                <a:spcPts val="400"/>
              </a:spcAft>
              <a:buSzPct val="100000"/>
              <a:buChar char="•"/>
            </a:pPr>
            <a:r>
              <a:rPr lang="en-US" sz="1400" dirty="0">
                <a:solidFill>
                  <a:schemeClr val="tx1"/>
                </a:solidFill>
              </a:rPr>
              <a:t>releaseYear, hasAward</a:t>
            </a:r>
            <a:endParaRPr lang="en-US" sz="1400" dirty="0"/>
          </a:p>
          <a:p>
            <a:pPr marL="342900" indent="-342900">
              <a:spcAft>
                <a:spcPts val="400"/>
              </a:spcAft>
              <a:buSzPct val="100000"/>
              <a:buChar char="•"/>
            </a:pPr>
            <a:r>
              <a:rPr lang="en-US" sz="1400" dirty="0">
                <a:solidFill>
                  <a:schemeClr val="tx1"/>
                </a:solidFill>
              </a:rPr>
              <a:t>Genre, Studio, Country, Award</a:t>
            </a:r>
            <a:endParaRPr lang="en-US" sz="1400" dirty="0"/>
          </a:p>
          <a:p>
            <a:pPr marL="342900" indent="-342900">
              <a:spcAft>
                <a:spcPts val="400"/>
              </a:spcAft>
              <a:buSzPct val="100000"/>
              <a:buChar char="•"/>
            </a:pPr>
            <a:r>
              <a:rPr lang="en-US" sz="1400" dirty="0">
                <a:solidFill>
                  <a:schemeClr val="tx1"/>
                </a:solidFill>
              </a:rPr>
              <a:t>CastRole: characterName, billingOrder</a:t>
            </a:r>
            <a:endParaRPr lang="en-US" sz="14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The reasoner fills classes nobody tagged by hand</a:t>
            </a:r>
            <a:endParaRPr lang="en-US" sz="3200" dirty="0"/>
          </a:p>
        </p:txBody>
      </p:sp>
      <p:sp>
        <p:nvSpPr>
          <p:cNvPr id="3" name="inferred-ActionMovie"/>
          <p:cNvSpPr/>
          <p:nvPr/>
        </p:nvSpPr>
        <p:spPr>
          <a:xfrm>
            <a:off x="548640" y="1600200"/>
            <a:ext cx="2567178" cy="2926080"/>
          </a:xfrm>
          <a:prstGeom prst="roundRect">
            <a:avLst>
              <a:gd name="adj" fmla="val 2850"/>
            </a:avLst>
          </a:prstGeom>
          <a:solidFill>
            <a:schemeClr val="bg2"/>
          </a:solidFill>
          <a:ln w="12700">
            <a:solidFill>
              <a:srgbClr val="F3F4F6"/>
            </a:solidFill>
            <a:prstDash val="solid"/>
          </a:ln>
        </p:spPr>
      </p:sp>
      <p:sp>
        <p:nvSpPr>
          <p:cNvPr id="4" name="text-129"/>
          <p:cNvSpPr txBox="1"/>
          <p:nvPr/>
        </p:nvSpPr>
        <p:spPr>
          <a:xfrm>
            <a:off x="822960" y="1783080"/>
            <a:ext cx="2018538"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29</a:t>
            </a:r>
            <a:endParaRPr lang="en-US" sz="6000" dirty="0"/>
          </a:p>
        </p:txBody>
      </p:sp>
      <p:sp>
        <p:nvSpPr>
          <p:cNvPr id="5" name="text-130"/>
          <p:cNvSpPr txBox="1"/>
          <p:nvPr/>
        </p:nvSpPr>
        <p:spPr>
          <a:xfrm>
            <a:off x="822960" y="2834640"/>
            <a:ext cx="2109978" cy="365760"/>
          </a:xfrm>
          <a:prstGeom prst="rect">
            <a:avLst/>
          </a:prstGeom>
          <a:noFill/>
          <a:ln/>
        </p:spPr>
        <p:txBody>
          <a:bodyPr wrap="square" lIns="0" tIns="0" rIns="0" bIns="0" rtlCol="0" anchor="ctr"/>
          <a:lstStyle/>
          <a:p>
            <a:pPr indent="0" marL="0">
              <a:buNone/>
            </a:pPr>
            <a:r>
              <a:rPr lang="en-US" sz="1500" b="1" dirty="0">
                <a:solidFill>
                  <a:schemeClr val="tx1"/>
                </a:solidFill>
              </a:rPr>
              <a:t>ActionMovie</a:t>
            </a:r>
            <a:endParaRPr lang="en-US" sz="1500" dirty="0"/>
          </a:p>
        </p:txBody>
      </p:sp>
      <p:sp>
        <p:nvSpPr>
          <p:cNvPr id="6" name="text-131"/>
          <p:cNvSpPr txBox="1"/>
          <p:nvPr/>
        </p:nvSpPr>
        <p:spPr>
          <a:xfrm>
            <a:off x="822960" y="3246120"/>
            <a:ext cx="2018538" cy="1143000"/>
          </a:xfrm>
          <a:prstGeom prst="rect">
            <a:avLst/>
          </a:prstGeom>
          <a:noFill/>
          <a:ln/>
        </p:spPr>
        <p:txBody>
          <a:bodyPr wrap="square" lIns="0" tIns="0" rIns="0" bIns="0" rtlCol="0" anchor="t"/>
          <a:lstStyle/>
          <a:p>
            <a:pPr indent="0" marL="0">
              <a:buNone/>
            </a:pPr>
            <a:r>
              <a:rPr lang="en-US" sz="1300" dirty="0">
                <a:solidFill>
                  <a:schemeClr val="accent4"/>
                </a:solidFill>
              </a:rPr>
              <a:t>equivalentClass: hasGenre value Action</a:t>
            </a:r>
            <a:endParaRPr lang="en-US" sz="1300" dirty="0"/>
          </a:p>
        </p:txBody>
      </p:sp>
      <p:sp>
        <p:nvSpPr>
          <p:cNvPr id="7" name="inferred-ComedyMovie"/>
          <p:cNvSpPr/>
          <p:nvPr/>
        </p:nvSpPr>
        <p:spPr>
          <a:xfrm>
            <a:off x="3390138" y="1600200"/>
            <a:ext cx="2567178" cy="2926080"/>
          </a:xfrm>
          <a:prstGeom prst="roundRect">
            <a:avLst>
              <a:gd name="adj" fmla="val 2850"/>
            </a:avLst>
          </a:prstGeom>
          <a:solidFill>
            <a:schemeClr val="bg2"/>
          </a:solidFill>
          <a:ln w="12700">
            <a:solidFill>
              <a:srgbClr val="F3F4F6"/>
            </a:solidFill>
            <a:prstDash val="solid"/>
          </a:ln>
        </p:spPr>
      </p:sp>
      <p:sp>
        <p:nvSpPr>
          <p:cNvPr id="8" name="text-132"/>
          <p:cNvSpPr txBox="1"/>
          <p:nvPr/>
        </p:nvSpPr>
        <p:spPr>
          <a:xfrm>
            <a:off x="3664458" y="1783080"/>
            <a:ext cx="2018538"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16</a:t>
            </a:r>
            <a:endParaRPr lang="en-US" sz="6000" dirty="0"/>
          </a:p>
        </p:txBody>
      </p:sp>
      <p:sp>
        <p:nvSpPr>
          <p:cNvPr id="9" name="text-133"/>
          <p:cNvSpPr txBox="1"/>
          <p:nvPr/>
        </p:nvSpPr>
        <p:spPr>
          <a:xfrm>
            <a:off x="3664458" y="2834640"/>
            <a:ext cx="2109978" cy="365760"/>
          </a:xfrm>
          <a:prstGeom prst="rect">
            <a:avLst/>
          </a:prstGeom>
          <a:noFill/>
          <a:ln/>
        </p:spPr>
        <p:txBody>
          <a:bodyPr wrap="square" lIns="0" tIns="0" rIns="0" bIns="0" rtlCol="0" anchor="ctr"/>
          <a:lstStyle/>
          <a:p>
            <a:pPr indent="0" marL="0">
              <a:buNone/>
            </a:pPr>
            <a:r>
              <a:rPr lang="en-US" sz="1500" b="1" dirty="0">
                <a:solidFill>
                  <a:schemeClr val="tx1"/>
                </a:solidFill>
              </a:rPr>
              <a:t>ComedyMovie</a:t>
            </a:r>
            <a:endParaRPr lang="en-US" sz="1500" dirty="0"/>
          </a:p>
        </p:txBody>
      </p:sp>
      <p:sp>
        <p:nvSpPr>
          <p:cNvPr id="10" name="text-134"/>
          <p:cNvSpPr txBox="1"/>
          <p:nvPr/>
        </p:nvSpPr>
        <p:spPr>
          <a:xfrm>
            <a:off x="3664458" y="3246120"/>
            <a:ext cx="2018538" cy="1143000"/>
          </a:xfrm>
          <a:prstGeom prst="rect">
            <a:avLst/>
          </a:prstGeom>
          <a:noFill/>
          <a:ln/>
        </p:spPr>
        <p:txBody>
          <a:bodyPr wrap="square" lIns="0" tIns="0" rIns="0" bIns="0" rtlCol="0" anchor="t"/>
          <a:lstStyle/>
          <a:p>
            <a:pPr indent="0" marL="0">
              <a:buNone/>
            </a:pPr>
            <a:r>
              <a:rPr lang="en-US" sz="1300" dirty="0">
                <a:solidFill>
                  <a:schemeClr val="accent4"/>
                </a:solidFill>
              </a:rPr>
              <a:t>Same pattern, disjointWith ActionMovie</a:t>
            </a:r>
            <a:endParaRPr lang="en-US" sz="1300" dirty="0"/>
          </a:p>
        </p:txBody>
      </p:sp>
      <p:sp>
        <p:nvSpPr>
          <p:cNvPr id="11" name="inferred-AwardWinningDirector"/>
          <p:cNvSpPr/>
          <p:nvPr/>
        </p:nvSpPr>
        <p:spPr>
          <a:xfrm>
            <a:off x="6231636" y="1600200"/>
            <a:ext cx="2567178" cy="2926080"/>
          </a:xfrm>
          <a:prstGeom prst="roundRect">
            <a:avLst>
              <a:gd name="adj" fmla="val 2850"/>
            </a:avLst>
          </a:prstGeom>
          <a:solidFill>
            <a:schemeClr val="bg2"/>
          </a:solidFill>
          <a:ln w="12700">
            <a:solidFill>
              <a:srgbClr val="F3F4F6"/>
            </a:solidFill>
            <a:prstDash val="solid"/>
          </a:ln>
        </p:spPr>
      </p:sp>
      <p:sp>
        <p:nvSpPr>
          <p:cNvPr id="12" name="text-135"/>
          <p:cNvSpPr txBox="1"/>
          <p:nvPr/>
        </p:nvSpPr>
        <p:spPr>
          <a:xfrm>
            <a:off x="6505956" y="1783080"/>
            <a:ext cx="2018538"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32</a:t>
            </a:r>
            <a:endParaRPr lang="en-US" sz="6000" dirty="0"/>
          </a:p>
        </p:txBody>
      </p:sp>
      <p:sp>
        <p:nvSpPr>
          <p:cNvPr id="13" name="text-136"/>
          <p:cNvSpPr txBox="1"/>
          <p:nvPr/>
        </p:nvSpPr>
        <p:spPr>
          <a:xfrm>
            <a:off x="6505956" y="2834640"/>
            <a:ext cx="2109978" cy="365760"/>
          </a:xfrm>
          <a:prstGeom prst="rect">
            <a:avLst/>
          </a:prstGeom>
          <a:noFill/>
          <a:ln/>
        </p:spPr>
        <p:txBody>
          <a:bodyPr wrap="square" lIns="0" tIns="0" rIns="0" bIns="0" rtlCol="0" anchor="ctr"/>
          <a:lstStyle/>
          <a:p>
            <a:pPr indent="0" marL="0">
              <a:buNone/>
            </a:pPr>
            <a:r>
              <a:rPr lang="en-US" sz="1500" b="1" dirty="0">
                <a:solidFill>
                  <a:schemeClr val="tx1"/>
                </a:solidFill>
              </a:rPr>
              <a:t>AwardWinningDirector</a:t>
            </a:r>
            <a:endParaRPr lang="en-US" sz="1500" dirty="0"/>
          </a:p>
        </p:txBody>
      </p:sp>
      <p:sp>
        <p:nvSpPr>
          <p:cNvPr id="14" name="text-137"/>
          <p:cNvSpPr txBox="1"/>
          <p:nvPr/>
        </p:nvSpPr>
        <p:spPr>
          <a:xfrm>
            <a:off x="6505956" y="3246120"/>
            <a:ext cx="2018538" cy="1143000"/>
          </a:xfrm>
          <a:prstGeom prst="rect">
            <a:avLst/>
          </a:prstGeom>
          <a:noFill/>
          <a:ln/>
        </p:spPr>
        <p:txBody>
          <a:bodyPr wrap="square" lIns="0" tIns="0" rIns="0" bIns="0" rtlCol="0" anchor="t"/>
          <a:lstStyle/>
          <a:p>
            <a:pPr indent="0" marL="0">
              <a:buNone/>
            </a:pPr>
            <a:r>
              <a:rPr lang="en-US" sz="1300" dirty="0">
                <a:solidFill>
                  <a:schemeClr val="accent4"/>
                </a:solidFill>
              </a:rPr>
              <a:t>Director and hasAward some Award (Oscar Best Director, from Wikidata)</a:t>
            </a:r>
            <a:endParaRPr lang="en-US" sz="1300" dirty="0"/>
          </a:p>
        </p:txBody>
      </p:sp>
      <p:sp>
        <p:nvSpPr>
          <p:cNvPr id="15" name="inferred-ActorDirector"/>
          <p:cNvSpPr/>
          <p:nvPr/>
        </p:nvSpPr>
        <p:spPr>
          <a:xfrm>
            <a:off x="9073134" y="1600200"/>
            <a:ext cx="2567178" cy="2926080"/>
          </a:xfrm>
          <a:prstGeom prst="roundRect">
            <a:avLst>
              <a:gd name="adj" fmla="val 2850"/>
            </a:avLst>
          </a:prstGeom>
          <a:solidFill>
            <a:schemeClr val="bg2"/>
          </a:solidFill>
          <a:ln w="12700">
            <a:solidFill>
              <a:srgbClr val="F3F4F6"/>
            </a:solidFill>
            <a:prstDash val="solid"/>
          </a:ln>
        </p:spPr>
      </p:sp>
      <p:sp>
        <p:nvSpPr>
          <p:cNvPr id="16" name="text-138"/>
          <p:cNvSpPr txBox="1"/>
          <p:nvPr/>
        </p:nvSpPr>
        <p:spPr>
          <a:xfrm>
            <a:off x="9347454" y="1783080"/>
            <a:ext cx="2018538"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5</a:t>
            </a:r>
            <a:endParaRPr lang="en-US" sz="6000" dirty="0"/>
          </a:p>
        </p:txBody>
      </p:sp>
      <p:sp>
        <p:nvSpPr>
          <p:cNvPr id="17" name="text-139"/>
          <p:cNvSpPr txBox="1"/>
          <p:nvPr/>
        </p:nvSpPr>
        <p:spPr>
          <a:xfrm>
            <a:off x="9347454" y="2834640"/>
            <a:ext cx="2109978" cy="365760"/>
          </a:xfrm>
          <a:prstGeom prst="rect">
            <a:avLst/>
          </a:prstGeom>
          <a:noFill/>
          <a:ln/>
        </p:spPr>
        <p:txBody>
          <a:bodyPr wrap="square" lIns="0" tIns="0" rIns="0" bIns="0" rtlCol="0" anchor="ctr"/>
          <a:lstStyle/>
          <a:p>
            <a:pPr indent="0" marL="0">
              <a:buNone/>
            </a:pPr>
            <a:r>
              <a:rPr lang="en-US" sz="1500" b="1" dirty="0">
                <a:solidFill>
                  <a:schemeClr val="tx1"/>
                </a:solidFill>
              </a:rPr>
              <a:t>ActorDirector</a:t>
            </a:r>
            <a:endParaRPr lang="en-US" sz="1500" dirty="0"/>
          </a:p>
        </p:txBody>
      </p:sp>
      <p:sp>
        <p:nvSpPr>
          <p:cNvPr id="18" name="text-140"/>
          <p:cNvSpPr txBox="1"/>
          <p:nvPr/>
        </p:nvSpPr>
        <p:spPr>
          <a:xfrm>
            <a:off x="9347454" y="3246120"/>
            <a:ext cx="2018538" cy="1143000"/>
          </a:xfrm>
          <a:prstGeom prst="rect">
            <a:avLst/>
          </a:prstGeom>
          <a:noFill/>
          <a:ln/>
        </p:spPr>
        <p:txBody>
          <a:bodyPr wrap="square" lIns="0" tIns="0" rIns="0" bIns="0" rtlCol="0" anchor="t"/>
          <a:lstStyle/>
          <a:p>
            <a:pPr indent="0" marL="0">
              <a:buNone/>
            </a:pPr>
            <a:r>
              <a:rPr lang="en-US" sz="1300" dirty="0">
                <a:solidFill>
                  <a:schemeClr val="accent4"/>
                </a:solidFill>
              </a:rPr>
              <a:t>SWRL rule: directed and starred in the same movie</a:t>
            </a:r>
            <a:endParaRPr lang="en-US" sz="1300" dirty="0"/>
          </a:p>
        </p:txBody>
      </p:sp>
      <p:sp>
        <p:nvSpPr>
          <p:cNvPr id="19" name="icon-bg-141"/>
          <p:cNvSpPr/>
          <p:nvPr/>
        </p:nvSpPr>
        <p:spPr>
          <a:xfrm>
            <a:off x="548640" y="4846320"/>
            <a:ext cx="685800" cy="685800"/>
          </a:xfrm>
          <a:prstGeom prst="ellipse">
            <a:avLst/>
          </a:prstGeom>
          <a:solidFill>
            <a:srgbClr val="BF1E2E"/>
          </a:solidFill>
          <a:ln w="12700">
            <a:solidFill>
              <a:srgbClr val="BF1E2E"/>
            </a:solidFill>
            <a:prstDash val="solid"/>
          </a:ln>
        </p:spPr>
      </p:sp>
      <p:pic>
        <p:nvPicPr>
          <p:cNvPr id="20" name="icon-141" descr="preencoded.png">    </p:cNvPr>
          <p:cNvPicPr>
            <a:picLocks noChangeAspect="1"/>
          </p:cNvPicPr>
          <p:nvPr/>
        </p:nvPicPr>
        <p:blipFill>
          <a:blip r:embed="rId1"/>
          <a:stretch>
            <a:fillRect/>
          </a:stretch>
        </p:blipFill>
        <p:spPr>
          <a:xfrm>
            <a:off x="713232" y="5010912"/>
            <a:ext cx="356616" cy="356616"/>
          </a:xfrm>
          <a:prstGeom prst="rect">
            <a:avLst/>
          </a:prstGeom>
        </p:spPr>
      </p:pic>
      <p:sp>
        <p:nvSpPr>
          <p:cNvPr id="21" name="text-142"/>
          <p:cNvSpPr txBox="1"/>
          <p:nvPr/>
        </p:nvSpPr>
        <p:spPr>
          <a:xfrm>
            <a:off x="1463040" y="4800600"/>
            <a:ext cx="10149840" cy="868680"/>
          </a:xfrm>
          <a:prstGeom prst="rect">
            <a:avLst/>
          </a:prstGeom>
          <a:noFill/>
          <a:ln/>
        </p:spPr>
        <p:txBody>
          <a:bodyPr wrap="square" lIns="0" tIns="0" rIns="0" bIns="0" rtlCol="0" anchor="ctr"/>
          <a:lstStyle/>
          <a:p>
            <a:pPr indent="0" marL="0">
              <a:buNone/>
            </a:pPr>
            <a:r>
              <a:rPr lang="en-US" sz="1500" b="1" dirty="0">
                <a:solidFill>
                  <a:schemeClr val="tx1"/>
                </a:solidFill>
              </a:rPr>
              <a:t>Same counts in Protégé and in scripts/check_reasoning.py, both with HermiT.  </a:t>
            </a:r>
            <a:pPr indent="0" marL="0">
              <a:buNone/>
            </a:pPr>
            <a:r>
              <a:rPr lang="en-US" sz="1500" dirty="0">
                <a:solidFill>
                  <a:schemeClr val="tx1"/>
                </a:solidFill>
              </a:rPr>
              <a:t>No movie or person in the data is typed with these four classes; every member above is inferred.</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How the defined classes are written</a:t>
            </a:r>
            <a:endParaRPr lang="en-US" sz="3200" dirty="0"/>
          </a:p>
        </p:txBody>
      </p:sp>
      <p:sp>
        <p:nvSpPr>
          <p:cNvPr id="3" name="text-143"/>
          <p:cNvSpPr txBox="1"/>
          <p:nvPr/>
        </p:nvSpPr>
        <p:spPr>
          <a:xfrm>
            <a:off x="548640" y="1508760"/>
            <a:ext cx="2926080" cy="365760"/>
          </a:xfrm>
          <a:prstGeom prst="rect">
            <a:avLst/>
          </a:prstGeom>
          <a:noFill/>
          <a:ln/>
        </p:spPr>
        <p:txBody>
          <a:bodyPr wrap="square" lIns="0" tIns="0" rIns="0" bIns="0" rtlCol="0" anchor="ctr"/>
          <a:lstStyle/>
          <a:p>
            <a:pPr indent="0" marL="0">
              <a:buNone/>
            </a:pPr>
            <a:r>
              <a:rPr lang="en-US" sz="1700" b="1" dirty="0">
                <a:solidFill>
                  <a:schemeClr val="accent1"/>
                </a:solidFill>
              </a:rPr>
              <a:t>hasValue restriction</a:t>
            </a:r>
            <a:endParaRPr lang="en-US" sz="1700" dirty="0"/>
          </a:p>
        </p:txBody>
      </p:sp>
      <p:sp>
        <p:nvSpPr>
          <p:cNvPr id="4" name="text-144"/>
          <p:cNvSpPr txBox="1"/>
          <p:nvPr/>
        </p:nvSpPr>
        <p:spPr>
          <a:xfrm>
            <a:off x="548640" y="1920240"/>
            <a:ext cx="2926080" cy="960120"/>
          </a:xfrm>
          <a:prstGeom prst="rect">
            <a:avLst/>
          </a:prstGeom>
          <a:noFill/>
          <a:ln/>
        </p:spPr>
        <p:txBody>
          <a:bodyPr wrap="square" lIns="0" tIns="0" rIns="0" bIns="0" rtlCol="0" anchor="t"/>
          <a:lstStyle/>
          <a:p>
            <a:pPr indent="0" marL="0">
              <a:buNone/>
            </a:pPr>
            <a:r>
              <a:rPr lang="en-US" sz="1300" dirty="0">
                <a:solidFill>
                  <a:schemeClr val="accent4"/>
                </a:solidFill>
              </a:rPr>
              <a:t>Same idea as VegetarianPizza in pizza.owl: membership follows from a property value.</a:t>
            </a:r>
            <a:endParaRPr lang="en-US" sz="1300" dirty="0"/>
          </a:p>
        </p:txBody>
      </p:sp>
      <p:sp>
        <p:nvSpPr>
          <p:cNvPr id="5" name="def-code-1"/>
          <p:cNvSpPr/>
          <p:nvPr/>
        </p:nvSpPr>
        <p:spPr>
          <a:xfrm>
            <a:off x="3749040" y="1508760"/>
            <a:ext cx="7891272" cy="1371600"/>
          </a:xfrm>
          <a:prstGeom prst="roundRect">
            <a:avLst>
              <a:gd name="adj" fmla="val 5333"/>
            </a:avLst>
          </a:prstGeom>
          <a:solidFill>
            <a:schemeClr val="tx1"/>
          </a:solidFill>
          <a:ln w="12700">
            <a:solidFill>
              <a:srgbClr val="1F2329"/>
            </a:solidFill>
            <a:prstDash val="solid"/>
          </a:ln>
        </p:spPr>
      </p:sp>
      <p:sp>
        <p:nvSpPr>
          <p:cNvPr id="6" name="text-145"/>
          <p:cNvSpPr txBox="1"/>
          <p:nvPr/>
        </p:nvSpPr>
        <p:spPr>
          <a:xfrm>
            <a:off x="4023360" y="1508760"/>
            <a:ext cx="7406640" cy="13716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ActionMovie ≡ hasGenre value genre_action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ComedyMovie ≡ hasGenre value genre_comedy</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ComedyMovie disjointWith ActionMovie</a:t>
            </a:r>
            <a:endParaRPr lang="en-US" sz="1500" dirty="0"/>
          </a:p>
        </p:txBody>
      </p:sp>
      <p:sp>
        <p:nvSpPr>
          <p:cNvPr id="7" name="text-146"/>
          <p:cNvSpPr txBox="1"/>
          <p:nvPr/>
        </p:nvSpPr>
        <p:spPr>
          <a:xfrm>
            <a:off x="548640" y="3081528"/>
            <a:ext cx="2926080" cy="365760"/>
          </a:xfrm>
          <a:prstGeom prst="rect">
            <a:avLst/>
          </a:prstGeom>
          <a:noFill/>
          <a:ln/>
        </p:spPr>
        <p:txBody>
          <a:bodyPr wrap="square" lIns="0" tIns="0" rIns="0" bIns="0" rtlCol="0" anchor="ctr"/>
          <a:lstStyle/>
          <a:p>
            <a:pPr indent="0" marL="0">
              <a:buNone/>
            </a:pPr>
            <a:r>
              <a:rPr lang="en-US" sz="1700" b="1" dirty="0">
                <a:solidFill>
                  <a:schemeClr val="accent1"/>
                </a:solidFill>
              </a:rPr>
              <a:t>Intersection + existential</a:t>
            </a:r>
            <a:endParaRPr lang="en-US" sz="1700" dirty="0"/>
          </a:p>
        </p:txBody>
      </p:sp>
      <p:sp>
        <p:nvSpPr>
          <p:cNvPr id="8" name="text-147"/>
          <p:cNvSpPr txBox="1"/>
          <p:nvPr/>
        </p:nvSpPr>
        <p:spPr>
          <a:xfrm>
            <a:off x="548640" y="3493008"/>
            <a:ext cx="2926080" cy="960120"/>
          </a:xfrm>
          <a:prstGeom prst="rect">
            <a:avLst/>
          </a:prstGeom>
          <a:noFill/>
          <a:ln/>
        </p:spPr>
        <p:txBody>
          <a:bodyPr wrap="square" lIns="0" tIns="0" rIns="0" bIns="0" rtlCol="0" anchor="t"/>
          <a:lstStyle/>
          <a:p>
            <a:pPr indent="0" marL="0">
              <a:buNone/>
            </a:pPr>
            <a:r>
              <a:rPr lang="en-US" sz="1300" dirty="0">
                <a:solidFill>
                  <a:schemeClr val="accent4"/>
                </a:solidFill>
              </a:rPr>
              <a:t>Awards come from Wikidata: 32 Oscar winners for Best Director in our data.</a:t>
            </a:r>
            <a:endParaRPr lang="en-US" sz="1300" dirty="0"/>
          </a:p>
        </p:txBody>
      </p:sp>
      <p:sp>
        <p:nvSpPr>
          <p:cNvPr id="9" name="def-code-2"/>
          <p:cNvSpPr/>
          <p:nvPr/>
        </p:nvSpPr>
        <p:spPr>
          <a:xfrm>
            <a:off x="3749040" y="3081528"/>
            <a:ext cx="7891272" cy="1371600"/>
          </a:xfrm>
          <a:prstGeom prst="roundRect">
            <a:avLst>
              <a:gd name="adj" fmla="val 5333"/>
            </a:avLst>
          </a:prstGeom>
          <a:solidFill>
            <a:schemeClr val="tx1"/>
          </a:solidFill>
          <a:ln w="12700">
            <a:solidFill>
              <a:srgbClr val="1F2329"/>
            </a:solidFill>
            <a:prstDash val="solid"/>
          </a:ln>
        </p:spPr>
      </p:sp>
      <p:sp>
        <p:nvSpPr>
          <p:cNvPr id="10" name="text-148"/>
          <p:cNvSpPr txBox="1"/>
          <p:nvPr/>
        </p:nvSpPr>
        <p:spPr>
          <a:xfrm>
            <a:off x="4023360" y="3081528"/>
            <a:ext cx="7406640" cy="13716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AwardWinningDirector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Director and (hasAward some Award)</a:t>
            </a:r>
            <a:endParaRPr lang="en-US" sz="1500" dirty="0"/>
          </a:p>
        </p:txBody>
      </p:sp>
      <p:sp>
        <p:nvSpPr>
          <p:cNvPr id="11" name="text-149"/>
          <p:cNvSpPr txBox="1"/>
          <p:nvPr/>
        </p:nvSpPr>
        <p:spPr>
          <a:xfrm>
            <a:off x="548640" y="4654296"/>
            <a:ext cx="2926080" cy="365760"/>
          </a:xfrm>
          <a:prstGeom prst="rect">
            <a:avLst/>
          </a:prstGeom>
          <a:noFill/>
          <a:ln/>
        </p:spPr>
        <p:txBody>
          <a:bodyPr wrap="square" lIns="0" tIns="0" rIns="0" bIns="0" rtlCol="0" anchor="ctr"/>
          <a:lstStyle/>
          <a:p>
            <a:pPr indent="0" marL="0">
              <a:buNone/>
            </a:pPr>
            <a:r>
              <a:rPr lang="en-US" sz="1700" b="1" dirty="0">
                <a:solidFill>
                  <a:schemeClr val="accent1"/>
                </a:solidFill>
              </a:rPr>
              <a:t>SWRL rule</a:t>
            </a:r>
            <a:endParaRPr lang="en-US" sz="1700" dirty="0"/>
          </a:p>
        </p:txBody>
      </p:sp>
      <p:sp>
        <p:nvSpPr>
          <p:cNvPr id="12" name="text-150"/>
          <p:cNvSpPr txBox="1"/>
          <p:nvPr/>
        </p:nvSpPr>
        <p:spPr>
          <a:xfrm>
            <a:off x="548640" y="5065776"/>
            <a:ext cx="2926080" cy="960120"/>
          </a:xfrm>
          <a:prstGeom prst="rect">
            <a:avLst/>
          </a:prstGeom>
          <a:noFill/>
          <a:ln/>
        </p:spPr>
        <p:txBody>
          <a:bodyPr wrap="square" lIns="0" tIns="0" rIns="0" bIns="0" rtlCol="0" anchor="t"/>
          <a:lstStyle/>
          <a:p>
            <a:pPr indent="0" marL="0">
              <a:buNone/>
            </a:pPr>
            <a:r>
              <a:rPr lang="en-US" sz="1300" dirty="0">
                <a:solidFill>
                  <a:schemeClr val="accent4"/>
                </a:solidFill>
              </a:rPr>
              <a:t>Needed because OWL cannot require the same person on two different properties of one movie.</a:t>
            </a:r>
            <a:endParaRPr lang="en-US" sz="1300" dirty="0"/>
          </a:p>
        </p:txBody>
      </p:sp>
      <p:sp>
        <p:nvSpPr>
          <p:cNvPr id="13" name="def-code-3"/>
          <p:cNvSpPr/>
          <p:nvPr/>
        </p:nvSpPr>
        <p:spPr>
          <a:xfrm>
            <a:off x="3749040" y="4654296"/>
            <a:ext cx="7891272" cy="1371600"/>
          </a:xfrm>
          <a:prstGeom prst="roundRect">
            <a:avLst>
              <a:gd name="adj" fmla="val 5333"/>
            </a:avLst>
          </a:prstGeom>
          <a:solidFill>
            <a:schemeClr val="tx1"/>
          </a:solidFill>
          <a:ln w="12700">
            <a:solidFill>
              <a:srgbClr val="1F2329"/>
            </a:solidFill>
            <a:prstDash val="solid"/>
          </a:ln>
        </p:spPr>
      </p:sp>
      <p:sp>
        <p:nvSpPr>
          <p:cNvPr id="14" name="text-151"/>
          <p:cNvSpPr txBox="1"/>
          <p:nvPr/>
        </p:nvSpPr>
        <p:spPr>
          <a:xfrm>
            <a:off x="4023360" y="4654296"/>
            <a:ext cx="7406640" cy="13716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Movie(?m) ∧ dbo:director(?m, ?p)</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dbo:starring(?m, ?p) → ActorDirector(?p)</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Catching a contradiction with the reasoner</a:t>
            </a:r>
            <a:endParaRPr lang="en-US" sz="3200" dirty="0"/>
          </a:p>
        </p:txBody>
      </p:sp>
      <p:sp>
        <p:nvSpPr>
          <p:cNvPr id="3" name="chain-1"/>
          <p:cNvSpPr/>
          <p:nvPr/>
        </p:nvSpPr>
        <p:spPr>
          <a:xfrm>
            <a:off x="548640" y="1737360"/>
            <a:ext cx="2743200" cy="1097280"/>
          </a:xfrm>
          <a:prstGeom prst="roundRect">
            <a:avLst>
              <a:gd name="adj" fmla="val 6667"/>
            </a:avLst>
          </a:prstGeom>
          <a:solidFill>
            <a:schemeClr val="bg2"/>
          </a:solidFill>
          <a:ln w="19050">
            <a:solidFill>
              <a:srgbClr val="F3F4F6"/>
            </a:solidFill>
            <a:prstDash val="solid"/>
          </a:ln>
        </p:spPr>
      </p:sp>
      <p:sp>
        <p:nvSpPr>
          <p:cNvPr id="4" name="text-152"/>
          <p:cNvSpPr txBox="1"/>
          <p:nvPr/>
        </p:nvSpPr>
        <p:spPr>
          <a:xfrm>
            <a:off x="731520" y="1737360"/>
            <a:ext cx="2377440" cy="1097280"/>
          </a:xfrm>
          <a:prstGeom prst="rect">
            <a:avLst/>
          </a:prstGeom>
          <a:noFill/>
          <a:ln/>
        </p:spPr>
        <p:txBody>
          <a:bodyPr wrap="square" lIns="0" tIns="0" rIns="0" bIns="0" rtlCol="0" anchor="ctr"/>
          <a:lstStyle/>
          <a:p>
            <a:pPr algn="ctr" indent="0" marL="0">
              <a:buNone/>
            </a:pPr>
            <a:r>
              <a:rPr lang="en-US" sz="1500" dirty="0">
                <a:solidFill>
                  <a:schemeClr val="tx1"/>
                </a:solidFill>
              </a:rPr>
              <a:t>movie_demo_bad</a:t>
            </a:r>
            <a:endParaRPr lang="en-US" sz="1500" dirty="0"/>
          </a:p>
          <a:p>
            <a:pPr algn="ctr" indent="0" marL="0">
              <a:buNone/>
            </a:pPr>
            <a:r>
              <a:rPr lang="en-US" sz="1500" dirty="0">
                <a:solidFill>
                  <a:schemeClr val="tx1"/>
                </a:solidFill>
              </a:rPr>
              <a:t>hasGenre genre_action</a:t>
            </a:r>
            <a:endParaRPr lang="en-US" sz="1500" dirty="0"/>
          </a:p>
        </p:txBody>
      </p:sp>
      <p:sp>
        <p:nvSpPr>
          <p:cNvPr id="5" name="chain-2"/>
          <p:cNvSpPr/>
          <p:nvPr/>
        </p:nvSpPr>
        <p:spPr>
          <a:xfrm>
            <a:off x="548640" y="3749040"/>
            <a:ext cx="2743200" cy="1097280"/>
          </a:xfrm>
          <a:prstGeom prst="roundRect">
            <a:avLst>
              <a:gd name="adj" fmla="val 6667"/>
            </a:avLst>
          </a:prstGeom>
          <a:solidFill>
            <a:schemeClr val="bg2"/>
          </a:solidFill>
          <a:ln w="19050">
            <a:solidFill>
              <a:srgbClr val="F3F4F6"/>
            </a:solidFill>
            <a:prstDash val="solid"/>
          </a:ln>
        </p:spPr>
      </p:sp>
      <p:sp>
        <p:nvSpPr>
          <p:cNvPr id="6" name="text-153"/>
          <p:cNvSpPr txBox="1"/>
          <p:nvPr/>
        </p:nvSpPr>
        <p:spPr>
          <a:xfrm>
            <a:off x="731520" y="3749040"/>
            <a:ext cx="2377440" cy="1097280"/>
          </a:xfrm>
          <a:prstGeom prst="rect">
            <a:avLst/>
          </a:prstGeom>
          <a:noFill/>
          <a:ln/>
        </p:spPr>
        <p:txBody>
          <a:bodyPr wrap="square" lIns="0" tIns="0" rIns="0" bIns="0" rtlCol="0" anchor="ctr"/>
          <a:lstStyle/>
          <a:p>
            <a:pPr algn="ctr" indent="0" marL="0">
              <a:buNone/>
            </a:pPr>
            <a:r>
              <a:rPr lang="en-US" sz="1500" dirty="0">
                <a:solidFill>
                  <a:schemeClr val="tx1"/>
                </a:solidFill>
              </a:rPr>
              <a:t>movie_demo_bad</a:t>
            </a:r>
            <a:endParaRPr lang="en-US" sz="1500" dirty="0"/>
          </a:p>
          <a:p>
            <a:pPr algn="ctr" indent="0" marL="0">
              <a:buNone/>
            </a:pPr>
            <a:r>
              <a:rPr lang="en-US" sz="1500" dirty="0">
                <a:solidFill>
                  <a:schemeClr val="tx1"/>
                </a:solidFill>
              </a:rPr>
              <a:t>hasGenre genre_comedy</a:t>
            </a:r>
            <a:endParaRPr lang="en-US" sz="1500" dirty="0"/>
          </a:p>
        </p:txBody>
      </p:sp>
      <p:sp>
        <p:nvSpPr>
          <p:cNvPr id="7" name="chain-3"/>
          <p:cNvSpPr/>
          <p:nvPr/>
        </p:nvSpPr>
        <p:spPr>
          <a:xfrm>
            <a:off x="3840480" y="1737360"/>
            <a:ext cx="2743200" cy="1097280"/>
          </a:xfrm>
          <a:prstGeom prst="roundRect">
            <a:avLst>
              <a:gd name="adj" fmla="val 6667"/>
            </a:avLst>
          </a:prstGeom>
          <a:solidFill>
            <a:schemeClr val="bg1"/>
          </a:solidFill>
          <a:ln w="19050">
            <a:solidFill>
              <a:srgbClr val="BF1E2E"/>
            </a:solidFill>
            <a:prstDash val="solid"/>
          </a:ln>
        </p:spPr>
      </p:sp>
      <p:sp>
        <p:nvSpPr>
          <p:cNvPr id="8" name="text-154"/>
          <p:cNvSpPr txBox="1"/>
          <p:nvPr/>
        </p:nvSpPr>
        <p:spPr>
          <a:xfrm>
            <a:off x="4023360" y="1737360"/>
            <a:ext cx="2377440" cy="1097280"/>
          </a:xfrm>
          <a:prstGeom prst="rect">
            <a:avLst/>
          </a:prstGeom>
          <a:noFill/>
          <a:ln/>
        </p:spPr>
        <p:txBody>
          <a:bodyPr wrap="square" lIns="0" tIns="0" rIns="0" bIns="0" rtlCol="0" anchor="ctr"/>
          <a:lstStyle/>
          <a:p>
            <a:pPr algn="ctr" indent="0" marL="0">
              <a:buNone/>
            </a:pPr>
            <a:r>
              <a:rPr lang="en-US" sz="1500" b="1" dirty="0">
                <a:solidFill>
                  <a:schemeClr val="tx1"/>
                </a:solidFill>
              </a:rPr>
              <a:t>∈ ActionMovie</a:t>
            </a:r>
            <a:endParaRPr lang="en-US" sz="1500" dirty="0"/>
          </a:p>
          <a:p>
            <a:pPr algn="ctr" indent="0" marL="0">
              <a:buNone/>
            </a:pPr>
            <a:r>
              <a:rPr lang="en-US" sz="1500" b="1" dirty="0">
                <a:solidFill>
                  <a:schemeClr val="tx1"/>
                </a:solidFill>
              </a:rPr>
              <a:t>(hasValue restriction)</a:t>
            </a:r>
            <a:endParaRPr lang="en-US" sz="1500" dirty="0"/>
          </a:p>
        </p:txBody>
      </p:sp>
      <p:sp>
        <p:nvSpPr>
          <p:cNvPr id="9" name="chain-4"/>
          <p:cNvSpPr/>
          <p:nvPr/>
        </p:nvSpPr>
        <p:spPr>
          <a:xfrm>
            <a:off x="3840480" y="3749040"/>
            <a:ext cx="2743200" cy="1097280"/>
          </a:xfrm>
          <a:prstGeom prst="roundRect">
            <a:avLst>
              <a:gd name="adj" fmla="val 6667"/>
            </a:avLst>
          </a:prstGeom>
          <a:solidFill>
            <a:schemeClr val="bg1"/>
          </a:solidFill>
          <a:ln w="19050">
            <a:solidFill>
              <a:srgbClr val="BF1E2E"/>
            </a:solidFill>
            <a:prstDash val="solid"/>
          </a:ln>
        </p:spPr>
      </p:sp>
      <p:sp>
        <p:nvSpPr>
          <p:cNvPr id="10" name="text-155"/>
          <p:cNvSpPr txBox="1"/>
          <p:nvPr/>
        </p:nvSpPr>
        <p:spPr>
          <a:xfrm>
            <a:off x="4023360" y="3749040"/>
            <a:ext cx="2377440" cy="1097280"/>
          </a:xfrm>
          <a:prstGeom prst="rect">
            <a:avLst/>
          </a:prstGeom>
          <a:noFill/>
          <a:ln/>
        </p:spPr>
        <p:txBody>
          <a:bodyPr wrap="square" lIns="0" tIns="0" rIns="0" bIns="0" rtlCol="0" anchor="ctr"/>
          <a:lstStyle/>
          <a:p>
            <a:pPr algn="ctr" indent="0" marL="0">
              <a:buNone/>
            </a:pPr>
            <a:r>
              <a:rPr lang="en-US" sz="1500" b="1" dirty="0">
                <a:solidFill>
                  <a:schemeClr val="tx1"/>
                </a:solidFill>
              </a:rPr>
              <a:t>∈ ComedyMovie</a:t>
            </a:r>
            <a:endParaRPr lang="en-US" sz="1500" dirty="0"/>
          </a:p>
          <a:p>
            <a:pPr algn="ctr" indent="0" marL="0">
              <a:buNone/>
            </a:pPr>
            <a:r>
              <a:rPr lang="en-US" sz="1500" b="1" dirty="0">
                <a:solidFill>
                  <a:schemeClr val="tx1"/>
                </a:solidFill>
              </a:rPr>
              <a:t>(hasValue restriction)</a:t>
            </a:r>
            <a:endParaRPr lang="en-US" sz="1500" dirty="0"/>
          </a:p>
        </p:txBody>
      </p:sp>
      <p:sp>
        <p:nvSpPr>
          <p:cNvPr id="11" name="edge-156"/>
          <p:cNvSpPr/>
          <p:nvPr/>
        </p:nvSpPr>
        <p:spPr>
          <a:xfrm>
            <a:off x="3310128" y="2286000"/>
            <a:ext cx="512064" cy="0"/>
          </a:xfrm>
          <a:prstGeom prst="line">
            <a:avLst/>
          </a:prstGeom>
          <a:noFill/>
          <a:ln w="19050">
            <a:solidFill>
              <a:srgbClr val="1F2329"/>
            </a:solidFill>
            <a:prstDash val="solid"/>
            <a:tailEnd type="triangle"/>
          </a:ln>
        </p:spPr>
      </p:sp>
      <p:sp>
        <p:nvSpPr>
          <p:cNvPr id="12" name="edge-157"/>
          <p:cNvSpPr/>
          <p:nvPr/>
        </p:nvSpPr>
        <p:spPr>
          <a:xfrm>
            <a:off x="3310128" y="4297680"/>
            <a:ext cx="512064" cy="0"/>
          </a:xfrm>
          <a:prstGeom prst="line">
            <a:avLst/>
          </a:prstGeom>
          <a:noFill/>
          <a:ln w="19050">
            <a:solidFill>
              <a:srgbClr val="1F2329"/>
            </a:solidFill>
            <a:prstDash val="solid"/>
            <a:tailEnd type="triangle"/>
          </a:ln>
        </p:spPr>
      </p:sp>
      <p:sp>
        <p:nvSpPr>
          <p:cNvPr id="13" name="edge-158"/>
          <p:cNvSpPr/>
          <p:nvPr/>
        </p:nvSpPr>
        <p:spPr>
          <a:xfrm>
            <a:off x="6601968" y="2286000"/>
            <a:ext cx="621792" cy="777240"/>
          </a:xfrm>
          <a:prstGeom prst="line">
            <a:avLst/>
          </a:prstGeom>
          <a:noFill/>
          <a:ln w="19050">
            <a:solidFill>
              <a:srgbClr val="1F2329"/>
            </a:solidFill>
            <a:prstDash val="solid"/>
            <a:tailEnd type="triangle"/>
          </a:ln>
        </p:spPr>
      </p:sp>
      <p:sp>
        <p:nvSpPr>
          <p:cNvPr id="14" name="edge-159"/>
          <p:cNvSpPr/>
          <p:nvPr/>
        </p:nvSpPr>
        <p:spPr>
          <a:xfrm flipV="1">
            <a:off x="6601968" y="3520440"/>
            <a:ext cx="621792" cy="777240"/>
          </a:xfrm>
          <a:prstGeom prst="line">
            <a:avLst/>
          </a:prstGeom>
          <a:noFill/>
          <a:ln w="19050">
            <a:solidFill>
              <a:srgbClr val="1F2329"/>
            </a:solidFill>
            <a:prstDash val="solid"/>
            <a:tailEnd type="triangle"/>
          </a:ln>
        </p:spPr>
      </p:sp>
      <p:sp>
        <p:nvSpPr>
          <p:cNvPr id="15" name="chain-result"/>
          <p:cNvSpPr/>
          <p:nvPr/>
        </p:nvSpPr>
        <p:spPr>
          <a:xfrm>
            <a:off x="7269480" y="2651760"/>
            <a:ext cx="4370832" cy="1280160"/>
          </a:xfrm>
          <a:prstGeom prst="roundRect">
            <a:avLst>
              <a:gd name="adj" fmla="val 5714"/>
            </a:avLst>
          </a:prstGeom>
          <a:solidFill>
            <a:schemeClr val="accent1"/>
          </a:solidFill>
          <a:ln w="12700">
            <a:solidFill>
              <a:srgbClr val="BF1E2E"/>
            </a:solidFill>
            <a:prstDash val="solid"/>
          </a:ln>
        </p:spPr>
      </p:sp>
      <p:sp>
        <p:nvSpPr>
          <p:cNvPr id="16" name="text-160"/>
          <p:cNvSpPr txBox="1"/>
          <p:nvPr/>
        </p:nvSpPr>
        <p:spPr>
          <a:xfrm>
            <a:off x="7452360" y="2651760"/>
            <a:ext cx="4005072" cy="1280160"/>
          </a:xfrm>
          <a:prstGeom prst="rect">
            <a:avLst/>
          </a:prstGeom>
          <a:noFill/>
          <a:ln/>
        </p:spPr>
        <p:txBody>
          <a:bodyPr wrap="square" lIns="0" tIns="0" rIns="0" bIns="0" rtlCol="0" anchor="ctr"/>
          <a:lstStyle/>
          <a:p>
            <a:pPr algn="ctr" indent="0" marL="0">
              <a:buNone/>
            </a:pPr>
            <a:r>
              <a:rPr lang="en-US" sz="1700" b="1" dirty="0">
                <a:solidFill>
                  <a:schemeClr val="bg1"/>
                </a:solidFill>
              </a:rPr>
              <a:t>ActionMovie disjointWith ComedyMovie</a:t>
            </a:r>
            <a:endParaRPr lang="en-US" sz="1700" dirty="0"/>
          </a:p>
          <a:p>
            <a:pPr algn="ctr" indent="0" marL="0">
              <a:buNone/>
            </a:pPr>
            <a:r>
              <a:rPr lang="en-US" sz="1700" b="1" dirty="0">
                <a:solidFill>
                  <a:schemeClr val="bg1"/>
                </a:solidFill>
              </a:rPr>
              <a:t>→ ontology inconsistent</a:t>
            </a:r>
            <a:endParaRPr lang="en-US" sz="1700" dirty="0"/>
          </a:p>
        </p:txBody>
      </p:sp>
      <p:sp>
        <p:nvSpPr>
          <p:cNvPr id="17" name="icon-bg-161"/>
          <p:cNvSpPr/>
          <p:nvPr/>
        </p:nvSpPr>
        <p:spPr>
          <a:xfrm>
            <a:off x="548640" y="5257800"/>
            <a:ext cx="548640" cy="548640"/>
          </a:xfrm>
          <a:prstGeom prst="ellipse">
            <a:avLst/>
          </a:prstGeom>
          <a:solidFill>
            <a:srgbClr val="F3C309"/>
          </a:solidFill>
          <a:ln w="12700">
            <a:solidFill>
              <a:srgbClr val="F3C309"/>
            </a:solidFill>
            <a:prstDash val="solid"/>
          </a:ln>
        </p:spPr>
      </p:sp>
      <p:pic>
        <p:nvPicPr>
          <p:cNvPr id="18" name="icon-161" descr="preencoded.png">    </p:cNvPr>
          <p:cNvPicPr>
            <a:picLocks noChangeAspect="1"/>
          </p:cNvPicPr>
          <p:nvPr/>
        </p:nvPicPr>
        <p:blipFill>
          <a:blip r:embed="rId1"/>
          <a:stretch>
            <a:fillRect/>
          </a:stretch>
        </p:blipFill>
        <p:spPr>
          <a:xfrm>
            <a:off x="680314" y="5389474"/>
            <a:ext cx="285293" cy="285293"/>
          </a:xfrm>
          <a:prstGeom prst="rect">
            <a:avLst/>
          </a:prstGeom>
        </p:spPr>
      </p:pic>
      <p:sp>
        <p:nvSpPr>
          <p:cNvPr id="19" name="text-162"/>
          <p:cNvSpPr txBox="1"/>
          <p:nvPr/>
        </p:nvSpPr>
        <p:spPr>
          <a:xfrm>
            <a:off x="1325880" y="5166360"/>
            <a:ext cx="10314432" cy="777240"/>
          </a:xfrm>
          <a:prstGeom prst="rect">
            <a:avLst/>
          </a:prstGeom>
          <a:noFill/>
          <a:ln/>
        </p:spPr>
        <p:txBody>
          <a:bodyPr wrap="square" lIns="0" tIns="0" rIns="0" bIns="0" rtlCol="0" anchor="ctr"/>
          <a:lstStyle/>
          <a:p>
            <a:pPr indent="0" marL="0">
              <a:buNone/>
            </a:pPr>
            <a:r>
              <a:rPr lang="en-US" sz="1400" dirty="0">
                <a:solidFill>
                  <a:schemeClr val="tx1"/>
                </a:solidFill>
              </a:rPr>
              <a:t>ontology/demo_inconsistency.ttl adds this one movie only during the demo. Protégé's Explain button shows exactly this justification, the same pattern as Russell's paradox in the lecture.</a:t>
            </a:r>
            <a:endParaRPr lang="en-US" sz="14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Data: 250 top-rated films from TMDB</a:t>
            </a:r>
            <a:endParaRPr lang="en-US" sz="3200" dirty="0"/>
          </a:p>
        </p:txBody>
      </p:sp>
      <p:sp>
        <p:nvSpPr>
          <p:cNvPr id="3" name="text-163"/>
          <p:cNvSpPr txBox="1"/>
          <p:nvPr/>
        </p:nvSpPr>
        <p:spPr>
          <a:xfrm>
            <a:off x="548640" y="1554480"/>
            <a:ext cx="20116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250</a:t>
            </a:r>
            <a:endParaRPr lang="en-US" sz="4000" dirty="0"/>
          </a:p>
        </p:txBody>
      </p:sp>
      <p:sp>
        <p:nvSpPr>
          <p:cNvPr id="4" name="text-164"/>
          <p:cNvSpPr txBox="1"/>
          <p:nvPr/>
        </p:nvSpPr>
        <p:spPr>
          <a:xfrm>
            <a:off x="2651760" y="1554480"/>
            <a:ext cx="2194560" cy="685800"/>
          </a:xfrm>
          <a:prstGeom prst="rect">
            <a:avLst/>
          </a:prstGeom>
          <a:noFill/>
          <a:ln/>
        </p:spPr>
        <p:txBody>
          <a:bodyPr wrap="square" lIns="0" tIns="0" rIns="0" bIns="0" rtlCol="0" anchor="ctr"/>
          <a:lstStyle/>
          <a:p>
            <a:pPr indent="0" marL="0">
              <a:buNone/>
            </a:pPr>
            <a:r>
              <a:rPr lang="en-US" sz="1500" dirty="0">
                <a:solidFill>
                  <a:schemeClr val="tx1"/>
                </a:solidFill>
              </a:rPr>
              <a:t>movies</a:t>
            </a:r>
            <a:endParaRPr lang="en-US" sz="1500" dirty="0"/>
          </a:p>
        </p:txBody>
      </p:sp>
      <p:sp>
        <p:nvSpPr>
          <p:cNvPr id="5" name="text-165"/>
          <p:cNvSpPr txBox="1"/>
          <p:nvPr/>
        </p:nvSpPr>
        <p:spPr>
          <a:xfrm>
            <a:off x="548640" y="2578608"/>
            <a:ext cx="20116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672</a:t>
            </a:r>
            <a:endParaRPr lang="en-US" sz="4000" dirty="0"/>
          </a:p>
        </p:txBody>
      </p:sp>
      <p:sp>
        <p:nvSpPr>
          <p:cNvPr id="6" name="text-166"/>
          <p:cNvSpPr txBox="1"/>
          <p:nvPr/>
        </p:nvSpPr>
        <p:spPr>
          <a:xfrm>
            <a:off x="2651760" y="2578608"/>
            <a:ext cx="2194560" cy="685800"/>
          </a:xfrm>
          <a:prstGeom prst="rect">
            <a:avLst/>
          </a:prstGeom>
          <a:noFill/>
          <a:ln/>
        </p:spPr>
        <p:txBody>
          <a:bodyPr wrap="square" lIns="0" tIns="0" rIns="0" bIns="0" rtlCol="0" anchor="ctr"/>
          <a:lstStyle/>
          <a:p>
            <a:pPr indent="0" marL="0">
              <a:buNone/>
            </a:pPr>
            <a:r>
              <a:rPr lang="en-US" sz="1500" dirty="0">
                <a:solidFill>
                  <a:schemeClr val="tx1"/>
                </a:solidFill>
              </a:rPr>
              <a:t>people: 156 directors, 522 actors</a:t>
            </a:r>
            <a:endParaRPr lang="en-US" sz="1500" dirty="0"/>
          </a:p>
        </p:txBody>
      </p:sp>
      <p:sp>
        <p:nvSpPr>
          <p:cNvPr id="7" name="text-167"/>
          <p:cNvSpPr txBox="1"/>
          <p:nvPr/>
        </p:nvSpPr>
        <p:spPr>
          <a:xfrm>
            <a:off x="548640" y="3602736"/>
            <a:ext cx="20116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17</a:t>
            </a:r>
            <a:endParaRPr lang="en-US" sz="4000" dirty="0"/>
          </a:p>
        </p:txBody>
      </p:sp>
      <p:sp>
        <p:nvSpPr>
          <p:cNvPr id="8" name="text-168"/>
          <p:cNvSpPr txBox="1"/>
          <p:nvPr/>
        </p:nvSpPr>
        <p:spPr>
          <a:xfrm>
            <a:off x="2651760" y="3602736"/>
            <a:ext cx="2194560" cy="685800"/>
          </a:xfrm>
          <a:prstGeom prst="rect">
            <a:avLst/>
          </a:prstGeom>
          <a:noFill/>
          <a:ln/>
        </p:spPr>
        <p:txBody>
          <a:bodyPr wrap="square" lIns="0" tIns="0" rIns="0" bIns="0" rtlCol="0" anchor="ctr"/>
          <a:lstStyle/>
          <a:p>
            <a:pPr indent="0" marL="0">
              <a:buNone/>
            </a:pPr>
            <a:r>
              <a:rPr lang="en-US" sz="1500" dirty="0">
                <a:solidFill>
                  <a:schemeClr val="tx1"/>
                </a:solidFill>
              </a:rPr>
              <a:t>genres</a:t>
            </a:r>
            <a:endParaRPr lang="en-US" sz="1500" dirty="0"/>
          </a:p>
        </p:txBody>
      </p:sp>
      <p:sp>
        <p:nvSpPr>
          <p:cNvPr id="9" name="text-169"/>
          <p:cNvSpPr txBox="1"/>
          <p:nvPr/>
        </p:nvSpPr>
        <p:spPr>
          <a:xfrm>
            <a:off x="548640" y="4626864"/>
            <a:ext cx="20116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99 / 16</a:t>
            </a:r>
            <a:endParaRPr lang="en-US" sz="4000" dirty="0"/>
          </a:p>
        </p:txBody>
      </p:sp>
      <p:sp>
        <p:nvSpPr>
          <p:cNvPr id="10" name="text-170"/>
          <p:cNvSpPr txBox="1"/>
          <p:nvPr/>
        </p:nvSpPr>
        <p:spPr>
          <a:xfrm>
            <a:off x="2651760" y="4626864"/>
            <a:ext cx="2194560" cy="685800"/>
          </a:xfrm>
          <a:prstGeom prst="rect">
            <a:avLst/>
          </a:prstGeom>
          <a:noFill/>
          <a:ln/>
        </p:spPr>
        <p:txBody>
          <a:bodyPr wrap="square" lIns="0" tIns="0" rIns="0" bIns="0" rtlCol="0" anchor="ctr"/>
          <a:lstStyle/>
          <a:p>
            <a:pPr indent="0" marL="0">
              <a:buNone/>
            </a:pPr>
            <a:r>
              <a:rPr lang="en-US" sz="1500" dirty="0">
                <a:solidFill>
                  <a:schemeClr val="tx1"/>
                </a:solidFill>
              </a:rPr>
              <a:t>studios / countries</a:t>
            </a:r>
            <a:endParaRPr lang="en-US" sz="1500" dirty="0"/>
          </a:p>
        </p:txBody>
      </p:sp>
      <p:sp>
        <p:nvSpPr>
          <p:cNvPr id="11" name="text-171"/>
          <p:cNvSpPr txBox="1"/>
          <p:nvPr/>
        </p:nvSpPr>
        <p:spPr>
          <a:xfrm>
            <a:off x="548640" y="5623560"/>
            <a:ext cx="4572000" cy="685800"/>
          </a:xfrm>
          <a:prstGeom prst="rect">
            <a:avLst/>
          </a:prstGeom>
          <a:noFill/>
          <a:ln/>
        </p:spPr>
        <p:txBody>
          <a:bodyPr wrap="square" lIns="0" tIns="0" rIns="0" bIns="0" rtlCol="0" anchor="t"/>
          <a:lstStyle/>
          <a:p>
            <a:pPr indent="0" marL="0">
              <a:buNone/>
            </a:pPr>
            <a:r>
              <a:rPr lang="en-US" sz="1100" dirty="0">
                <a:solidFill>
                  <a:schemeClr val="accent4"/>
                </a:solidFill>
              </a:rPr>
              <a:t>Source: Kaggle "TMDB 5000 Movie Dataset" (4,803 films). Kept films with at least 1,000 votes, then the 250 best rated. Director, top-3 cast, primary genre, studio and country per film. Uses the TMDb API but is not endorsed by TMDb.</a:t>
            </a:r>
            <a:endParaRPr lang="en-US" sz="1100" dirty="0"/>
          </a:p>
        </p:txBody>
      </p:sp>
      <p:graphicFrame>
        <p:nvGraphicFramePr>
          <p:cNvPr id="12" name="chart-genres" descr=""/>
          <p:cNvGraphicFramePr/>
          <p:nvPr/>
        </p:nvGraphicFramePr>
        <p:xfrm>
          <a:off x="5486400" y="1463040"/>
          <a:ext cx="6153912"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Pipeline: four scripts, every step reproducible</a:t>
            </a:r>
            <a:endParaRPr lang="en-US" sz="3200" dirty="0"/>
          </a:p>
        </p:txBody>
      </p:sp>
      <p:sp>
        <p:nvSpPr>
          <p:cNvPr id="3" name="stage-1"/>
          <p:cNvSpPr/>
          <p:nvPr/>
        </p:nvSpPr>
        <p:spPr>
          <a:xfrm>
            <a:off x="548640" y="1554480"/>
            <a:ext cx="2377440" cy="1965960"/>
          </a:xfrm>
          <a:prstGeom prst="roundRect">
            <a:avLst>
              <a:gd name="adj" fmla="val 3721"/>
            </a:avLst>
          </a:prstGeom>
          <a:solidFill>
            <a:schemeClr val="bg2"/>
          </a:solidFill>
          <a:ln w="12700">
            <a:solidFill>
              <a:srgbClr val="F3F4F6"/>
            </a:solidFill>
            <a:prstDash val="solid"/>
          </a:ln>
        </p:spPr>
      </p:sp>
      <p:sp>
        <p:nvSpPr>
          <p:cNvPr id="4" name="icon-bg-172"/>
          <p:cNvSpPr/>
          <p:nvPr/>
        </p:nvSpPr>
        <p:spPr>
          <a:xfrm>
            <a:off x="777240" y="1737360"/>
            <a:ext cx="548640" cy="548640"/>
          </a:xfrm>
          <a:prstGeom prst="ellipse">
            <a:avLst/>
          </a:prstGeom>
          <a:solidFill>
            <a:srgbClr val="BF1E2E"/>
          </a:solidFill>
          <a:ln w="12700">
            <a:solidFill>
              <a:srgbClr val="BF1E2E"/>
            </a:solidFill>
            <a:prstDash val="solid"/>
          </a:ln>
        </p:spPr>
      </p:sp>
      <p:pic>
        <p:nvPicPr>
          <p:cNvPr id="5" name="icon-172" descr="preencoded.png">    </p:cNvPr>
          <p:cNvPicPr>
            <a:picLocks noChangeAspect="1"/>
          </p:cNvPicPr>
          <p:nvPr/>
        </p:nvPicPr>
        <p:blipFill>
          <a:blip r:embed="rId1"/>
          <a:stretch>
            <a:fillRect/>
          </a:stretch>
        </p:blipFill>
        <p:spPr>
          <a:xfrm>
            <a:off x="908914" y="1869034"/>
            <a:ext cx="285293" cy="285293"/>
          </a:xfrm>
          <a:prstGeom prst="rect">
            <a:avLst/>
          </a:prstGeom>
        </p:spPr>
      </p:pic>
      <p:sp>
        <p:nvSpPr>
          <p:cNvPr id="6" name="text-173"/>
          <p:cNvSpPr txBox="1"/>
          <p:nvPr/>
        </p:nvSpPr>
        <p:spPr>
          <a:xfrm>
            <a:off x="1463040" y="1737360"/>
            <a:ext cx="1325880" cy="548640"/>
          </a:xfrm>
          <a:prstGeom prst="rect">
            <a:avLst/>
          </a:prstGeom>
          <a:noFill/>
          <a:ln/>
        </p:spPr>
        <p:txBody>
          <a:bodyPr wrap="square" lIns="0" tIns="0" rIns="0" bIns="0" rtlCol="0" anchor="ctr"/>
          <a:lstStyle/>
          <a:p>
            <a:pPr indent="0" marL="0">
              <a:buNone/>
            </a:pPr>
            <a:r>
              <a:rPr lang="en-US" sz="1700" b="1" dirty="0">
                <a:solidFill>
                  <a:schemeClr val="tx1"/>
                </a:solidFill>
              </a:rPr>
              <a:t>Select</a:t>
            </a:r>
            <a:endParaRPr lang="en-US" sz="1700" dirty="0"/>
          </a:p>
        </p:txBody>
      </p:sp>
      <p:sp>
        <p:nvSpPr>
          <p:cNvPr id="7" name="text-174"/>
          <p:cNvSpPr txBox="1"/>
          <p:nvPr/>
        </p:nvSpPr>
        <p:spPr>
          <a:xfrm>
            <a:off x="777240" y="2468880"/>
            <a:ext cx="20574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prepare_movies_csv.py</a:t>
            </a:r>
            <a:endParaRPr lang="en-US" sz="1100" dirty="0"/>
          </a:p>
        </p:txBody>
      </p:sp>
      <p:sp>
        <p:nvSpPr>
          <p:cNvPr id="8" name="text-175"/>
          <p:cNvSpPr txBox="1"/>
          <p:nvPr/>
        </p:nvSpPr>
        <p:spPr>
          <a:xfrm>
            <a:off x="777240" y="2834640"/>
            <a:ext cx="2011680" cy="548640"/>
          </a:xfrm>
          <a:prstGeom prst="rect">
            <a:avLst/>
          </a:prstGeom>
          <a:noFill/>
          <a:ln/>
        </p:spPr>
        <p:txBody>
          <a:bodyPr wrap="square" lIns="0" tIns="0" rIns="0" bIns="0" rtlCol="0" anchor="t"/>
          <a:lstStyle/>
          <a:p>
            <a:pPr indent="0" marL="0">
              <a:buNone/>
            </a:pPr>
            <a:r>
              <a:rPr lang="en-US" sz="1300" dirty="0">
                <a:solidFill>
                  <a:schemeClr val="accent4"/>
                </a:solidFill>
              </a:rPr>
              <a:t>movies.csv, 250 rows</a:t>
            </a:r>
            <a:endParaRPr lang="en-US" sz="1300" dirty="0"/>
          </a:p>
        </p:txBody>
      </p:sp>
      <p:pic>
        <p:nvPicPr>
          <p:cNvPr id="9" name="stage-arrow-1" descr="preencoded.png">    </p:cNvPr>
          <p:cNvPicPr>
            <a:picLocks noChangeAspect="1"/>
          </p:cNvPicPr>
          <p:nvPr/>
        </p:nvPicPr>
        <p:blipFill>
          <a:blip r:embed="rId2"/>
          <a:stretch>
            <a:fillRect/>
          </a:stretch>
        </p:blipFill>
        <p:spPr>
          <a:xfrm>
            <a:off x="3052572" y="2395728"/>
            <a:ext cx="274320" cy="274320"/>
          </a:xfrm>
          <a:prstGeom prst="rect">
            <a:avLst/>
          </a:prstGeom>
        </p:spPr>
      </p:pic>
      <p:sp>
        <p:nvSpPr>
          <p:cNvPr id="10" name="stage-2"/>
          <p:cNvSpPr/>
          <p:nvPr/>
        </p:nvSpPr>
        <p:spPr>
          <a:xfrm>
            <a:off x="3453384" y="1554480"/>
            <a:ext cx="2377440" cy="1965960"/>
          </a:xfrm>
          <a:prstGeom prst="roundRect">
            <a:avLst>
              <a:gd name="adj" fmla="val 3721"/>
            </a:avLst>
          </a:prstGeom>
          <a:solidFill>
            <a:schemeClr val="bg2"/>
          </a:solidFill>
          <a:ln w="12700">
            <a:solidFill>
              <a:srgbClr val="F3F4F6"/>
            </a:solidFill>
            <a:prstDash val="solid"/>
          </a:ln>
        </p:spPr>
      </p:sp>
      <p:sp>
        <p:nvSpPr>
          <p:cNvPr id="11" name="icon-bg-176"/>
          <p:cNvSpPr/>
          <p:nvPr/>
        </p:nvSpPr>
        <p:spPr>
          <a:xfrm>
            <a:off x="3681984" y="1737360"/>
            <a:ext cx="548640" cy="548640"/>
          </a:xfrm>
          <a:prstGeom prst="ellipse">
            <a:avLst/>
          </a:prstGeom>
          <a:solidFill>
            <a:srgbClr val="BF1E2E"/>
          </a:solidFill>
          <a:ln w="12700">
            <a:solidFill>
              <a:srgbClr val="BF1E2E"/>
            </a:solidFill>
            <a:prstDash val="solid"/>
          </a:ln>
        </p:spPr>
      </p:sp>
      <p:pic>
        <p:nvPicPr>
          <p:cNvPr id="12" name="icon-176" descr="preencoded.png">    </p:cNvPr>
          <p:cNvPicPr>
            <a:picLocks noChangeAspect="1"/>
          </p:cNvPicPr>
          <p:nvPr/>
        </p:nvPicPr>
        <p:blipFill>
          <a:blip r:embed="rId3"/>
          <a:stretch>
            <a:fillRect/>
          </a:stretch>
        </p:blipFill>
        <p:spPr>
          <a:xfrm>
            <a:off x="3813658" y="1869034"/>
            <a:ext cx="285293" cy="285293"/>
          </a:xfrm>
          <a:prstGeom prst="rect">
            <a:avLst/>
          </a:prstGeom>
        </p:spPr>
      </p:pic>
      <p:sp>
        <p:nvSpPr>
          <p:cNvPr id="13" name="text-177"/>
          <p:cNvSpPr txBox="1"/>
          <p:nvPr/>
        </p:nvSpPr>
        <p:spPr>
          <a:xfrm>
            <a:off x="4367784" y="1737360"/>
            <a:ext cx="1325880" cy="548640"/>
          </a:xfrm>
          <a:prstGeom prst="rect">
            <a:avLst/>
          </a:prstGeom>
          <a:noFill/>
          <a:ln/>
        </p:spPr>
        <p:txBody>
          <a:bodyPr wrap="square" lIns="0" tIns="0" rIns="0" bIns="0" rtlCol="0" anchor="ctr"/>
          <a:lstStyle/>
          <a:p>
            <a:pPr indent="0" marL="0">
              <a:buNone/>
            </a:pPr>
            <a:r>
              <a:rPr lang="en-US" sz="1700" b="1" dirty="0">
                <a:solidFill>
                  <a:schemeClr val="tx1"/>
                </a:solidFill>
              </a:rPr>
              <a:t>To RDF  (4★)</a:t>
            </a:r>
            <a:endParaRPr lang="en-US" sz="1700" dirty="0"/>
          </a:p>
        </p:txBody>
      </p:sp>
      <p:sp>
        <p:nvSpPr>
          <p:cNvPr id="14" name="text-178"/>
          <p:cNvSpPr txBox="1"/>
          <p:nvPr/>
        </p:nvSpPr>
        <p:spPr>
          <a:xfrm>
            <a:off x="3681984" y="2468880"/>
            <a:ext cx="20574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csv_to_rdf.py</a:t>
            </a:r>
            <a:endParaRPr lang="en-US" sz="1100" dirty="0"/>
          </a:p>
        </p:txBody>
      </p:sp>
      <p:sp>
        <p:nvSpPr>
          <p:cNvPr id="15" name="text-179"/>
          <p:cNvSpPr txBox="1"/>
          <p:nvPr/>
        </p:nvSpPr>
        <p:spPr>
          <a:xfrm>
            <a:off x="3681984" y="2834640"/>
            <a:ext cx="2011680" cy="548640"/>
          </a:xfrm>
          <a:prstGeom prst="rect">
            <a:avLst/>
          </a:prstGeom>
          <a:noFill/>
          <a:ln/>
        </p:spPr>
        <p:txBody>
          <a:bodyPr wrap="square" lIns="0" tIns="0" rIns="0" bIns="0" rtlCol="0" anchor="t"/>
          <a:lstStyle/>
          <a:p>
            <a:pPr indent="0" marL="0">
              <a:buNone/>
            </a:pPr>
            <a:r>
              <a:rPr lang="en-US" sz="1300" dirty="0">
                <a:solidFill>
                  <a:schemeClr val="accent4"/>
                </a:solidFill>
              </a:rPr>
              <a:t>movies.ttl</a:t>
            </a:r>
            <a:endParaRPr lang="en-US" sz="1300" dirty="0"/>
          </a:p>
        </p:txBody>
      </p:sp>
      <p:pic>
        <p:nvPicPr>
          <p:cNvPr id="16" name="stage-arrow-2" descr="preencoded.png">    </p:cNvPr>
          <p:cNvPicPr>
            <a:picLocks noChangeAspect="1"/>
          </p:cNvPicPr>
          <p:nvPr/>
        </p:nvPicPr>
        <p:blipFill>
          <a:blip r:embed="rId4"/>
          <a:stretch>
            <a:fillRect/>
          </a:stretch>
        </p:blipFill>
        <p:spPr>
          <a:xfrm>
            <a:off x="5957316" y="2395728"/>
            <a:ext cx="274320" cy="274320"/>
          </a:xfrm>
          <a:prstGeom prst="rect">
            <a:avLst/>
          </a:prstGeom>
        </p:spPr>
      </p:pic>
      <p:sp>
        <p:nvSpPr>
          <p:cNvPr id="17" name="stage-3"/>
          <p:cNvSpPr/>
          <p:nvPr/>
        </p:nvSpPr>
        <p:spPr>
          <a:xfrm>
            <a:off x="6358128" y="1554480"/>
            <a:ext cx="2377440" cy="1965960"/>
          </a:xfrm>
          <a:prstGeom prst="roundRect">
            <a:avLst>
              <a:gd name="adj" fmla="val 3721"/>
            </a:avLst>
          </a:prstGeom>
          <a:solidFill>
            <a:schemeClr val="bg2"/>
          </a:solidFill>
          <a:ln w="12700">
            <a:solidFill>
              <a:srgbClr val="F3F4F6"/>
            </a:solidFill>
            <a:prstDash val="solid"/>
          </a:ln>
        </p:spPr>
      </p:sp>
      <p:sp>
        <p:nvSpPr>
          <p:cNvPr id="18" name="icon-bg-180"/>
          <p:cNvSpPr/>
          <p:nvPr/>
        </p:nvSpPr>
        <p:spPr>
          <a:xfrm>
            <a:off x="6586728" y="1737360"/>
            <a:ext cx="548640" cy="548640"/>
          </a:xfrm>
          <a:prstGeom prst="ellipse">
            <a:avLst/>
          </a:prstGeom>
          <a:solidFill>
            <a:srgbClr val="BF1E2E"/>
          </a:solidFill>
          <a:ln w="12700">
            <a:solidFill>
              <a:srgbClr val="BF1E2E"/>
            </a:solidFill>
            <a:prstDash val="solid"/>
          </a:ln>
        </p:spPr>
      </p:sp>
      <p:pic>
        <p:nvPicPr>
          <p:cNvPr id="19" name="icon-180" descr="preencoded.png">    </p:cNvPr>
          <p:cNvPicPr>
            <a:picLocks noChangeAspect="1"/>
          </p:cNvPicPr>
          <p:nvPr/>
        </p:nvPicPr>
        <p:blipFill>
          <a:blip r:embed="rId5"/>
          <a:stretch>
            <a:fillRect/>
          </a:stretch>
        </p:blipFill>
        <p:spPr>
          <a:xfrm>
            <a:off x="6718402" y="1869034"/>
            <a:ext cx="285293" cy="285293"/>
          </a:xfrm>
          <a:prstGeom prst="rect">
            <a:avLst/>
          </a:prstGeom>
        </p:spPr>
      </p:pic>
      <p:sp>
        <p:nvSpPr>
          <p:cNvPr id="20" name="text-181"/>
          <p:cNvSpPr txBox="1"/>
          <p:nvPr/>
        </p:nvSpPr>
        <p:spPr>
          <a:xfrm>
            <a:off x="7272528" y="1737360"/>
            <a:ext cx="1325880" cy="548640"/>
          </a:xfrm>
          <a:prstGeom prst="rect">
            <a:avLst/>
          </a:prstGeom>
          <a:noFill/>
          <a:ln/>
        </p:spPr>
        <p:txBody>
          <a:bodyPr wrap="square" lIns="0" tIns="0" rIns="0" bIns="0" rtlCol="0" anchor="ctr"/>
          <a:lstStyle/>
          <a:p>
            <a:pPr indent="0" marL="0">
              <a:buNone/>
            </a:pPr>
            <a:r>
              <a:rPr lang="en-US" sz="1700" b="1" dirty="0">
                <a:solidFill>
                  <a:schemeClr val="tx1"/>
                </a:solidFill>
              </a:rPr>
              <a:t>Link  (5★)</a:t>
            </a:r>
            <a:endParaRPr lang="en-US" sz="1700" dirty="0"/>
          </a:p>
        </p:txBody>
      </p:sp>
      <p:sp>
        <p:nvSpPr>
          <p:cNvPr id="21" name="text-182"/>
          <p:cNvSpPr txBox="1"/>
          <p:nvPr/>
        </p:nvSpPr>
        <p:spPr>
          <a:xfrm>
            <a:off x="6586728" y="2468880"/>
            <a:ext cx="20574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link_wikidata_dbpedia.py</a:t>
            </a:r>
            <a:endParaRPr lang="en-US" sz="1100" dirty="0"/>
          </a:p>
        </p:txBody>
      </p:sp>
      <p:sp>
        <p:nvSpPr>
          <p:cNvPr id="22" name="text-183"/>
          <p:cNvSpPr txBox="1"/>
          <p:nvPr/>
        </p:nvSpPr>
        <p:spPr>
          <a:xfrm>
            <a:off x="6586728" y="2834640"/>
            <a:ext cx="2011680" cy="548640"/>
          </a:xfrm>
          <a:prstGeom prst="rect">
            <a:avLst/>
          </a:prstGeom>
          <a:noFill/>
          <a:ln/>
        </p:spPr>
        <p:txBody>
          <a:bodyPr wrap="square" lIns="0" tIns="0" rIns="0" bIns="0" rtlCol="0" anchor="t"/>
          <a:lstStyle/>
          <a:p>
            <a:pPr indent="0" marL="0">
              <a:buNone/>
            </a:pPr>
            <a:r>
              <a:rPr lang="en-US" sz="1300" dirty="0">
                <a:solidFill>
                  <a:schemeClr val="accent4"/>
                </a:solidFill>
              </a:rPr>
              <a:t>movies_linked.ttl, 11,868 triples</a:t>
            </a:r>
            <a:endParaRPr lang="en-US" sz="1300" dirty="0"/>
          </a:p>
        </p:txBody>
      </p:sp>
      <p:pic>
        <p:nvPicPr>
          <p:cNvPr id="23" name="stage-arrow-3" descr="preencoded.png">    </p:cNvPr>
          <p:cNvPicPr>
            <a:picLocks noChangeAspect="1"/>
          </p:cNvPicPr>
          <p:nvPr/>
        </p:nvPicPr>
        <p:blipFill>
          <a:blip r:embed="rId6"/>
          <a:stretch>
            <a:fillRect/>
          </a:stretch>
        </p:blipFill>
        <p:spPr>
          <a:xfrm>
            <a:off x="8862060" y="2395728"/>
            <a:ext cx="274320" cy="274320"/>
          </a:xfrm>
          <a:prstGeom prst="rect">
            <a:avLst/>
          </a:prstGeom>
        </p:spPr>
      </p:pic>
      <p:sp>
        <p:nvSpPr>
          <p:cNvPr id="24" name="stage-4"/>
          <p:cNvSpPr/>
          <p:nvPr/>
        </p:nvSpPr>
        <p:spPr>
          <a:xfrm>
            <a:off x="9262872" y="1554480"/>
            <a:ext cx="2377440" cy="1965960"/>
          </a:xfrm>
          <a:prstGeom prst="roundRect">
            <a:avLst>
              <a:gd name="adj" fmla="val 3721"/>
            </a:avLst>
          </a:prstGeom>
          <a:solidFill>
            <a:schemeClr val="bg2"/>
          </a:solidFill>
          <a:ln w="12700">
            <a:solidFill>
              <a:srgbClr val="F3F4F6"/>
            </a:solidFill>
            <a:prstDash val="solid"/>
          </a:ln>
        </p:spPr>
      </p:sp>
      <p:sp>
        <p:nvSpPr>
          <p:cNvPr id="25" name="icon-bg-184"/>
          <p:cNvSpPr/>
          <p:nvPr/>
        </p:nvSpPr>
        <p:spPr>
          <a:xfrm>
            <a:off x="9491472" y="1737360"/>
            <a:ext cx="548640" cy="548640"/>
          </a:xfrm>
          <a:prstGeom prst="ellipse">
            <a:avLst/>
          </a:prstGeom>
          <a:solidFill>
            <a:srgbClr val="BF1E2E"/>
          </a:solidFill>
          <a:ln w="12700">
            <a:solidFill>
              <a:srgbClr val="BF1E2E"/>
            </a:solidFill>
            <a:prstDash val="solid"/>
          </a:ln>
        </p:spPr>
      </p:sp>
      <p:pic>
        <p:nvPicPr>
          <p:cNvPr id="26" name="icon-184" descr="preencoded.png">    </p:cNvPr>
          <p:cNvPicPr>
            <a:picLocks noChangeAspect="1"/>
          </p:cNvPicPr>
          <p:nvPr/>
        </p:nvPicPr>
        <p:blipFill>
          <a:blip r:embed="rId7"/>
          <a:stretch>
            <a:fillRect/>
          </a:stretch>
        </p:blipFill>
        <p:spPr>
          <a:xfrm>
            <a:off x="9623146" y="1869034"/>
            <a:ext cx="285293" cy="285293"/>
          </a:xfrm>
          <a:prstGeom prst="rect">
            <a:avLst/>
          </a:prstGeom>
        </p:spPr>
      </p:pic>
      <p:sp>
        <p:nvSpPr>
          <p:cNvPr id="27" name="text-185"/>
          <p:cNvSpPr txBox="1"/>
          <p:nvPr/>
        </p:nvSpPr>
        <p:spPr>
          <a:xfrm>
            <a:off x="10177272" y="1737360"/>
            <a:ext cx="1325880" cy="548640"/>
          </a:xfrm>
          <a:prstGeom prst="rect">
            <a:avLst/>
          </a:prstGeom>
          <a:noFill/>
          <a:ln/>
        </p:spPr>
        <p:txBody>
          <a:bodyPr wrap="square" lIns="0" tIns="0" rIns="0" bIns="0" rtlCol="0" anchor="ctr"/>
          <a:lstStyle/>
          <a:p>
            <a:pPr indent="0" marL="0">
              <a:buNone/>
            </a:pPr>
            <a:r>
              <a:rPr lang="en-US" sz="1700" b="1" dirty="0">
                <a:solidFill>
                  <a:schemeClr val="tx1"/>
                </a:solidFill>
              </a:rPr>
              <a:t>Query</a:t>
            </a:r>
            <a:endParaRPr lang="en-US" sz="1700" dirty="0"/>
          </a:p>
        </p:txBody>
      </p:sp>
      <p:sp>
        <p:nvSpPr>
          <p:cNvPr id="28" name="text-186"/>
          <p:cNvSpPr txBox="1"/>
          <p:nvPr/>
        </p:nvSpPr>
        <p:spPr>
          <a:xfrm>
            <a:off x="9491472" y="2468880"/>
            <a:ext cx="2057400" cy="3200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sparql_cli.py, Protégé</a:t>
            </a:r>
            <a:endParaRPr lang="en-US" sz="1100" dirty="0"/>
          </a:p>
        </p:txBody>
      </p:sp>
      <p:sp>
        <p:nvSpPr>
          <p:cNvPr id="29" name="text-187"/>
          <p:cNvSpPr txBox="1"/>
          <p:nvPr/>
        </p:nvSpPr>
        <p:spPr>
          <a:xfrm>
            <a:off x="9491472" y="2834640"/>
            <a:ext cx="2011680" cy="548640"/>
          </a:xfrm>
          <a:prstGeom prst="rect">
            <a:avLst/>
          </a:prstGeom>
          <a:noFill/>
          <a:ln/>
        </p:spPr>
        <p:txBody>
          <a:bodyPr wrap="square" lIns="0" tIns="0" rIns="0" bIns="0" rtlCol="0" anchor="t"/>
          <a:lstStyle/>
          <a:p>
            <a:pPr indent="0" marL="0">
              <a:buNone/>
            </a:pPr>
            <a:r>
              <a:rPr lang="en-US" sz="1300" dirty="0">
                <a:solidFill>
                  <a:schemeClr val="accent4"/>
                </a:solidFill>
              </a:rPr>
              <a:t>SPARQL over the graph</a:t>
            </a:r>
            <a:endParaRPr lang="en-US" sz="1300" dirty="0"/>
          </a:p>
        </p:txBody>
      </p:sp>
      <p:sp>
        <p:nvSpPr>
          <p:cNvPr id="30" name="turtle-box"/>
          <p:cNvSpPr/>
          <p:nvPr/>
        </p:nvSpPr>
        <p:spPr>
          <a:xfrm>
            <a:off x="548640" y="3794760"/>
            <a:ext cx="11091672" cy="2331720"/>
          </a:xfrm>
          <a:prstGeom prst="roundRect">
            <a:avLst>
              <a:gd name="adj" fmla="val 3137"/>
            </a:avLst>
          </a:prstGeom>
          <a:solidFill>
            <a:schemeClr val="tx1"/>
          </a:solidFill>
          <a:ln w="12700">
            <a:solidFill>
              <a:srgbClr val="1F2329"/>
            </a:solidFill>
            <a:prstDash val="solid"/>
          </a:ln>
        </p:spPr>
      </p:sp>
      <p:sp>
        <p:nvSpPr>
          <p:cNvPr id="31" name="text-188"/>
          <p:cNvSpPr txBox="1"/>
          <p:nvPr/>
        </p:nvSpPr>
        <p:spPr>
          <a:xfrm>
            <a:off x="868680" y="3977640"/>
            <a:ext cx="10424160" cy="196596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ex:movie/1124  a schema:Movie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dc:title "The Prestige" ;   ont:releaseYear 2006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dbo:director ex:person/525 ;   ont:hasGenre ont:genre_drama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ont:producedBy ont:studio/warner-bros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owl:sameAs wd:Q46551 , dbr:The_Prestige_(film) .</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Mapping CSV columns to RDF</a:t>
            </a:r>
            <a:endParaRPr lang="en-US" sz="3200" dirty="0"/>
          </a:p>
        </p:txBody>
      </p:sp>
      <p:graphicFrame>
        <p:nvGraphicFramePr>
          <p:cNvPr id="13" name="mapping-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017520"/>
                <a:gridCol w="5879592"/>
                <a:gridCol w="2194560"/>
              </a:tblGrid>
              <a:tr h="42062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CSV column</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RDF</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Vocabulary</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ex:movie/{id}  a schema:Movie</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schema.org</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title</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dc:title</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Dublin Core</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ont:releaseYear  (xsd:integer)</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local</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director_id, director_name</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dbo:director ex:person/{id};  foaf:name</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DBpedia, FOAF</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cast_ids, cast_names, cast_characters</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dbo:starring;  ont:CastRole (characterName, billingOrder)</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DBpedia, local</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genre</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ont:hasGenre ont:genre_{name}</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local</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studio</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ont:producedBy ont:studio/{slug}</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local</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20624">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2329"/>
                          </a:solidFill>
                          <a:latin typeface="Courier New" pitchFamily="34" charset="0"/>
                          <a:ea typeface="Courier New" pitchFamily="34" charset="-122"/>
                          <a:cs typeface="Courier New" pitchFamily="34" charset="-120"/>
                        </a:rPr>
                        <a:t>ont:producedIn ont:country/{slug}</a:t>
                      </a:r>
                      <a:endParaRPr lang="en-US" sz="1300" dirty="0">
                        <a:latin typeface="Courier New" charset="0"/>
                        <a:ea typeface="Courier New" charset="0"/>
                        <a:cs typeface="Courier New"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local</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bl>
          </a:graphicData>
        </a:graphic>
      </p:graphicFrame>
      <p:sp>
        <p:nvSpPr>
          <p:cNvPr id="4" name="icon-bg-189"/>
          <p:cNvSpPr/>
          <p:nvPr/>
        </p:nvSpPr>
        <p:spPr>
          <a:xfrm>
            <a:off x="548640" y="5486400"/>
            <a:ext cx="502920" cy="502920"/>
          </a:xfrm>
          <a:prstGeom prst="ellipse">
            <a:avLst/>
          </a:prstGeom>
          <a:solidFill>
            <a:srgbClr val="BF1E2E"/>
          </a:solidFill>
          <a:ln w="12700">
            <a:solidFill>
              <a:srgbClr val="BF1E2E"/>
            </a:solidFill>
            <a:prstDash val="solid"/>
          </a:ln>
        </p:spPr>
      </p:sp>
      <p:pic>
        <p:nvPicPr>
          <p:cNvPr id="5" name="icon-189" descr="preencoded.png">    </p:cNvPr>
          <p:cNvPicPr>
            <a:picLocks noChangeAspect="1"/>
          </p:cNvPicPr>
          <p:nvPr/>
        </p:nvPicPr>
        <p:blipFill>
          <a:blip r:embed="rId1"/>
          <a:stretch>
            <a:fillRect/>
          </a:stretch>
        </p:blipFill>
        <p:spPr>
          <a:xfrm>
            <a:off x="669341" y="5607101"/>
            <a:ext cx="261518" cy="261518"/>
          </a:xfrm>
          <a:prstGeom prst="rect">
            <a:avLst/>
          </a:prstGeom>
        </p:spPr>
      </p:pic>
      <p:sp>
        <p:nvSpPr>
          <p:cNvPr id="6" name="text-190"/>
          <p:cNvSpPr txBox="1"/>
          <p:nvPr/>
        </p:nvSpPr>
        <p:spPr>
          <a:xfrm>
            <a:off x="1234440" y="5440680"/>
            <a:ext cx="10332720" cy="594360"/>
          </a:xfrm>
          <a:prstGeom prst="rect">
            <a:avLst/>
          </a:prstGeom>
          <a:noFill/>
          <a:ln/>
        </p:spPr>
        <p:txBody>
          <a:bodyPr wrap="square" lIns="0" tIns="0" rIns="0" bIns="0" rtlCol="0" anchor="ctr"/>
          <a:lstStyle/>
          <a:p>
            <a:pPr indent="0" marL="0">
              <a:buNone/>
            </a:pPr>
            <a:r>
              <a:rPr lang="en-US" sz="1500" dirty="0">
                <a:solidFill>
                  <a:schemeClr val="tx1"/>
                </a:solidFill>
              </a:rPr>
              <a:t>URIs reuse the TMDB ids, so they stay stable across runs and double as the key for linking.</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Linking: match on identifiers, not on titles</a:t>
            </a:r>
            <a:endParaRPr lang="en-US" sz="3200" dirty="0"/>
          </a:p>
        </p:txBody>
      </p:sp>
      <p:sp>
        <p:nvSpPr>
          <p:cNvPr id="3" name="link-before"/>
          <p:cNvSpPr/>
          <p:nvPr/>
        </p:nvSpPr>
        <p:spPr>
          <a:xfrm>
            <a:off x="548640" y="1600200"/>
            <a:ext cx="3520440" cy="4206240"/>
          </a:xfrm>
          <a:prstGeom prst="roundRect">
            <a:avLst>
              <a:gd name="adj" fmla="val 2078"/>
            </a:avLst>
          </a:prstGeom>
          <a:solidFill>
            <a:schemeClr val="bg2"/>
          </a:solidFill>
          <a:ln w="12700">
            <a:solidFill>
              <a:srgbClr val="F3F4F6"/>
            </a:solidFill>
            <a:prstDash val="solid"/>
          </a:ln>
        </p:spPr>
      </p:sp>
      <p:sp>
        <p:nvSpPr>
          <p:cNvPr id="4" name="icon-bg-191"/>
          <p:cNvSpPr/>
          <p:nvPr/>
        </p:nvSpPr>
        <p:spPr>
          <a:xfrm>
            <a:off x="822960" y="1874520"/>
            <a:ext cx="548640" cy="548640"/>
          </a:xfrm>
          <a:prstGeom prst="ellipse">
            <a:avLst/>
          </a:prstGeom>
          <a:solidFill>
            <a:srgbClr val="5F6670"/>
          </a:solidFill>
          <a:ln w="12700">
            <a:solidFill>
              <a:srgbClr val="5F6670"/>
            </a:solidFill>
            <a:prstDash val="solid"/>
          </a:ln>
        </p:spPr>
      </p:sp>
      <p:pic>
        <p:nvPicPr>
          <p:cNvPr id="5" name="icon-191"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6" name="text-192"/>
          <p:cNvSpPr txBox="1"/>
          <p:nvPr/>
        </p:nvSpPr>
        <p:spPr>
          <a:xfrm>
            <a:off x="822960" y="260604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Title + year on DBpedia</a:t>
            </a:r>
            <a:endParaRPr lang="en-US" sz="1800" dirty="0"/>
          </a:p>
        </p:txBody>
      </p:sp>
      <p:sp>
        <p:nvSpPr>
          <p:cNvPr id="7" name="text-193"/>
          <p:cNvSpPr txBox="1"/>
          <p:nvPr/>
        </p:nvSpPr>
        <p:spPr>
          <a:xfrm>
            <a:off x="822960" y="3108960"/>
            <a:ext cx="3017520" cy="2377440"/>
          </a:xfrm>
          <a:prstGeom prst="rect">
            <a:avLst/>
          </a:prstGeom>
          <a:noFill/>
          <a:ln/>
        </p:spPr>
        <p:txBody>
          <a:bodyPr wrap="square" lIns="0" tIns="0" rIns="0" bIns="0" rtlCol="0" anchor="t"/>
          <a:lstStyle/>
          <a:p>
            <a:pPr indent="0" marL="0">
              <a:buNone/>
            </a:pPr>
            <a:r>
              <a:rPr lang="en-US" sz="1400" dirty="0">
                <a:solidFill>
                  <a:schemeClr val="accent4"/>
                </a:solidFill>
              </a:rPr>
              <a:t>First attempt matched 0 of 8 sample films: DBpedia film resources carry no dbo:releaseDate, so the year filter never matches. Titles are also ambiguous across remakes.</a:t>
            </a:r>
            <a:endParaRPr lang="en-US" sz="1400" dirty="0"/>
          </a:p>
        </p:txBody>
      </p:sp>
      <p:sp>
        <p:nvSpPr>
          <p:cNvPr id="8" name="link-after"/>
          <p:cNvSpPr/>
          <p:nvPr/>
        </p:nvSpPr>
        <p:spPr>
          <a:xfrm>
            <a:off x="4343400" y="1600200"/>
            <a:ext cx="3520440" cy="4206240"/>
          </a:xfrm>
          <a:prstGeom prst="roundRect">
            <a:avLst>
              <a:gd name="adj" fmla="val 2078"/>
            </a:avLst>
          </a:prstGeom>
          <a:solidFill>
            <a:schemeClr val="bg2"/>
          </a:solidFill>
          <a:ln w="12700">
            <a:solidFill>
              <a:srgbClr val="F3F4F6"/>
            </a:solidFill>
            <a:prstDash val="solid"/>
          </a:ln>
        </p:spPr>
      </p:sp>
      <p:sp>
        <p:nvSpPr>
          <p:cNvPr id="9" name="icon-bg-194"/>
          <p:cNvSpPr/>
          <p:nvPr/>
        </p:nvSpPr>
        <p:spPr>
          <a:xfrm>
            <a:off x="4617720" y="1874520"/>
            <a:ext cx="548640" cy="548640"/>
          </a:xfrm>
          <a:prstGeom prst="ellipse">
            <a:avLst/>
          </a:prstGeom>
          <a:solidFill>
            <a:srgbClr val="BF1E2E"/>
          </a:solidFill>
          <a:ln w="12700">
            <a:solidFill>
              <a:srgbClr val="BF1E2E"/>
            </a:solidFill>
            <a:prstDash val="solid"/>
          </a:ln>
        </p:spPr>
      </p:sp>
      <p:pic>
        <p:nvPicPr>
          <p:cNvPr id="10" name="icon-194" descr="preencoded.png">    </p:cNvPr>
          <p:cNvPicPr>
            <a:picLocks noChangeAspect="1"/>
          </p:cNvPicPr>
          <p:nvPr/>
        </p:nvPicPr>
        <p:blipFill>
          <a:blip r:embed="rId2"/>
          <a:stretch>
            <a:fillRect/>
          </a:stretch>
        </p:blipFill>
        <p:spPr>
          <a:xfrm>
            <a:off x="4749394" y="2006194"/>
            <a:ext cx="285293" cy="285293"/>
          </a:xfrm>
          <a:prstGeom prst="rect">
            <a:avLst/>
          </a:prstGeom>
        </p:spPr>
      </p:pic>
      <p:sp>
        <p:nvSpPr>
          <p:cNvPr id="11" name="text-195"/>
          <p:cNvSpPr txBox="1"/>
          <p:nvPr/>
        </p:nvSpPr>
        <p:spPr>
          <a:xfrm>
            <a:off x="4617720" y="260604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TMDB id on Wikidata</a:t>
            </a:r>
            <a:endParaRPr lang="en-US" sz="1800" dirty="0"/>
          </a:p>
        </p:txBody>
      </p:sp>
      <p:sp>
        <p:nvSpPr>
          <p:cNvPr id="12" name="text-196"/>
          <p:cNvSpPr txBox="1"/>
          <p:nvPr/>
        </p:nvSpPr>
        <p:spPr>
          <a:xfrm>
            <a:off x="4617720" y="3108960"/>
            <a:ext cx="30175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Wikidata stores the TMDB id: P4947 for films, P4985 for people</a:t>
            </a:r>
            <a:endParaRPr lang="en-US" sz="1400" dirty="0"/>
          </a:p>
          <a:p>
            <a:pPr marL="342900" indent="-342900">
              <a:spcAft>
                <a:spcPts val="600"/>
              </a:spcAft>
              <a:buSzPct val="100000"/>
              <a:buChar char="•"/>
            </a:pPr>
            <a:r>
              <a:rPr lang="en-US" sz="1400" dirty="0">
                <a:solidFill>
                  <a:schemeClr val="tx1"/>
                </a:solidFill>
              </a:rPr>
              <a:t>DBpedia via its own owl:sameAs, only dbo:Film or dbo:Person</a:t>
            </a:r>
            <a:endParaRPr lang="en-US" sz="1400" dirty="0"/>
          </a:p>
          <a:p>
            <a:pPr marL="342900" indent="-342900">
              <a:spcAft>
                <a:spcPts val="600"/>
              </a:spcAft>
              <a:buSzPct val="100000"/>
              <a:buChar char="•"/>
            </a:pPr>
            <a:r>
              <a:rPr lang="en-US" sz="1400" dirty="0">
                <a:solidFill>
                  <a:schemeClr val="tx1"/>
                </a:solidFill>
              </a:rPr>
              <a:t>Ambiguous ids and redirect resources are left unlinked</a:t>
            </a:r>
            <a:endParaRPr lang="en-US" sz="1400" dirty="0"/>
          </a:p>
        </p:txBody>
      </p:sp>
      <p:sp>
        <p:nvSpPr>
          <p:cNvPr id="13" name="text-197"/>
          <p:cNvSpPr txBox="1"/>
          <p:nvPr/>
        </p:nvSpPr>
        <p:spPr>
          <a:xfrm>
            <a:off x="8229600" y="1600200"/>
            <a:ext cx="3410712"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920</a:t>
            </a:r>
            <a:endParaRPr lang="en-US" sz="4400" dirty="0"/>
          </a:p>
        </p:txBody>
      </p:sp>
      <p:sp>
        <p:nvSpPr>
          <p:cNvPr id="14" name="text-198"/>
          <p:cNvSpPr txBox="1"/>
          <p:nvPr/>
        </p:nvSpPr>
        <p:spPr>
          <a:xfrm>
            <a:off x="8229600" y="2377440"/>
            <a:ext cx="3410712" cy="320040"/>
          </a:xfrm>
          <a:prstGeom prst="rect">
            <a:avLst/>
          </a:prstGeom>
          <a:noFill/>
          <a:ln/>
        </p:spPr>
        <p:txBody>
          <a:bodyPr wrap="square" lIns="0" tIns="0" rIns="0" bIns="0" rtlCol="0" anchor="ctr"/>
          <a:lstStyle/>
          <a:p>
            <a:pPr indent="0" marL="0">
              <a:buNone/>
            </a:pPr>
            <a:r>
              <a:rPr lang="en-US" sz="1500" dirty="0">
                <a:solidFill>
                  <a:schemeClr val="accent4"/>
                </a:solidFill>
              </a:rPr>
              <a:t>links to Wikidata</a:t>
            </a:r>
            <a:endParaRPr lang="en-US" sz="1500" dirty="0"/>
          </a:p>
        </p:txBody>
      </p:sp>
      <p:sp>
        <p:nvSpPr>
          <p:cNvPr id="15" name="text-199"/>
          <p:cNvSpPr txBox="1"/>
          <p:nvPr/>
        </p:nvSpPr>
        <p:spPr>
          <a:xfrm>
            <a:off x="8229600" y="3017520"/>
            <a:ext cx="3410712"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912</a:t>
            </a:r>
            <a:endParaRPr lang="en-US" sz="4400" dirty="0"/>
          </a:p>
        </p:txBody>
      </p:sp>
      <p:sp>
        <p:nvSpPr>
          <p:cNvPr id="16" name="text-200"/>
          <p:cNvSpPr txBox="1"/>
          <p:nvPr/>
        </p:nvSpPr>
        <p:spPr>
          <a:xfrm>
            <a:off x="8229600" y="3794760"/>
            <a:ext cx="3410712" cy="320040"/>
          </a:xfrm>
          <a:prstGeom prst="rect">
            <a:avLst/>
          </a:prstGeom>
          <a:noFill/>
          <a:ln/>
        </p:spPr>
        <p:txBody>
          <a:bodyPr wrap="square" lIns="0" tIns="0" rIns="0" bIns="0" rtlCol="0" anchor="ctr"/>
          <a:lstStyle/>
          <a:p>
            <a:pPr indent="0" marL="0">
              <a:buNone/>
            </a:pPr>
            <a:r>
              <a:rPr lang="en-US" sz="1500" dirty="0">
                <a:solidFill>
                  <a:schemeClr val="accent4"/>
                </a:solidFill>
              </a:rPr>
              <a:t>links to DBpedia</a:t>
            </a:r>
            <a:endParaRPr lang="en-US" sz="1500" dirty="0"/>
          </a:p>
        </p:txBody>
      </p:sp>
      <p:sp>
        <p:nvSpPr>
          <p:cNvPr id="17" name="text-201"/>
          <p:cNvSpPr txBox="1"/>
          <p:nvPr/>
        </p:nvSpPr>
        <p:spPr>
          <a:xfrm>
            <a:off x="8229600" y="4434840"/>
            <a:ext cx="3410712"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249 / 250</a:t>
            </a:r>
            <a:endParaRPr lang="en-US" sz="4400" dirty="0"/>
          </a:p>
        </p:txBody>
      </p:sp>
      <p:sp>
        <p:nvSpPr>
          <p:cNvPr id="18" name="text-202"/>
          <p:cNvSpPr txBox="1"/>
          <p:nvPr/>
        </p:nvSpPr>
        <p:spPr>
          <a:xfrm>
            <a:off x="8229600" y="5212080"/>
            <a:ext cx="3410712" cy="320040"/>
          </a:xfrm>
          <a:prstGeom prst="rect">
            <a:avLst/>
          </a:prstGeom>
          <a:noFill/>
          <a:ln/>
        </p:spPr>
        <p:txBody>
          <a:bodyPr wrap="square" lIns="0" tIns="0" rIns="0" bIns="0" rtlCol="0" anchor="ctr"/>
          <a:lstStyle/>
          <a:p>
            <a:pPr indent="0" marL="0">
              <a:buNone/>
            </a:pPr>
            <a:r>
              <a:rPr lang="en-US" sz="1500" dirty="0">
                <a:solidFill>
                  <a:schemeClr val="accent4"/>
                </a:solidFill>
              </a:rPr>
              <a:t>movies linked to both</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Checking the links, and a lesson on owl:sameAs</a:t>
            </a:r>
            <a:endParaRPr lang="en-US" sz="3200" dirty="0"/>
          </a:p>
        </p:txBody>
      </p:sp>
      <p:sp>
        <p:nvSpPr>
          <p:cNvPr id="3" name="precision-1"/>
          <p:cNvSpPr/>
          <p:nvPr/>
        </p:nvSpPr>
        <p:spPr>
          <a:xfrm>
            <a:off x="548640" y="1600200"/>
            <a:ext cx="4206240" cy="1874520"/>
          </a:xfrm>
          <a:prstGeom prst="roundRect">
            <a:avLst>
              <a:gd name="adj" fmla="val 3902"/>
            </a:avLst>
          </a:prstGeom>
          <a:solidFill>
            <a:schemeClr val="bg2"/>
          </a:solidFill>
          <a:ln w="12700">
            <a:solidFill>
              <a:srgbClr val="F3F4F6"/>
            </a:solidFill>
            <a:prstDash val="solid"/>
          </a:ln>
        </p:spPr>
      </p:sp>
      <p:sp>
        <p:nvSpPr>
          <p:cNvPr id="4" name="text-203"/>
          <p:cNvSpPr txBox="1"/>
          <p:nvPr/>
        </p:nvSpPr>
        <p:spPr>
          <a:xfrm>
            <a:off x="822960" y="1783080"/>
            <a:ext cx="365760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100%</a:t>
            </a:r>
            <a:endParaRPr lang="en-US" sz="5400" dirty="0"/>
          </a:p>
        </p:txBody>
      </p:sp>
      <p:sp>
        <p:nvSpPr>
          <p:cNvPr id="5" name="text-204"/>
          <p:cNvSpPr txBox="1"/>
          <p:nvPr/>
        </p:nvSpPr>
        <p:spPr>
          <a:xfrm>
            <a:off x="822960" y="2697480"/>
            <a:ext cx="3657600" cy="320040"/>
          </a:xfrm>
          <a:prstGeom prst="rect">
            <a:avLst/>
          </a:prstGeom>
          <a:noFill/>
          <a:ln/>
        </p:spPr>
        <p:txBody>
          <a:bodyPr wrap="square" lIns="0" tIns="0" rIns="0" bIns="0" rtlCol="0" anchor="ctr"/>
          <a:lstStyle/>
          <a:p>
            <a:pPr indent="0" marL="0">
              <a:buNone/>
            </a:pPr>
            <a:r>
              <a:rPr lang="en-US" sz="1700" b="1" dirty="0">
                <a:solidFill>
                  <a:schemeClr val="tx1"/>
                </a:solidFill>
              </a:rPr>
              <a:t>Wikidata precision</a:t>
            </a:r>
            <a:endParaRPr lang="en-US" sz="1700" dirty="0"/>
          </a:p>
        </p:txBody>
      </p:sp>
      <p:sp>
        <p:nvSpPr>
          <p:cNvPr id="6" name="text-205"/>
          <p:cNvSpPr txBox="1"/>
          <p:nvPr/>
        </p:nvSpPr>
        <p:spPr>
          <a:xfrm>
            <a:off x="822960" y="3017520"/>
            <a:ext cx="3657600" cy="274320"/>
          </a:xfrm>
          <a:prstGeom prst="rect">
            <a:avLst/>
          </a:prstGeom>
          <a:noFill/>
          <a:ln/>
        </p:spPr>
        <p:txBody>
          <a:bodyPr wrap="square" lIns="0" tIns="0" rIns="0" bIns="0" rtlCol="0" anchor="ctr"/>
          <a:lstStyle/>
          <a:p>
            <a:pPr indent="0" marL="0">
              <a:buNone/>
            </a:pPr>
            <a:r>
              <a:rPr lang="en-US" sz="1300" dirty="0">
                <a:solidFill>
                  <a:schemeClr val="accent4"/>
                </a:solidFill>
              </a:rPr>
              <a:t>30 of 30 links correct</a:t>
            </a:r>
            <a:endParaRPr lang="en-US" sz="1300" dirty="0"/>
          </a:p>
        </p:txBody>
      </p:sp>
      <p:sp>
        <p:nvSpPr>
          <p:cNvPr id="7" name="precision-2"/>
          <p:cNvSpPr/>
          <p:nvPr/>
        </p:nvSpPr>
        <p:spPr>
          <a:xfrm>
            <a:off x="548640" y="3749040"/>
            <a:ext cx="4206240" cy="1874520"/>
          </a:xfrm>
          <a:prstGeom prst="roundRect">
            <a:avLst>
              <a:gd name="adj" fmla="val 3902"/>
            </a:avLst>
          </a:prstGeom>
          <a:solidFill>
            <a:schemeClr val="bg2"/>
          </a:solidFill>
          <a:ln w="12700">
            <a:solidFill>
              <a:srgbClr val="F3F4F6"/>
            </a:solidFill>
            <a:prstDash val="solid"/>
          </a:ln>
        </p:spPr>
      </p:sp>
      <p:sp>
        <p:nvSpPr>
          <p:cNvPr id="8" name="text-206"/>
          <p:cNvSpPr txBox="1"/>
          <p:nvPr/>
        </p:nvSpPr>
        <p:spPr>
          <a:xfrm>
            <a:off x="822960" y="3931920"/>
            <a:ext cx="365760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96.7%</a:t>
            </a:r>
            <a:endParaRPr lang="en-US" sz="5400" dirty="0"/>
          </a:p>
        </p:txBody>
      </p:sp>
      <p:sp>
        <p:nvSpPr>
          <p:cNvPr id="9" name="text-207"/>
          <p:cNvSpPr txBox="1"/>
          <p:nvPr/>
        </p:nvSpPr>
        <p:spPr>
          <a:xfrm>
            <a:off x="822960" y="4846320"/>
            <a:ext cx="3657600" cy="320040"/>
          </a:xfrm>
          <a:prstGeom prst="rect">
            <a:avLst/>
          </a:prstGeom>
          <a:noFill/>
          <a:ln/>
        </p:spPr>
        <p:txBody>
          <a:bodyPr wrap="square" lIns="0" tIns="0" rIns="0" bIns="0" rtlCol="0" anchor="ctr"/>
          <a:lstStyle/>
          <a:p>
            <a:pPr indent="0" marL="0">
              <a:buNone/>
            </a:pPr>
            <a:r>
              <a:rPr lang="en-US" sz="1700" b="1" dirty="0">
                <a:solidFill>
                  <a:schemeClr val="tx1"/>
                </a:solidFill>
              </a:rPr>
              <a:t>DBpedia precision</a:t>
            </a:r>
            <a:endParaRPr lang="en-US" sz="1700" dirty="0"/>
          </a:p>
        </p:txBody>
      </p:sp>
      <p:sp>
        <p:nvSpPr>
          <p:cNvPr id="10" name="text-208"/>
          <p:cNvSpPr txBox="1"/>
          <p:nvPr/>
        </p:nvSpPr>
        <p:spPr>
          <a:xfrm>
            <a:off x="822960" y="5166360"/>
            <a:ext cx="3657600" cy="274320"/>
          </a:xfrm>
          <a:prstGeom prst="rect">
            <a:avLst/>
          </a:prstGeom>
          <a:noFill/>
          <a:ln/>
        </p:spPr>
        <p:txBody>
          <a:bodyPr wrap="square" lIns="0" tIns="0" rIns="0" bIns="0" rtlCol="0" anchor="ctr"/>
          <a:lstStyle/>
          <a:p>
            <a:pPr indent="0" marL="0">
              <a:buNone/>
            </a:pPr>
            <a:r>
              <a:rPr lang="en-US" sz="1300" dirty="0">
                <a:solidFill>
                  <a:schemeClr val="accent4"/>
                </a:solidFill>
              </a:rPr>
              <a:t>29 of 30 links correct</a:t>
            </a:r>
            <a:endParaRPr lang="en-US" sz="1300" dirty="0"/>
          </a:p>
        </p:txBody>
      </p:sp>
      <p:sp>
        <p:nvSpPr>
          <p:cNvPr id="11" name="text-209"/>
          <p:cNvSpPr txBox="1"/>
          <p:nvPr/>
        </p:nvSpPr>
        <p:spPr>
          <a:xfrm>
            <a:off x="548640" y="5623560"/>
            <a:ext cx="4206240" cy="640080"/>
          </a:xfrm>
          <a:prstGeom prst="rect">
            <a:avLst/>
          </a:prstGeom>
          <a:noFill/>
          <a:ln/>
        </p:spPr>
        <p:txBody>
          <a:bodyPr wrap="square" lIns="0" tIns="0" rIns="0" bIns="0" rtlCol="0" anchor="t"/>
          <a:lstStyle/>
          <a:p>
            <a:pPr indent="0" marL="0">
              <a:buNone/>
            </a:pPr>
            <a:r>
              <a:rPr lang="en-US" sz="1100" dirty="0">
                <a:solidFill>
                  <a:schemeClr val="accent4"/>
                </a:solidFill>
              </a:rPr>
              <a:t>Random sample of 15 films and 15 people (seed 42); every Wikidata and DBpedia page opened and compared on year, director, occupation and birth date.</a:t>
            </a:r>
            <a:endParaRPr lang="en-US" sz="1100" dirty="0"/>
          </a:p>
        </p:txBody>
      </p:sp>
      <p:sp>
        <p:nvSpPr>
          <p:cNvPr id="12" name="lesson-card"/>
          <p:cNvSpPr/>
          <p:nvPr/>
        </p:nvSpPr>
        <p:spPr>
          <a:xfrm>
            <a:off x="5029200" y="1600200"/>
            <a:ext cx="6611112" cy="4023360"/>
          </a:xfrm>
          <a:prstGeom prst="roundRect">
            <a:avLst>
              <a:gd name="adj" fmla="val 1818"/>
            </a:avLst>
          </a:prstGeom>
          <a:solidFill>
            <a:schemeClr val="bg1"/>
          </a:solidFill>
          <a:ln w="19050">
            <a:solidFill>
              <a:srgbClr val="BF1E2E"/>
            </a:solidFill>
            <a:prstDash val="solid"/>
          </a:ln>
        </p:spPr>
      </p:sp>
      <p:sp>
        <p:nvSpPr>
          <p:cNvPr id="13" name="icon-bg-210"/>
          <p:cNvSpPr/>
          <p:nvPr/>
        </p:nvSpPr>
        <p:spPr>
          <a:xfrm>
            <a:off x="5303520" y="1874520"/>
            <a:ext cx="548640" cy="548640"/>
          </a:xfrm>
          <a:prstGeom prst="ellipse">
            <a:avLst/>
          </a:prstGeom>
          <a:solidFill>
            <a:srgbClr val="BF1E2E"/>
          </a:solidFill>
          <a:ln w="12700">
            <a:solidFill>
              <a:srgbClr val="BF1E2E"/>
            </a:solidFill>
            <a:prstDash val="solid"/>
          </a:ln>
        </p:spPr>
      </p:sp>
      <p:pic>
        <p:nvPicPr>
          <p:cNvPr id="14" name="icon-210" descr="preencoded.png">    </p:cNvPr>
          <p:cNvPicPr>
            <a:picLocks noChangeAspect="1"/>
          </p:cNvPicPr>
          <p:nvPr/>
        </p:nvPicPr>
        <p:blipFill>
          <a:blip r:embed="rId1"/>
          <a:stretch>
            <a:fillRect/>
          </a:stretch>
        </p:blipFill>
        <p:spPr>
          <a:xfrm>
            <a:off x="5435194" y="2006194"/>
            <a:ext cx="285293" cy="285293"/>
          </a:xfrm>
          <a:prstGeom prst="rect">
            <a:avLst/>
          </a:prstGeom>
        </p:spPr>
      </p:pic>
      <p:sp>
        <p:nvSpPr>
          <p:cNvPr id="15" name="text-211"/>
          <p:cNvSpPr txBox="1"/>
          <p:nvPr/>
        </p:nvSpPr>
        <p:spPr>
          <a:xfrm>
            <a:off x="6035040" y="1874520"/>
            <a:ext cx="5394960" cy="548640"/>
          </a:xfrm>
          <a:prstGeom prst="rect">
            <a:avLst/>
          </a:prstGeom>
          <a:noFill/>
          <a:ln/>
        </p:spPr>
        <p:txBody>
          <a:bodyPr wrap="square" lIns="0" tIns="0" rIns="0" bIns="0" rtlCol="0" anchor="ctr"/>
          <a:lstStyle/>
          <a:p>
            <a:pPr indent="0" marL="0">
              <a:buNone/>
            </a:pPr>
            <a:r>
              <a:rPr lang="en-US" sz="1900" b="1" dirty="0">
                <a:solidFill>
                  <a:schemeClr val="tx1"/>
                </a:solidFill>
              </a:rPr>
              <a:t>The wrong link was a redirect</a:t>
            </a:r>
            <a:endParaRPr lang="en-US" sz="1900" dirty="0"/>
          </a:p>
        </p:txBody>
      </p:sp>
      <p:sp>
        <p:nvSpPr>
          <p:cNvPr id="16" name="text-212"/>
          <p:cNvSpPr txBox="1"/>
          <p:nvPr/>
        </p:nvSpPr>
        <p:spPr>
          <a:xfrm>
            <a:off x="5303520" y="2606040"/>
            <a:ext cx="6080760" cy="868680"/>
          </a:xfrm>
          <a:prstGeom prst="rect">
            <a:avLst/>
          </a:prstGeom>
          <a:noFill/>
          <a:ln/>
        </p:spPr>
        <p:txBody>
          <a:bodyPr wrap="square" lIns="0" tIns="0" rIns="0" bIns="0" rtlCol="0" anchor="t"/>
          <a:lstStyle/>
          <a:p>
            <a:pPr indent="0" marL="0">
              <a:buNone/>
            </a:pPr>
            <a:r>
              <a:rPr lang="en-US" sz="1400" dirty="0">
                <a:solidFill>
                  <a:schemeClr val="tx1"/>
                </a:solidFill>
              </a:rPr>
              <a:t>DBpedia keeps the type and owl:sameAs of an article later merged into another one. Checking all 916 DBpedia links we had then found four that pointed at a different entity:</a:t>
            </a:r>
            <a:endParaRPr lang="en-US" sz="1400" dirty="0"/>
          </a:p>
        </p:txBody>
      </p:sp>
      <p:sp>
        <p:nvSpPr>
          <p:cNvPr id="17" name="text-213"/>
          <p:cNvSpPr txBox="1"/>
          <p:nvPr/>
        </p:nvSpPr>
        <p:spPr>
          <a:xfrm>
            <a:off x="5303520" y="3520440"/>
            <a:ext cx="6080760" cy="12344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Alakina Mann  →  the film The Others (2001)</a:t>
            </a:r>
            <a:endParaRPr lang="en-US" sz="1400" dirty="0"/>
          </a:p>
          <a:p>
            <a:pPr marL="342900" indent="-342900">
              <a:spcAft>
                <a:spcPts val="200"/>
              </a:spcAft>
              <a:buSzPct val="100000"/>
              <a:buChar char="•"/>
            </a:pPr>
            <a:r>
              <a:rPr lang="en-US" sz="1400" dirty="0">
                <a:solidFill>
                  <a:schemeClr val="tx1"/>
                </a:solidFill>
              </a:rPr>
              <a:t>Joel Coen  →  Coen brothers</a:t>
            </a:r>
            <a:endParaRPr lang="en-US" sz="1400" dirty="0"/>
          </a:p>
          <a:p>
            <a:pPr marL="342900" indent="-342900">
              <a:spcAft>
                <a:spcPts val="200"/>
              </a:spcAft>
              <a:buSzPct val="100000"/>
              <a:buChar char="•"/>
            </a:pPr>
            <a:r>
              <a:rPr lang="en-US" sz="1400" dirty="0">
                <a:solidFill>
                  <a:schemeClr val="tx1"/>
                </a:solidFill>
              </a:rPr>
              <a:t>Anthony Russo  →  Russo brothers</a:t>
            </a:r>
            <a:endParaRPr lang="en-US" sz="1400" dirty="0"/>
          </a:p>
          <a:p>
            <a:pPr marL="342900" indent="-342900">
              <a:spcAft>
                <a:spcPts val="200"/>
              </a:spcAft>
              <a:buSzPct val="100000"/>
              <a:buChar char="•"/>
            </a:pPr>
            <a:r>
              <a:rPr lang="en-US" sz="1400" dirty="0">
                <a:solidFill>
                  <a:schemeClr val="tx1"/>
                </a:solidFill>
              </a:rPr>
              <a:t>Lilly Wachowski  →  The Wachowskis</a:t>
            </a:r>
            <a:endParaRPr lang="en-US" sz="1400" dirty="0"/>
          </a:p>
        </p:txBody>
      </p:sp>
      <p:sp>
        <p:nvSpPr>
          <p:cNvPr id="18" name="text-214"/>
          <p:cNvSpPr txBox="1"/>
          <p:nvPr/>
        </p:nvSpPr>
        <p:spPr>
          <a:xfrm>
            <a:off x="5303520" y="4846320"/>
            <a:ext cx="6080760" cy="594360"/>
          </a:xfrm>
          <a:prstGeom prst="rect">
            <a:avLst/>
          </a:prstGeom>
          <a:noFill/>
          <a:ln/>
        </p:spPr>
        <p:txBody>
          <a:bodyPr wrap="square" lIns="0" tIns="0" rIns="0" bIns="0" rtlCol="0" anchor="t"/>
          <a:lstStyle/>
          <a:p>
            <a:pPr indent="0" marL="0">
              <a:buNone/>
            </a:pPr>
            <a:r>
              <a:rPr lang="en-US" sz="1400" b="1" dirty="0">
                <a:solidFill>
                  <a:schemeClr val="accent1"/>
                </a:solidFill>
              </a:rPr>
              <a:t>Fix: redirects are skipped, and followed only for a plain rename. No redirect is left among the 912 links.</a:t>
            </a:r>
            <a:endParaRPr lang="en-US" sz="14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Describing the dataset itself</a:t>
            </a:r>
            <a:endParaRPr lang="en-US" sz="3200" dirty="0"/>
          </a:p>
        </p:txBody>
      </p:sp>
      <p:sp>
        <p:nvSpPr>
          <p:cNvPr id="3" name="meta-DCAT"/>
          <p:cNvSpPr/>
          <p:nvPr/>
        </p:nvSpPr>
        <p:spPr>
          <a:xfrm>
            <a:off x="548640" y="1554480"/>
            <a:ext cx="6309360" cy="1234440"/>
          </a:xfrm>
          <a:prstGeom prst="roundRect">
            <a:avLst>
              <a:gd name="adj" fmla="val 5926"/>
            </a:avLst>
          </a:prstGeom>
          <a:solidFill>
            <a:schemeClr val="bg2"/>
          </a:solidFill>
          <a:ln w="12700">
            <a:solidFill>
              <a:srgbClr val="F3F4F6"/>
            </a:solidFill>
            <a:prstDash val="solid"/>
          </a:ln>
        </p:spPr>
      </p:sp>
      <p:sp>
        <p:nvSpPr>
          <p:cNvPr id="4" name="icon-bg-215"/>
          <p:cNvSpPr/>
          <p:nvPr/>
        </p:nvSpPr>
        <p:spPr>
          <a:xfrm>
            <a:off x="777240" y="1847088"/>
            <a:ext cx="640080" cy="640080"/>
          </a:xfrm>
          <a:prstGeom prst="ellipse">
            <a:avLst/>
          </a:prstGeom>
          <a:solidFill>
            <a:srgbClr val="BF1E2E"/>
          </a:solidFill>
          <a:ln w="12700">
            <a:solidFill>
              <a:srgbClr val="BF1E2E"/>
            </a:solidFill>
            <a:prstDash val="solid"/>
          </a:ln>
        </p:spPr>
      </p:sp>
      <p:pic>
        <p:nvPicPr>
          <p:cNvPr id="5" name="icon-215" descr="preencoded.png">    </p:cNvPr>
          <p:cNvPicPr>
            <a:picLocks noChangeAspect="1"/>
          </p:cNvPicPr>
          <p:nvPr/>
        </p:nvPicPr>
        <p:blipFill>
          <a:blip r:embed="rId1"/>
          <a:stretch>
            <a:fillRect/>
          </a:stretch>
        </p:blipFill>
        <p:spPr>
          <a:xfrm>
            <a:off x="930859" y="2000707"/>
            <a:ext cx="332842" cy="332842"/>
          </a:xfrm>
          <a:prstGeom prst="rect">
            <a:avLst/>
          </a:prstGeom>
        </p:spPr>
      </p:pic>
      <p:sp>
        <p:nvSpPr>
          <p:cNvPr id="6" name="text-216"/>
          <p:cNvSpPr txBox="1"/>
          <p:nvPr/>
        </p:nvSpPr>
        <p:spPr>
          <a:xfrm>
            <a:off x="1645920" y="169164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DCAT</a:t>
            </a:r>
            <a:endParaRPr lang="en-US" sz="1800" dirty="0"/>
          </a:p>
        </p:txBody>
      </p:sp>
      <p:sp>
        <p:nvSpPr>
          <p:cNvPr id="7" name="text-217"/>
          <p:cNvSpPr txBox="1"/>
          <p:nvPr/>
        </p:nvSpPr>
        <p:spPr>
          <a:xfrm>
            <a:off x="1645920" y="2057400"/>
            <a:ext cx="5029200" cy="640080"/>
          </a:xfrm>
          <a:prstGeom prst="rect">
            <a:avLst/>
          </a:prstGeom>
          <a:noFill/>
          <a:ln/>
        </p:spPr>
        <p:txBody>
          <a:bodyPr wrap="square" lIns="0" tIns="0" rIns="0" bIns="0" rtlCol="0" anchor="t"/>
          <a:lstStyle/>
          <a:p>
            <a:pPr indent="0" marL="0">
              <a:buNone/>
            </a:pPr>
            <a:r>
              <a:rPr lang="en-US" sz="1300" dirty="0">
                <a:solidFill>
                  <a:schemeClr val="accent4"/>
                </a:solidFill>
              </a:rPr>
              <a:t>Catalog, dataset with titles in English and Vietnamese, one distribution per Turtle file</a:t>
            </a:r>
            <a:endParaRPr lang="en-US" sz="1300" dirty="0"/>
          </a:p>
        </p:txBody>
      </p:sp>
      <p:sp>
        <p:nvSpPr>
          <p:cNvPr id="8" name="meta-VoID"/>
          <p:cNvSpPr/>
          <p:nvPr/>
        </p:nvSpPr>
        <p:spPr>
          <a:xfrm>
            <a:off x="548640" y="3017520"/>
            <a:ext cx="6309360" cy="1234440"/>
          </a:xfrm>
          <a:prstGeom prst="roundRect">
            <a:avLst>
              <a:gd name="adj" fmla="val 5926"/>
            </a:avLst>
          </a:prstGeom>
          <a:solidFill>
            <a:schemeClr val="bg2"/>
          </a:solidFill>
          <a:ln w="12700">
            <a:solidFill>
              <a:srgbClr val="F3F4F6"/>
            </a:solidFill>
            <a:prstDash val="solid"/>
          </a:ln>
        </p:spPr>
      </p:sp>
      <p:sp>
        <p:nvSpPr>
          <p:cNvPr id="9" name="icon-bg-218"/>
          <p:cNvSpPr/>
          <p:nvPr/>
        </p:nvSpPr>
        <p:spPr>
          <a:xfrm>
            <a:off x="777240" y="3310128"/>
            <a:ext cx="640080" cy="640080"/>
          </a:xfrm>
          <a:prstGeom prst="ellipse">
            <a:avLst/>
          </a:prstGeom>
          <a:solidFill>
            <a:srgbClr val="BF1E2E"/>
          </a:solidFill>
          <a:ln w="12700">
            <a:solidFill>
              <a:srgbClr val="BF1E2E"/>
            </a:solidFill>
            <a:prstDash val="solid"/>
          </a:ln>
        </p:spPr>
      </p:sp>
      <p:pic>
        <p:nvPicPr>
          <p:cNvPr id="10" name="icon-218" descr="preencoded.png">    </p:cNvPr>
          <p:cNvPicPr>
            <a:picLocks noChangeAspect="1"/>
          </p:cNvPicPr>
          <p:nvPr/>
        </p:nvPicPr>
        <p:blipFill>
          <a:blip r:embed="rId2"/>
          <a:stretch>
            <a:fillRect/>
          </a:stretch>
        </p:blipFill>
        <p:spPr>
          <a:xfrm>
            <a:off x="930859" y="3463747"/>
            <a:ext cx="332842" cy="332842"/>
          </a:xfrm>
          <a:prstGeom prst="rect">
            <a:avLst/>
          </a:prstGeom>
        </p:spPr>
      </p:pic>
      <p:sp>
        <p:nvSpPr>
          <p:cNvPr id="11" name="text-219"/>
          <p:cNvSpPr txBox="1"/>
          <p:nvPr/>
        </p:nvSpPr>
        <p:spPr>
          <a:xfrm>
            <a:off x="1645920" y="315468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VoID</a:t>
            </a:r>
            <a:endParaRPr lang="en-US" sz="1800" dirty="0"/>
          </a:p>
        </p:txBody>
      </p:sp>
      <p:sp>
        <p:nvSpPr>
          <p:cNvPr id="12" name="text-220"/>
          <p:cNvSpPr txBox="1"/>
          <p:nvPr/>
        </p:nvSpPr>
        <p:spPr>
          <a:xfrm>
            <a:off x="1645920" y="3520440"/>
            <a:ext cx="5029200" cy="640080"/>
          </a:xfrm>
          <a:prstGeom prst="rect">
            <a:avLst/>
          </a:prstGeom>
          <a:noFill/>
          <a:ln/>
        </p:spPr>
        <p:txBody>
          <a:bodyPr wrap="square" lIns="0" tIns="0" rIns="0" bIns="0" rtlCol="0" anchor="t"/>
          <a:lstStyle/>
          <a:p>
            <a:pPr indent="0" marL="0">
              <a:buNone/>
            </a:pPr>
            <a:r>
              <a:rPr lang="en-US" sz="1300" dirty="0">
                <a:solidFill>
                  <a:schemeClr val="accent4"/>
                </a:solidFill>
              </a:rPr>
              <a:t>Triples, class and property partitions, two linksets: 920 links to Wikidata, 912 to DBpedia</a:t>
            </a:r>
            <a:endParaRPr lang="en-US" sz="1300" dirty="0"/>
          </a:p>
        </p:txBody>
      </p:sp>
      <p:sp>
        <p:nvSpPr>
          <p:cNvPr id="13" name="meta-PROV-O"/>
          <p:cNvSpPr/>
          <p:nvPr/>
        </p:nvSpPr>
        <p:spPr>
          <a:xfrm>
            <a:off x="548640" y="4480560"/>
            <a:ext cx="6309360" cy="1234440"/>
          </a:xfrm>
          <a:prstGeom prst="roundRect">
            <a:avLst>
              <a:gd name="adj" fmla="val 5926"/>
            </a:avLst>
          </a:prstGeom>
          <a:solidFill>
            <a:schemeClr val="bg2"/>
          </a:solidFill>
          <a:ln w="12700">
            <a:solidFill>
              <a:srgbClr val="F3F4F6"/>
            </a:solidFill>
            <a:prstDash val="solid"/>
          </a:ln>
        </p:spPr>
      </p:sp>
      <p:sp>
        <p:nvSpPr>
          <p:cNvPr id="14" name="icon-bg-221"/>
          <p:cNvSpPr/>
          <p:nvPr/>
        </p:nvSpPr>
        <p:spPr>
          <a:xfrm>
            <a:off x="777240" y="4773168"/>
            <a:ext cx="640080" cy="640080"/>
          </a:xfrm>
          <a:prstGeom prst="ellipse">
            <a:avLst/>
          </a:prstGeom>
          <a:solidFill>
            <a:srgbClr val="BF1E2E"/>
          </a:solidFill>
          <a:ln w="12700">
            <a:solidFill>
              <a:srgbClr val="BF1E2E"/>
            </a:solidFill>
            <a:prstDash val="solid"/>
          </a:ln>
        </p:spPr>
      </p:sp>
      <p:pic>
        <p:nvPicPr>
          <p:cNvPr id="15" name="icon-221" descr="preencoded.png">    </p:cNvPr>
          <p:cNvPicPr>
            <a:picLocks noChangeAspect="1"/>
          </p:cNvPicPr>
          <p:nvPr/>
        </p:nvPicPr>
        <p:blipFill>
          <a:blip r:embed="rId3"/>
          <a:stretch>
            <a:fillRect/>
          </a:stretch>
        </p:blipFill>
        <p:spPr>
          <a:xfrm>
            <a:off x="930859" y="4926787"/>
            <a:ext cx="332842" cy="332842"/>
          </a:xfrm>
          <a:prstGeom prst="rect">
            <a:avLst/>
          </a:prstGeom>
        </p:spPr>
      </p:pic>
      <p:sp>
        <p:nvSpPr>
          <p:cNvPr id="16" name="text-222"/>
          <p:cNvSpPr txBox="1"/>
          <p:nvPr/>
        </p:nvSpPr>
        <p:spPr>
          <a:xfrm>
            <a:off x="1645920" y="461772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PROV-O</a:t>
            </a:r>
            <a:endParaRPr lang="en-US" sz="1800" dirty="0"/>
          </a:p>
        </p:txBody>
      </p:sp>
      <p:sp>
        <p:nvSpPr>
          <p:cNvPr id="17" name="text-223"/>
          <p:cNvSpPr txBox="1"/>
          <p:nvPr/>
        </p:nvSpPr>
        <p:spPr>
          <a:xfrm>
            <a:off x="1645920" y="4983480"/>
            <a:ext cx="5029200" cy="640080"/>
          </a:xfrm>
          <a:prstGeom prst="rect">
            <a:avLst/>
          </a:prstGeom>
          <a:noFill/>
          <a:ln/>
        </p:spPr>
        <p:txBody>
          <a:bodyPr wrap="square" lIns="0" tIns="0" rIns="0" bIns="0" rtlCol="0" anchor="t"/>
          <a:lstStyle/>
          <a:p>
            <a:pPr indent="0" marL="0">
              <a:buNone/>
            </a:pPr>
            <a:r>
              <a:rPr lang="en-US" sz="1300" dirty="0">
                <a:solidFill>
                  <a:schemeClr val="accent4"/>
                </a:solidFill>
              </a:rPr>
              <a:t>Derived from the Kaggle CSVs, generated by one pipeline activity using Wikidata, DBpedia and our scripts</a:t>
            </a:r>
            <a:endParaRPr lang="en-US" sz="1300" dirty="0"/>
          </a:p>
        </p:txBody>
      </p:sp>
      <p:sp>
        <p:nvSpPr>
          <p:cNvPr id="18" name="text-224"/>
          <p:cNvSpPr txBox="1"/>
          <p:nvPr/>
        </p:nvSpPr>
        <p:spPr>
          <a:xfrm>
            <a:off x="7223760" y="1554480"/>
            <a:ext cx="4389120" cy="365760"/>
          </a:xfrm>
          <a:prstGeom prst="rect">
            <a:avLst/>
          </a:prstGeom>
          <a:noFill/>
          <a:ln/>
        </p:spPr>
        <p:txBody>
          <a:bodyPr wrap="square" lIns="0" tIns="0" rIns="0" bIns="0" rtlCol="0" anchor="ctr"/>
          <a:lstStyle/>
          <a:p>
            <a:pPr indent="0" marL="0">
              <a:buNone/>
            </a:pPr>
            <a:r>
              <a:rPr lang="en-US" sz="1800" b="1" dirty="0">
                <a:solidFill>
                  <a:schemeClr val="tx1"/>
                </a:solidFill>
              </a:rPr>
              <a:t>Licences</a:t>
            </a:r>
            <a:endParaRPr lang="en-US" sz="1800" dirty="0"/>
          </a:p>
        </p:txBody>
      </p:sp>
      <p:graphicFrame>
        <p:nvGraphicFramePr>
          <p:cNvPr id="16" name="license-table"/>
          <p:cNvGraphicFramePr>
            <a:graphicFrameLocks noGrp="1"/>
          </p:cNvGraphicFramePr>
          <p:nvPr>
            <p:extLst>
              <p:ext uri="{D42A27DB-BD31-4B8C-83A1-F6EECF244321}">
                <p14:modId xmlns:p14="http://schemas.microsoft.com/office/powerpoint/2010/main" val="1579011935"/>
              </p:ext>
            </p:extLst>
          </p:nvPr>
        </p:nvGraphicFramePr>
        <p:xfrm>
          <a:off x="7223760" y="2011680"/>
          <a:ext cx="4416552" cy="914400"/>
        </p:xfrm>
        <a:graphic>
          <a:graphicData uri="http://schemas.openxmlformats.org/drawingml/2006/table">
            <a:tbl>
              <a:tblPr/>
              <a:tblGrid>
                <a:gridCol w="2496312"/>
                <a:gridCol w="1920240"/>
              </a:tblGrid>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Code (scripts/)</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b="1" dirty="0">
                          <a:solidFill>
                            <a:srgbClr val="1F2329"/>
                          </a:solidFill>
                          <a:latin typeface="Calibri" pitchFamily="34" charset="0"/>
                          <a:ea typeface="Calibri" pitchFamily="34" charset="-122"/>
                          <a:cs typeface="Calibri" pitchFamily="34" charset="-120"/>
                        </a:rPr>
                        <a:t>MIT</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Our RDF and metadata</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b="1" dirty="0">
                          <a:solidFill>
                            <a:srgbClr val="1F2329"/>
                          </a:solidFill>
                          <a:latin typeface="Calibri" pitchFamily="34" charset="0"/>
                          <a:ea typeface="Calibri" pitchFamily="34" charset="-122"/>
                          <a:cs typeface="Calibri" pitchFamily="34" charset="-120"/>
                        </a:rPr>
                        <a:t>CC BY-NC 4.0</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Upstream movie facts</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b="1" dirty="0">
                          <a:solidFill>
                            <a:srgbClr val="1F2329"/>
                          </a:solidFill>
                          <a:latin typeface="Calibri" pitchFamily="34" charset="0"/>
                          <a:ea typeface="Calibri" pitchFamily="34" charset="-122"/>
                          <a:cs typeface="Calibri" pitchFamily="34" charset="-120"/>
                        </a:rPr>
                        <a:t>TMDb terms of use</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Wikidata links</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b="1" dirty="0">
                          <a:solidFill>
                            <a:srgbClr val="1F2329"/>
                          </a:solidFill>
                          <a:latin typeface="Calibri" pitchFamily="34" charset="0"/>
                          <a:ea typeface="Calibri" pitchFamily="34" charset="-122"/>
                          <a:cs typeface="Calibri" pitchFamily="34" charset="-120"/>
                        </a:rPr>
                        <a:t>CC0</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DBpedia links</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b="1" dirty="0">
                          <a:solidFill>
                            <a:srgbClr val="1F2329"/>
                          </a:solidFill>
                          <a:latin typeface="Calibri" pitchFamily="34" charset="0"/>
                          <a:ea typeface="Calibri" pitchFamily="34" charset="-122"/>
                          <a:cs typeface="Calibri" pitchFamily="34" charset="-120"/>
                        </a:rPr>
                        <a:t>CC BY-SA</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bl>
          </a:graphicData>
        </a:graphic>
      </p:graphicFrame>
      <p:sp>
        <p:nvSpPr>
          <p:cNvPr id="20" name="text-225"/>
          <p:cNvSpPr txBox="1"/>
          <p:nvPr/>
        </p:nvSpPr>
        <p:spPr>
          <a:xfrm>
            <a:off x="7223760" y="4572000"/>
            <a:ext cx="4416552" cy="822960"/>
          </a:xfrm>
          <a:prstGeom prst="rect">
            <a:avLst/>
          </a:prstGeom>
          <a:noFill/>
          <a:ln/>
        </p:spPr>
        <p:txBody>
          <a:bodyPr wrap="square" lIns="0" tIns="0" rIns="0" bIns="0" rtlCol="0" anchor="t"/>
          <a:lstStyle/>
          <a:p>
            <a:pPr indent="0" marL="0">
              <a:buNone/>
            </a:pPr>
            <a:r>
              <a:rPr lang="en-US" sz="1200" dirty="0">
                <a:solidFill>
                  <a:schemeClr val="accent4"/>
                </a:solidFill>
              </a:rPr>
              <a:t>Generated by scripts/generate_metadata.py from the real files; it stops if the link counts disagree with link_report.csv.</a:t>
            </a:r>
            <a:endParaRPr lang="en-US" sz="12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SPARQL: local queries and federated ones</a:t>
            </a:r>
            <a:endParaRPr lang="en-US" sz="3200" dirty="0"/>
          </a:p>
        </p:txBody>
      </p:sp>
      <p:sp>
        <p:nvSpPr>
          <p:cNvPr id="3" name="query-box"/>
          <p:cNvSpPr/>
          <p:nvPr/>
        </p:nvSpPr>
        <p:spPr>
          <a:xfrm>
            <a:off x="548640" y="1600200"/>
            <a:ext cx="6035040" cy="3108960"/>
          </a:xfrm>
          <a:prstGeom prst="roundRect">
            <a:avLst>
              <a:gd name="adj" fmla="val 2353"/>
            </a:avLst>
          </a:prstGeom>
          <a:solidFill>
            <a:schemeClr val="tx1"/>
          </a:solidFill>
          <a:ln w="12700">
            <a:solidFill>
              <a:srgbClr val="1F2329"/>
            </a:solidFill>
            <a:prstDash val="solid"/>
          </a:ln>
        </p:spPr>
      </p:sp>
      <p:sp>
        <p:nvSpPr>
          <p:cNvPr id="4" name="text-226"/>
          <p:cNvSpPr txBox="1"/>
          <p:nvPr/>
        </p:nvSpPr>
        <p:spPr>
          <a:xfrm>
            <a:off x="822960" y="1783080"/>
            <a:ext cx="5577840" cy="2743200"/>
          </a:xfrm>
          <a:prstGeom prst="rect">
            <a:avLst/>
          </a:prstGeom>
          <a:noFill/>
          <a:ln/>
        </p:spPr>
        <p:txBody>
          <a:bodyPr wrap="square" lIns="0" tIns="0" rIns="0" bIns="0" rtlCol="0" anchor="ctr"/>
          <a:lstStyle/>
          <a:p>
            <a:pPr indent="0" marL="0">
              <a:buNone/>
            </a:pPr>
            <a:r>
              <a:rPr lang="en-US" sz="1400" dirty="0">
                <a:solidFill>
                  <a:srgbClr val="F3C309"/>
                </a:solidFill>
                <a:latin typeface="Courier New" pitchFamily="34" charset="0"/>
                <a:ea typeface="Courier New" pitchFamily="34" charset="-122"/>
                <a:cs typeface="Courier New" pitchFamily="34" charset="-120"/>
              </a:rPr>
              <a:t># Query 3: director with the most movies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SELECT ?directorName (COUNT(?movie) AS ?n)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?movie dbo:director ?d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?d foaf:name ?directorName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GROUP BY ?directorName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ORDER BY DESC(?n)  LIMIT 5</a:t>
            </a:r>
            <a:endParaRPr lang="en-US" sz="1400" dirty="0"/>
          </a:p>
        </p:txBody>
      </p:sp>
      <p:graphicFrame>
        <p:nvGraphicFramePr>
          <p:cNvPr id="17" name="result-table"/>
          <p:cNvGraphicFramePr>
            <a:graphicFrameLocks noGrp="1"/>
          </p:cNvGraphicFramePr>
          <p:nvPr>
            <p:extLst>
              <p:ext uri="{D42A27DB-BD31-4B8C-83A1-F6EECF244321}">
                <p14:modId xmlns:p14="http://schemas.microsoft.com/office/powerpoint/2010/main" val="1579011935"/>
              </p:ext>
            </p:extLst>
          </p:nvPr>
        </p:nvGraphicFramePr>
        <p:xfrm>
          <a:off x="6949440" y="1600200"/>
          <a:ext cx="4690872" cy="914400"/>
        </p:xfrm>
        <a:graphic>
          <a:graphicData uri="http://schemas.openxmlformats.org/drawingml/2006/table">
            <a:tbl>
              <a:tblPr/>
              <a:tblGrid>
                <a:gridCol w="3410712"/>
                <a:gridCol w="128016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Director</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Movies</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r>
              <a:tr h="457200">
                <a:tc>
                  <a:txBody>
                    <a:bodyPr/>
                    <a:lstStyle/>
                    <a:p>
                      <a:pPr indent="0" marL="0">
                        <a:buNone/>
                      </a:pPr>
                      <a:r>
                        <a:rPr lang="en-US" sz="1500" dirty="0">
                          <a:solidFill>
                            <a:srgbClr val="1F2329"/>
                          </a:solidFill>
                          <a:latin typeface="Calibri" pitchFamily="34" charset="0"/>
                          <a:ea typeface="Calibri" pitchFamily="34" charset="-122"/>
                          <a:cs typeface="Calibri" pitchFamily="34" charset="-120"/>
                        </a:rPr>
                        <a:t>Steven Spielberg</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500" dirty="0">
                          <a:solidFill>
                            <a:srgbClr val="1F2329"/>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500" dirty="0">
                          <a:solidFill>
                            <a:srgbClr val="1F2329"/>
                          </a:solidFill>
                          <a:latin typeface="Calibri" pitchFamily="34" charset="0"/>
                          <a:ea typeface="Calibri" pitchFamily="34" charset="-122"/>
                          <a:cs typeface="Calibri" pitchFamily="34" charset="-120"/>
                        </a:rPr>
                        <a:t>Quentin Tarantino</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500" dirty="0">
                          <a:solidFill>
                            <a:srgbClr val="1F2329"/>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500" dirty="0">
                          <a:solidFill>
                            <a:srgbClr val="1F2329"/>
                          </a:solidFill>
                          <a:latin typeface="Calibri" pitchFamily="34" charset="0"/>
                          <a:ea typeface="Calibri" pitchFamily="34" charset="-122"/>
                          <a:cs typeface="Calibri" pitchFamily="34" charset="-120"/>
                        </a:rPr>
                        <a:t>Christopher Nolan</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500" dirty="0">
                          <a:solidFill>
                            <a:srgbClr val="1F2329"/>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500" dirty="0">
                          <a:solidFill>
                            <a:srgbClr val="1F2329"/>
                          </a:solidFill>
                          <a:latin typeface="Calibri" pitchFamily="34" charset="0"/>
                          <a:ea typeface="Calibri" pitchFamily="34" charset="-122"/>
                          <a:cs typeface="Calibri" pitchFamily="34" charset="-120"/>
                        </a:rPr>
                        <a:t>Martin Scorsese</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500" dirty="0">
                          <a:solidFill>
                            <a:srgbClr val="1F232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500" dirty="0">
                          <a:solidFill>
                            <a:srgbClr val="1F2329"/>
                          </a:solidFill>
                          <a:latin typeface="Calibri" pitchFamily="34" charset="0"/>
                          <a:ea typeface="Calibri" pitchFamily="34" charset="-122"/>
                          <a:cs typeface="Calibri" pitchFamily="34" charset="-120"/>
                        </a:rPr>
                        <a:t>David Fincher</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500" dirty="0">
                          <a:solidFill>
                            <a:srgbClr val="1F232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bl>
          </a:graphicData>
        </a:graphic>
      </p:graphicFrame>
      <p:sp>
        <p:nvSpPr>
          <p:cNvPr id="6" name="query-chip-1"/>
          <p:cNvSpPr/>
          <p:nvPr/>
        </p:nvSpPr>
        <p:spPr>
          <a:xfrm>
            <a:off x="548640" y="4983480"/>
            <a:ext cx="2567178" cy="1143000"/>
          </a:xfrm>
          <a:prstGeom prst="roundRect">
            <a:avLst>
              <a:gd name="adj" fmla="val 6400"/>
            </a:avLst>
          </a:prstGeom>
          <a:solidFill>
            <a:schemeClr val="bg2"/>
          </a:solidFill>
          <a:ln w="12700">
            <a:solidFill>
              <a:srgbClr val="F3F4F6"/>
            </a:solidFill>
            <a:prstDash val="solid"/>
          </a:ln>
        </p:spPr>
      </p:sp>
      <p:sp>
        <p:nvSpPr>
          <p:cNvPr id="7" name="text-227"/>
          <p:cNvSpPr txBox="1"/>
          <p:nvPr/>
        </p:nvSpPr>
        <p:spPr>
          <a:xfrm>
            <a:off x="777240" y="5074920"/>
            <a:ext cx="2109978" cy="365760"/>
          </a:xfrm>
          <a:prstGeom prst="rect">
            <a:avLst/>
          </a:prstGeom>
          <a:noFill/>
          <a:ln/>
        </p:spPr>
        <p:txBody>
          <a:bodyPr wrap="square" lIns="0" tIns="0" rIns="0" bIns="0" rtlCol="0" anchor="ctr"/>
          <a:lstStyle/>
          <a:p>
            <a:pPr indent="0" marL="0">
              <a:buNone/>
            </a:pPr>
            <a:r>
              <a:rPr lang="en-US" sz="1600" b="1" dirty="0">
                <a:solidFill>
                  <a:schemeClr val="accent1"/>
                </a:solidFill>
              </a:rPr>
              <a:t>5 local queries</a:t>
            </a:r>
            <a:endParaRPr lang="en-US" sz="1600" dirty="0"/>
          </a:p>
        </p:txBody>
      </p:sp>
      <p:sp>
        <p:nvSpPr>
          <p:cNvPr id="8" name="text-228"/>
          <p:cNvSpPr txBox="1"/>
          <p:nvPr/>
        </p:nvSpPr>
        <p:spPr>
          <a:xfrm>
            <a:off x="777240" y="5440680"/>
            <a:ext cx="2109978" cy="594360"/>
          </a:xfrm>
          <a:prstGeom prst="rect">
            <a:avLst/>
          </a:prstGeom>
          <a:noFill/>
          <a:ln/>
        </p:spPr>
        <p:txBody>
          <a:bodyPr wrap="square" lIns="0" tIns="0" rIns="0" bIns="0" rtlCol="0" anchor="t"/>
          <a:lstStyle/>
          <a:p>
            <a:pPr indent="0" marL="0">
              <a:buNone/>
            </a:pPr>
            <a:r>
              <a:rPr lang="en-US" sz="1300" dirty="0">
                <a:solidFill>
                  <a:schemeClr val="accent4"/>
                </a:solidFill>
              </a:rPr>
              <a:t>one per competency question, plus the linked-movies check</a:t>
            </a:r>
            <a:endParaRPr lang="en-US" sz="1300" dirty="0"/>
          </a:p>
        </p:txBody>
      </p:sp>
      <p:sp>
        <p:nvSpPr>
          <p:cNvPr id="9" name="query-chip-2"/>
          <p:cNvSpPr/>
          <p:nvPr/>
        </p:nvSpPr>
        <p:spPr>
          <a:xfrm>
            <a:off x="3390138" y="4983480"/>
            <a:ext cx="2567178" cy="1143000"/>
          </a:xfrm>
          <a:prstGeom prst="roundRect">
            <a:avLst>
              <a:gd name="adj" fmla="val 6400"/>
            </a:avLst>
          </a:prstGeom>
          <a:solidFill>
            <a:schemeClr val="bg2"/>
          </a:solidFill>
          <a:ln w="12700">
            <a:solidFill>
              <a:srgbClr val="F3F4F6"/>
            </a:solidFill>
            <a:prstDash val="solid"/>
          </a:ln>
        </p:spPr>
      </p:sp>
      <p:sp>
        <p:nvSpPr>
          <p:cNvPr id="10" name="text-229"/>
          <p:cNvSpPr txBox="1"/>
          <p:nvPr/>
        </p:nvSpPr>
        <p:spPr>
          <a:xfrm>
            <a:off x="3618738" y="5074920"/>
            <a:ext cx="2109978" cy="365760"/>
          </a:xfrm>
          <a:prstGeom prst="rect">
            <a:avLst/>
          </a:prstGeom>
          <a:noFill/>
          <a:ln/>
        </p:spPr>
        <p:txBody>
          <a:bodyPr wrap="square" lIns="0" tIns="0" rIns="0" bIns="0" rtlCol="0" anchor="ctr"/>
          <a:lstStyle/>
          <a:p>
            <a:pPr indent="0" marL="0">
              <a:buNone/>
            </a:pPr>
            <a:r>
              <a:rPr lang="en-US" sz="1600" b="1" dirty="0">
                <a:solidFill>
                  <a:schemeClr val="accent1"/>
                </a:solidFill>
              </a:rPr>
              <a:t>6 cast-role queries</a:t>
            </a:r>
            <a:endParaRPr lang="en-US" sz="1600" dirty="0"/>
          </a:p>
        </p:txBody>
      </p:sp>
      <p:sp>
        <p:nvSpPr>
          <p:cNvPr id="11" name="text-230"/>
          <p:cNvSpPr txBox="1"/>
          <p:nvPr/>
        </p:nvSpPr>
        <p:spPr>
          <a:xfrm>
            <a:off x="3618738" y="5440680"/>
            <a:ext cx="2109978" cy="594360"/>
          </a:xfrm>
          <a:prstGeom prst="rect">
            <a:avLst/>
          </a:prstGeom>
          <a:noFill/>
          <a:ln/>
        </p:spPr>
        <p:txBody>
          <a:bodyPr wrap="square" lIns="0" tIns="0" rIns="0" bIns="0" rtlCol="0" anchor="t"/>
          <a:lstStyle/>
          <a:p>
            <a:pPr indent="0" marL="0">
              <a:buNone/>
            </a:pPr>
            <a:r>
              <a:rPr lang="en-US" sz="1300" dirty="0">
                <a:solidFill>
                  <a:schemeClr val="accent4"/>
                </a:solidFill>
              </a:rPr>
              <a:t>characters and billing order through the n-ary CastRole</a:t>
            </a:r>
            <a:endParaRPr lang="en-US" sz="1300" dirty="0"/>
          </a:p>
        </p:txBody>
      </p:sp>
      <p:sp>
        <p:nvSpPr>
          <p:cNvPr id="12" name="query-chip-3"/>
          <p:cNvSpPr/>
          <p:nvPr/>
        </p:nvSpPr>
        <p:spPr>
          <a:xfrm>
            <a:off x="6231636" y="4983480"/>
            <a:ext cx="2567178" cy="1143000"/>
          </a:xfrm>
          <a:prstGeom prst="roundRect">
            <a:avLst>
              <a:gd name="adj" fmla="val 6400"/>
            </a:avLst>
          </a:prstGeom>
          <a:solidFill>
            <a:schemeClr val="bg2"/>
          </a:solidFill>
          <a:ln w="12700">
            <a:solidFill>
              <a:srgbClr val="F3F4F6"/>
            </a:solidFill>
            <a:prstDash val="solid"/>
          </a:ln>
        </p:spPr>
      </p:sp>
      <p:sp>
        <p:nvSpPr>
          <p:cNvPr id="13" name="text-231"/>
          <p:cNvSpPr txBox="1"/>
          <p:nvPr/>
        </p:nvSpPr>
        <p:spPr>
          <a:xfrm>
            <a:off x="6460236" y="5074920"/>
            <a:ext cx="2109978" cy="365760"/>
          </a:xfrm>
          <a:prstGeom prst="rect">
            <a:avLst/>
          </a:prstGeom>
          <a:noFill/>
          <a:ln/>
        </p:spPr>
        <p:txBody>
          <a:bodyPr wrap="square" lIns="0" tIns="0" rIns="0" bIns="0" rtlCol="0" anchor="ctr"/>
          <a:lstStyle/>
          <a:p>
            <a:pPr indent="0" marL="0">
              <a:buNone/>
            </a:pPr>
            <a:r>
              <a:rPr lang="en-US" sz="1600" b="1" dirty="0">
                <a:solidFill>
                  <a:schemeClr val="accent1"/>
                </a:solidFill>
              </a:rPr>
              <a:t>10 federated queries</a:t>
            </a:r>
            <a:endParaRPr lang="en-US" sz="1600" dirty="0"/>
          </a:p>
        </p:txBody>
      </p:sp>
      <p:sp>
        <p:nvSpPr>
          <p:cNvPr id="14" name="text-232"/>
          <p:cNvSpPr txBox="1"/>
          <p:nvPr/>
        </p:nvSpPr>
        <p:spPr>
          <a:xfrm>
            <a:off x="6460236" y="5440680"/>
            <a:ext cx="2109978" cy="594360"/>
          </a:xfrm>
          <a:prstGeom prst="rect">
            <a:avLst/>
          </a:prstGeom>
          <a:noFill/>
          <a:ln/>
        </p:spPr>
        <p:txBody>
          <a:bodyPr wrap="square" lIns="0" tIns="0" rIns="0" bIns="0" rtlCol="0" anchor="t"/>
          <a:lstStyle/>
          <a:p>
            <a:pPr indent="0" marL="0">
              <a:buNone/>
            </a:pPr>
            <a:r>
              <a:rPr lang="en-US" sz="1300" dirty="0">
                <a:solidFill>
                  <a:schemeClr val="accent4"/>
                </a:solidFill>
              </a:rPr>
              <a:t>SERVICE calls to Wikidata and DBpedia</a:t>
            </a:r>
            <a:endParaRPr lang="en-US" sz="1300" dirty="0"/>
          </a:p>
        </p:txBody>
      </p:sp>
      <p:sp>
        <p:nvSpPr>
          <p:cNvPr id="15" name="query-chip-4"/>
          <p:cNvSpPr/>
          <p:nvPr/>
        </p:nvSpPr>
        <p:spPr>
          <a:xfrm>
            <a:off x="9073134" y="4983480"/>
            <a:ext cx="2567178" cy="1143000"/>
          </a:xfrm>
          <a:prstGeom prst="roundRect">
            <a:avLst>
              <a:gd name="adj" fmla="val 6400"/>
            </a:avLst>
          </a:prstGeom>
          <a:solidFill>
            <a:schemeClr val="bg2"/>
          </a:solidFill>
          <a:ln w="12700">
            <a:solidFill>
              <a:srgbClr val="F3F4F6"/>
            </a:solidFill>
            <a:prstDash val="solid"/>
          </a:ln>
        </p:spPr>
      </p:sp>
      <p:sp>
        <p:nvSpPr>
          <p:cNvPr id="16" name="text-233"/>
          <p:cNvSpPr txBox="1"/>
          <p:nvPr/>
        </p:nvSpPr>
        <p:spPr>
          <a:xfrm>
            <a:off x="9301734" y="5074920"/>
            <a:ext cx="2109978" cy="365760"/>
          </a:xfrm>
          <a:prstGeom prst="rect">
            <a:avLst/>
          </a:prstGeom>
          <a:noFill/>
          <a:ln/>
        </p:spPr>
        <p:txBody>
          <a:bodyPr wrap="square" lIns="0" tIns="0" rIns="0" bIns="0" rtlCol="0" anchor="ctr"/>
          <a:lstStyle/>
          <a:p>
            <a:pPr indent="0" marL="0">
              <a:buNone/>
            </a:pPr>
            <a:r>
              <a:rPr lang="en-US" sz="1600" b="1" dirty="0">
                <a:solidFill>
                  <a:schemeClr val="accent1"/>
                </a:solidFill>
              </a:rPr>
              <a:t>Two interfaces</a:t>
            </a:r>
            <a:endParaRPr lang="en-US" sz="1600" dirty="0"/>
          </a:p>
        </p:txBody>
      </p:sp>
      <p:sp>
        <p:nvSpPr>
          <p:cNvPr id="17" name="text-234"/>
          <p:cNvSpPr txBox="1"/>
          <p:nvPr/>
        </p:nvSpPr>
        <p:spPr>
          <a:xfrm>
            <a:off x="9301734" y="5440680"/>
            <a:ext cx="2109978" cy="594360"/>
          </a:xfrm>
          <a:prstGeom prst="rect">
            <a:avLst/>
          </a:prstGeom>
          <a:noFill/>
          <a:ln/>
        </p:spPr>
        <p:txBody>
          <a:bodyPr wrap="square" lIns="0" tIns="0" rIns="0" bIns="0" rtlCol="0" anchor="t"/>
          <a:lstStyle/>
          <a:p>
            <a:pPr indent="0" marL="0">
              <a:buNone/>
            </a:pPr>
            <a:r>
              <a:rPr lang="en-US" sz="1300" dirty="0">
                <a:solidFill>
                  <a:schemeClr val="accent4"/>
                </a:solidFill>
              </a:rPr>
              <a:t>sparql_cli.py in a terminal, and Protégé's SPARQL tab</a:t>
            </a:r>
            <a:endParaRPr lang="en-US" sz="13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Federated query: Wikidata fills the gaps</a:t>
            </a:r>
            <a:endParaRPr lang="en-US" sz="3200" dirty="0"/>
          </a:p>
        </p:txBody>
      </p:sp>
      <p:sp>
        <p:nvSpPr>
          <p:cNvPr id="3" name="fed-query-box"/>
          <p:cNvSpPr/>
          <p:nvPr/>
        </p:nvSpPr>
        <p:spPr>
          <a:xfrm>
            <a:off x="548640" y="1554480"/>
            <a:ext cx="5852160" cy="3429000"/>
          </a:xfrm>
          <a:prstGeom prst="roundRect">
            <a:avLst>
              <a:gd name="adj" fmla="val 2133"/>
            </a:avLst>
          </a:prstGeom>
          <a:solidFill>
            <a:schemeClr val="tx1"/>
          </a:solidFill>
          <a:ln w="12700">
            <a:solidFill>
              <a:srgbClr val="1F2329"/>
            </a:solidFill>
            <a:prstDash val="solid"/>
          </a:ln>
        </p:spPr>
      </p:sp>
      <p:sp>
        <p:nvSpPr>
          <p:cNvPr id="4" name="text-235"/>
          <p:cNvSpPr txBox="1"/>
          <p:nvPr/>
        </p:nvSpPr>
        <p:spPr>
          <a:xfrm>
            <a:off x="777240" y="1691640"/>
            <a:ext cx="5486400" cy="3154680"/>
          </a:xfrm>
          <a:prstGeom prst="rect">
            <a:avLst/>
          </a:prstGeom>
          <a:noFill/>
          <a:ln/>
        </p:spPr>
        <p:txBody>
          <a:bodyPr wrap="square" lIns="0" tIns="0" rIns="0" bIns="0" rtlCol="0" anchor="ctr"/>
          <a:lstStyle/>
          <a:p>
            <a:pPr indent="0" marL="0">
              <a:buNone/>
            </a:pPr>
            <a:r>
              <a:rPr lang="en-US" sz="1300" dirty="0">
                <a:solidFill>
                  <a:srgbClr val="F3C309"/>
                </a:solidFill>
                <a:latin typeface="Courier New" pitchFamily="34" charset="0"/>
                <a:ea typeface="Courier New" pitchFamily="34" charset="-122"/>
                <a:cs typeface="Courier New" pitchFamily="34" charset="-120"/>
              </a:rPr>
              <a:t># Query 7 (abridged)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SELECT ?name ?movies ?born ?age WHERE {</a:t>
            </a:r>
            <a:endParaRPr lang="en-US" sz="1300" dirty="0"/>
          </a:p>
          <a:p>
            <a:pPr indent="0" marL="0">
              <a:buNone/>
            </a:pPr>
            <a:r>
              <a:rPr lang="en-US" sz="1300" dirty="0">
                <a:solidFill>
                  <a:srgbClr val="F3C309"/>
                </a:solidFill>
                <a:latin typeface="Courier New" pitchFamily="34" charset="0"/>
                <a:ea typeface="Courier New" pitchFamily="34" charset="-122"/>
                <a:cs typeface="Courier New" pitchFamily="34" charset="-120"/>
              </a:rPr>
              <a:t>  { # local: directors with 6+ movies</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?d foaf:name ?name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owl:sameAs ?wd . ...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SERVICE &lt;https://query.wikidata.org/sparql&gt; {</a:t>
            </a:r>
            <a:endParaRPr lang="en-US" sz="1300" dirty="0"/>
          </a:p>
          <a:p>
            <a:pPr indent="0" marL="0">
              <a:buNone/>
            </a:pPr>
            <a:r>
              <a:rPr lang="en-US" sz="1300" dirty="0">
                <a:solidFill>
                  <a:srgbClr val="F3C309"/>
                </a:solidFill>
                <a:latin typeface="Courier New" pitchFamily="34" charset="0"/>
                <a:ea typeface="Courier New" pitchFamily="34" charset="-122"/>
                <a:cs typeface="Courier New" pitchFamily="34" charset="-120"/>
              </a:rPr>
              <a:t>    ?wd wdt:P569 ?born .      # birth date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BIND(?firstYear - YEAR(?born) AS ?age)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graphicFrame>
        <p:nvGraphicFramePr>
          <p:cNvPr id="18" name="fed-result-table"/>
          <p:cNvGraphicFramePr>
            <a:graphicFrameLocks noGrp="1"/>
          </p:cNvGraphicFramePr>
          <p:nvPr>
            <p:extLst>
              <p:ext uri="{D42A27DB-BD31-4B8C-83A1-F6EECF244321}">
                <p14:modId xmlns:p14="http://schemas.microsoft.com/office/powerpoint/2010/main" val="1579011935"/>
              </p:ext>
            </p:extLst>
          </p:nvPr>
        </p:nvGraphicFramePr>
        <p:xfrm>
          <a:off x="6675120" y="1554480"/>
          <a:ext cx="4965192" cy="914400"/>
        </p:xfrm>
        <a:graphic>
          <a:graphicData uri="http://schemas.openxmlformats.org/drawingml/2006/table">
            <a:tbl>
              <a:tblPr/>
              <a:tblGrid>
                <a:gridCol w="2103120"/>
                <a:gridCol w="822960"/>
                <a:gridCol w="777240"/>
                <a:gridCol w="1261872"/>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Director</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Movies</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Born</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Age at first</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BF1E2E"/>
                    </a:solidFill>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Steven Spielberg</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1946</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29 (1975)</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Christopher Nolan</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1970</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30 (2000)</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Quentin Tarantino</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1963</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29 (1992)</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David Fincher</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1962</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33 (1995)</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r h="457200">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Martin Scorsese</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indent="0" marL="0">
                        <a:buNone/>
                      </a:pPr>
                      <a:r>
                        <a:rPr lang="en-US" sz="1400" dirty="0">
                          <a:solidFill>
                            <a:srgbClr val="1F2329"/>
                          </a:solidFill>
                          <a:latin typeface="Calibri" pitchFamily="34" charset="0"/>
                          <a:ea typeface="Calibri" pitchFamily="34" charset="-122"/>
                          <a:cs typeface="Calibri" pitchFamily="34" charset="-120"/>
                        </a:rPr>
                        <a:t>1942</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c>
                  <a:txBody>
                    <a:bodyPr/>
                    <a:lstStyle/>
                    <a:p>
                      <a:pPr algn="r" indent="0" marL="0">
                        <a:buNone/>
                      </a:pPr>
                      <a:r>
                        <a:rPr lang="en-US" sz="1400" dirty="0">
                          <a:solidFill>
                            <a:srgbClr val="1F2329"/>
                          </a:solidFill>
                          <a:latin typeface="Calibri" pitchFamily="34" charset="0"/>
                          <a:ea typeface="Calibri" pitchFamily="34" charset="-122"/>
                          <a:cs typeface="Calibri" pitchFamily="34" charset="-120"/>
                        </a:rPr>
                        <a:t>34 (1976)</a:t>
                      </a:r>
                      <a:endParaRPr lang="en-US" sz="1400" dirty="0">
                        <a:latin typeface="Calibri" charset="0"/>
                        <a:ea typeface="Calibri" charset="0"/>
                        <a:cs typeface="Calibri" charset="0"/>
                      </a:endParaRPr>
                    </a:p>
                  </a:txBody>
                  <a:tcPr marL="91440" marR="91440" marT="45720" marB="45720">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tcPr>
                </a:tc>
              </a:tr>
            </a:tbl>
          </a:graphicData>
        </a:graphic>
      </p:graphicFrame>
      <p:sp>
        <p:nvSpPr>
          <p:cNvPr id="6" name="text-236"/>
          <p:cNvSpPr txBox="1"/>
          <p:nvPr/>
        </p:nvSpPr>
        <p:spPr>
          <a:xfrm>
            <a:off x="6675120" y="4434840"/>
            <a:ext cx="4965192" cy="457200"/>
          </a:xfrm>
          <a:prstGeom prst="rect">
            <a:avLst/>
          </a:prstGeom>
          <a:noFill/>
          <a:ln/>
        </p:spPr>
        <p:txBody>
          <a:bodyPr wrap="square" lIns="0" tIns="0" rIns="0" bIns="0" rtlCol="0" anchor="t"/>
          <a:lstStyle/>
          <a:p>
            <a:pPr indent="0" marL="0">
              <a:buNone/>
            </a:pPr>
            <a:r>
              <a:rPr lang="en-US" sz="1200" dirty="0">
                <a:solidFill>
                  <a:schemeClr val="accent4"/>
                </a:solidFill>
              </a:rPr>
              <a:t>"Age at first" = age at their earliest film in our 250-film dataset.</a:t>
            </a:r>
            <a:endParaRPr lang="en-US" sz="1200" dirty="0"/>
          </a:p>
        </p:txBody>
      </p:sp>
      <p:sp>
        <p:nvSpPr>
          <p:cNvPr id="7" name="icon-bg-237"/>
          <p:cNvSpPr/>
          <p:nvPr/>
        </p:nvSpPr>
        <p:spPr>
          <a:xfrm>
            <a:off x="548640" y="5303520"/>
            <a:ext cx="548640" cy="548640"/>
          </a:xfrm>
          <a:prstGeom prst="ellipse">
            <a:avLst/>
          </a:prstGeom>
          <a:solidFill>
            <a:srgbClr val="BF1E2E"/>
          </a:solidFill>
          <a:ln w="12700">
            <a:solidFill>
              <a:srgbClr val="BF1E2E"/>
            </a:solidFill>
            <a:prstDash val="solid"/>
          </a:ln>
        </p:spPr>
      </p:sp>
      <p:pic>
        <p:nvPicPr>
          <p:cNvPr id="8" name="icon-237" descr="preencoded.png">    </p:cNvPr>
          <p:cNvPicPr>
            <a:picLocks noChangeAspect="1"/>
          </p:cNvPicPr>
          <p:nvPr/>
        </p:nvPicPr>
        <p:blipFill>
          <a:blip r:embed="rId1"/>
          <a:stretch>
            <a:fillRect/>
          </a:stretch>
        </p:blipFill>
        <p:spPr>
          <a:xfrm>
            <a:off x="680314" y="5435194"/>
            <a:ext cx="285293" cy="285293"/>
          </a:xfrm>
          <a:prstGeom prst="rect">
            <a:avLst/>
          </a:prstGeom>
        </p:spPr>
      </p:pic>
      <p:sp>
        <p:nvSpPr>
          <p:cNvPr id="9" name="text-238"/>
          <p:cNvSpPr txBox="1"/>
          <p:nvPr/>
        </p:nvSpPr>
        <p:spPr>
          <a:xfrm>
            <a:off x="1325880" y="5212080"/>
            <a:ext cx="10314432" cy="731520"/>
          </a:xfrm>
          <a:prstGeom prst="rect">
            <a:avLst/>
          </a:prstGeom>
          <a:noFill/>
          <a:ln/>
        </p:spPr>
        <p:txBody>
          <a:bodyPr wrap="square" lIns="0" tIns="0" rIns="0" bIns="0" rtlCol="0" anchor="ctr"/>
          <a:lstStyle/>
          <a:p>
            <a:pPr indent="0" marL="0">
              <a:buNone/>
            </a:pPr>
            <a:r>
              <a:rPr lang="en-US" sz="1500" b="1" dirty="0">
                <a:solidFill>
                  <a:schemeClr val="tx1"/>
                </a:solidFill>
              </a:rPr>
              <a:t>The 5th star at work: the query only reaches Wikidata because every director carries an owl:sameAs link to it.</a:t>
            </a:r>
            <a:endParaRPr lang="en-US" sz="15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Live demo</a:t>
            </a:r>
            <a:endParaRPr lang="en-US" sz="3200" dirty="0"/>
          </a:p>
        </p:txBody>
      </p:sp>
      <p:sp>
        <p:nvSpPr>
          <p:cNvPr id="3" name="demo-step-1"/>
          <p:cNvSpPr/>
          <p:nvPr/>
        </p:nvSpPr>
        <p:spPr>
          <a:xfrm>
            <a:off x="548640" y="1600200"/>
            <a:ext cx="3514344" cy="1965960"/>
          </a:xfrm>
          <a:prstGeom prst="roundRect">
            <a:avLst>
              <a:gd name="adj" fmla="val 3721"/>
            </a:avLst>
          </a:prstGeom>
          <a:solidFill>
            <a:schemeClr val="bg2"/>
          </a:solidFill>
          <a:ln w="12700">
            <a:solidFill>
              <a:srgbClr val="F3F4F6"/>
            </a:solidFill>
            <a:prstDash val="solid"/>
          </a:ln>
        </p:spPr>
      </p:sp>
      <p:sp>
        <p:nvSpPr>
          <p:cNvPr id="4" name="demo-num-bg-1"/>
          <p:cNvSpPr/>
          <p:nvPr/>
        </p:nvSpPr>
        <p:spPr>
          <a:xfrm>
            <a:off x="822960" y="1874520"/>
            <a:ext cx="548640" cy="548640"/>
          </a:xfrm>
          <a:prstGeom prst="ellipse">
            <a:avLst/>
          </a:prstGeom>
          <a:solidFill>
            <a:schemeClr val="accent1"/>
          </a:solidFill>
          <a:ln w="12700">
            <a:solidFill>
              <a:srgbClr val="BF1E2E"/>
            </a:solidFill>
            <a:prstDash val="solid"/>
          </a:ln>
        </p:spPr>
      </p:sp>
      <p:sp>
        <p:nvSpPr>
          <p:cNvPr id="5" name="text-239"/>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240"/>
          <p:cNvSpPr txBox="1"/>
          <p:nvPr/>
        </p:nvSpPr>
        <p:spPr>
          <a:xfrm>
            <a:off x="1554480" y="1874520"/>
            <a:ext cx="2325624" cy="548640"/>
          </a:xfrm>
          <a:prstGeom prst="rect">
            <a:avLst/>
          </a:prstGeom>
          <a:noFill/>
          <a:ln/>
        </p:spPr>
        <p:txBody>
          <a:bodyPr wrap="square" lIns="0" tIns="0" rIns="0" bIns="0" rtlCol="0" anchor="ctr"/>
          <a:lstStyle/>
          <a:p>
            <a:pPr indent="0" marL="0">
              <a:buNone/>
            </a:pPr>
            <a:r>
              <a:rPr lang="en-US" sz="1900" b="1" dirty="0">
                <a:solidFill>
                  <a:schemeClr val="tx1"/>
                </a:solidFill>
              </a:rPr>
              <a:t>Load</a:t>
            </a:r>
            <a:endParaRPr lang="en-US" sz="1900" dirty="0"/>
          </a:p>
        </p:txBody>
      </p:sp>
      <p:sp>
        <p:nvSpPr>
          <p:cNvPr id="7" name="text-241"/>
          <p:cNvSpPr txBox="1"/>
          <p:nvPr/>
        </p:nvSpPr>
        <p:spPr>
          <a:xfrm>
            <a:off x="822960" y="2606040"/>
            <a:ext cx="2965704" cy="777240"/>
          </a:xfrm>
          <a:prstGeom prst="rect">
            <a:avLst/>
          </a:prstGeom>
          <a:noFill/>
          <a:ln/>
        </p:spPr>
        <p:txBody>
          <a:bodyPr wrap="square" lIns="0" tIns="0" rIns="0" bIns="0" rtlCol="0" anchor="t"/>
          <a:lstStyle/>
          <a:p>
            <a:pPr indent="0" marL="0">
              <a:buNone/>
            </a:pPr>
            <a:r>
              <a:rPr lang="en-US" sz="1400" dirty="0">
                <a:solidFill>
                  <a:schemeClr val="accent4"/>
                </a:solidFill>
              </a:rPr>
              <a:t>Open movies.ttl in Protégé, merge the linked data and awards</a:t>
            </a:r>
            <a:endParaRPr lang="en-US" sz="1400" dirty="0"/>
          </a:p>
        </p:txBody>
      </p:sp>
      <p:sp>
        <p:nvSpPr>
          <p:cNvPr id="8" name="demo-step-2"/>
          <p:cNvSpPr/>
          <p:nvPr/>
        </p:nvSpPr>
        <p:spPr>
          <a:xfrm>
            <a:off x="4337304" y="1600200"/>
            <a:ext cx="3514344" cy="1965960"/>
          </a:xfrm>
          <a:prstGeom prst="roundRect">
            <a:avLst>
              <a:gd name="adj" fmla="val 3721"/>
            </a:avLst>
          </a:prstGeom>
          <a:solidFill>
            <a:schemeClr val="bg2"/>
          </a:solidFill>
          <a:ln w="12700">
            <a:solidFill>
              <a:srgbClr val="F3F4F6"/>
            </a:solidFill>
            <a:prstDash val="solid"/>
          </a:ln>
        </p:spPr>
      </p:sp>
      <p:sp>
        <p:nvSpPr>
          <p:cNvPr id="9" name="demo-num-bg-2"/>
          <p:cNvSpPr/>
          <p:nvPr/>
        </p:nvSpPr>
        <p:spPr>
          <a:xfrm>
            <a:off x="4611624" y="1874520"/>
            <a:ext cx="548640" cy="548640"/>
          </a:xfrm>
          <a:prstGeom prst="ellipse">
            <a:avLst/>
          </a:prstGeom>
          <a:solidFill>
            <a:schemeClr val="accent1"/>
          </a:solidFill>
          <a:ln w="12700">
            <a:solidFill>
              <a:srgbClr val="BF1E2E"/>
            </a:solidFill>
            <a:prstDash val="solid"/>
          </a:ln>
        </p:spPr>
      </p:sp>
      <p:sp>
        <p:nvSpPr>
          <p:cNvPr id="10" name="text-242"/>
          <p:cNvSpPr txBox="1"/>
          <p:nvPr/>
        </p:nvSpPr>
        <p:spPr>
          <a:xfrm>
            <a:off x="4611624"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243"/>
          <p:cNvSpPr txBox="1"/>
          <p:nvPr/>
        </p:nvSpPr>
        <p:spPr>
          <a:xfrm>
            <a:off x="5343144" y="1874520"/>
            <a:ext cx="2325624" cy="548640"/>
          </a:xfrm>
          <a:prstGeom prst="rect">
            <a:avLst/>
          </a:prstGeom>
          <a:noFill/>
          <a:ln/>
        </p:spPr>
        <p:txBody>
          <a:bodyPr wrap="square" lIns="0" tIns="0" rIns="0" bIns="0" rtlCol="0" anchor="ctr"/>
          <a:lstStyle/>
          <a:p>
            <a:pPr indent="0" marL="0">
              <a:buNone/>
            </a:pPr>
            <a:r>
              <a:rPr lang="en-US" sz="1900" b="1" dirty="0">
                <a:solidFill>
                  <a:schemeClr val="tx1"/>
                </a:solidFill>
              </a:rPr>
              <a:t>Reason</a:t>
            </a:r>
            <a:endParaRPr lang="en-US" sz="1900" dirty="0"/>
          </a:p>
        </p:txBody>
      </p:sp>
      <p:sp>
        <p:nvSpPr>
          <p:cNvPr id="12" name="text-244"/>
          <p:cNvSpPr txBox="1"/>
          <p:nvPr/>
        </p:nvSpPr>
        <p:spPr>
          <a:xfrm>
            <a:off x="4611624" y="2606040"/>
            <a:ext cx="2965704" cy="777240"/>
          </a:xfrm>
          <a:prstGeom prst="rect">
            <a:avLst/>
          </a:prstGeom>
          <a:noFill/>
          <a:ln/>
        </p:spPr>
        <p:txBody>
          <a:bodyPr wrap="square" lIns="0" tIns="0" rIns="0" bIns="0" rtlCol="0" anchor="t"/>
          <a:lstStyle/>
          <a:p>
            <a:pPr indent="0" marL="0">
              <a:buNone/>
            </a:pPr>
            <a:r>
              <a:rPr lang="en-US" sz="1400" dirty="0">
                <a:solidFill>
                  <a:schemeClr val="accent4"/>
                </a:solidFill>
              </a:rPr>
              <a:t>Start HermiT: ActionMovie, ComedyMovie, AwardWinningDirector fill up</a:t>
            </a:r>
            <a:endParaRPr lang="en-US" sz="1400" dirty="0"/>
          </a:p>
        </p:txBody>
      </p:sp>
      <p:sp>
        <p:nvSpPr>
          <p:cNvPr id="13" name="demo-step-3"/>
          <p:cNvSpPr/>
          <p:nvPr/>
        </p:nvSpPr>
        <p:spPr>
          <a:xfrm>
            <a:off x="8125968" y="1600200"/>
            <a:ext cx="3514344" cy="1965960"/>
          </a:xfrm>
          <a:prstGeom prst="roundRect">
            <a:avLst>
              <a:gd name="adj" fmla="val 3721"/>
            </a:avLst>
          </a:prstGeom>
          <a:solidFill>
            <a:schemeClr val="bg2"/>
          </a:solidFill>
          <a:ln w="12700">
            <a:solidFill>
              <a:srgbClr val="F3F4F6"/>
            </a:solidFill>
            <a:prstDash val="solid"/>
          </a:ln>
        </p:spPr>
      </p:sp>
      <p:sp>
        <p:nvSpPr>
          <p:cNvPr id="14" name="demo-num-bg-3"/>
          <p:cNvSpPr/>
          <p:nvPr/>
        </p:nvSpPr>
        <p:spPr>
          <a:xfrm>
            <a:off x="8400288" y="1874520"/>
            <a:ext cx="548640" cy="548640"/>
          </a:xfrm>
          <a:prstGeom prst="ellipse">
            <a:avLst/>
          </a:prstGeom>
          <a:solidFill>
            <a:schemeClr val="accent1"/>
          </a:solidFill>
          <a:ln w="12700">
            <a:solidFill>
              <a:srgbClr val="BF1E2E"/>
            </a:solidFill>
            <a:prstDash val="solid"/>
          </a:ln>
        </p:spPr>
      </p:sp>
      <p:sp>
        <p:nvSpPr>
          <p:cNvPr id="15" name="text-245"/>
          <p:cNvSpPr txBox="1"/>
          <p:nvPr/>
        </p:nvSpPr>
        <p:spPr>
          <a:xfrm>
            <a:off x="8400288"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246"/>
          <p:cNvSpPr txBox="1"/>
          <p:nvPr/>
        </p:nvSpPr>
        <p:spPr>
          <a:xfrm>
            <a:off x="9131808" y="1874520"/>
            <a:ext cx="2325624" cy="548640"/>
          </a:xfrm>
          <a:prstGeom prst="rect">
            <a:avLst/>
          </a:prstGeom>
          <a:noFill/>
          <a:ln/>
        </p:spPr>
        <p:txBody>
          <a:bodyPr wrap="square" lIns="0" tIns="0" rIns="0" bIns="0" rtlCol="0" anchor="ctr"/>
          <a:lstStyle/>
          <a:p>
            <a:pPr indent="0" marL="0">
              <a:buNone/>
            </a:pPr>
            <a:r>
              <a:rPr lang="en-US" sz="1900" b="1" dirty="0">
                <a:solidFill>
                  <a:schemeClr val="tx1"/>
                </a:solidFill>
              </a:rPr>
              <a:t>Query</a:t>
            </a:r>
            <a:endParaRPr lang="en-US" sz="1900" dirty="0"/>
          </a:p>
        </p:txBody>
      </p:sp>
      <p:sp>
        <p:nvSpPr>
          <p:cNvPr id="17" name="text-247"/>
          <p:cNvSpPr txBox="1"/>
          <p:nvPr/>
        </p:nvSpPr>
        <p:spPr>
          <a:xfrm>
            <a:off x="8400288" y="2606040"/>
            <a:ext cx="2965704" cy="777240"/>
          </a:xfrm>
          <a:prstGeom prst="rect">
            <a:avLst/>
          </a:prstGeom>
          <a:noFill/>
          <a:ln/>
        </p:spPr>
        <p:txBody>
          <a:bodyPr wrap="square" lIns="0" tIns="0" rIns="0" bIns="0" rtlCol="0" anchor="t"/>
          <a:lstStyle/>
          <a:p>
            <a:pPr indent="0" marL="0">
              <a:buNone/>
            </a:pPr>
            <a:r>
              <a:rPr lang="en-US" sz="1400" dirty="0">
                <a:solidFill>
                  <a:schemeClr val="accent4"/>
                </a:solidFill>
              </a:rPr>
              <a:t>Run the sample queries in the SPARQL tab</a:t>
            </a:r>
            <a:endParaRPr lang="en-US" sz="1400" dirty="0"/>
          </a:p>
        </p:txBody>
      </p:sp>
      <p:sp>
        <p:nvSpPr>
          <p:cNvPr id="18" name="demo-step-4"/>
          <p:cNvSpPr/>
          <p:nvPr/>
        </p:nvSpPr>
        <p:spPr>
          <a:xfrm>
            <a:off x="548640" y="3840480"/>
            <a:ext cx="3514344" cy="1965960"/>
          </a:xfrm>
          <a:prstGeom prst="roundRect">
            <a:avLst>
              <a:gd name="adj" fmla="val 3721"/>
            </a:avLst>
          </a:prstGeom>
          <a:solidFill>
            <a:schemeClr val="bg2"/>
          </a:solidFill>
          <a:ln w="12700">
            <a:solidFill>
              <a:srgbClr val="F3F4F6"/>
            </a:solidFill>
            <a:prstDash val="solid"/>
          </a:ln>
        </p:spPr>
      </p:sp>
      <p:sp>
        <p:nvSpPr>
          <p:cNvPr id="19" name="demo-num-bg-4"/>
          <p:cNvSpPr/>
          <p:nvPr/>
        </p:nvSpPr>
        <p:spPr>
          <a:xfrm>
            <a:off x="822960" y="4114800"/>
            <a:ext cx="548640" cy="548640"/>
          </a:xfrm>
          <a:prstGeom prst="ellipse">
            <a:avLst/>
          </a:prstGeom>
          <a:solidFill>
            <a:schemeClr val="accent1"/>
          </a:solidFill>
          <a:ln w="12700">
            <a:solidFill>
              <a:srgbClr val="BF1E2E"/>
            </a:solidFill>
            <a:prstDash val="solid"/>
          </a:ln>
        </p:spPr>
      </p:sp>
      <p:sp>
        <p:nvSpPr>
          <p:cNvPr id="20" name="text-248"/>
          <p:cNvSpPr txBox="1"/>
          <p:nvPr/>
        </p:nvSpPr>
        <p:spPr>
          <a:xfrm>
            <a:off x="822960"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249"/>
          <p:cNvSpPr txBox="1"/>
          <p:nvPr/>
        </p:nvSpPr>
        <p:spPr>
          <a:xfrm>
            <a:off x="1554480" y="4114800"/>
            <a:ext cx="2325624" cy="548640"/>
          </a:xfrm>
          <a:prstGeom prst="rect">
            <a:avLst/>
          </a:prstGeom>
          <a:noFill/>
          <a:ln/>
        </p:spPr>
        <p:txBody>
          <a:bodyPr wrap="square" lIns="0" tIns="0" rIns="0" bIns="0" rtlCol="0" anchor="ctr"/>
          <a:lstStyle/>
          <a:p>
            <a:pPr indent="0" marL="0">
              <a:buNone/>
            </a:pPr>
            <a:r>
              <a:rPr lang="en-US" sz="1900" b="1" dirty="0">
                <a:solidFill>
                  <a:schemeClr val="tx1"/>
                </a:solidFill>
              </a:rPr>
              <a:t>Federate</a:t>
            </a:r>
            <a:endParaRPr lang="en-US" sz="1900" dirty="0"/>
          </a:p>
        </p:txBody>
      </p:sp>
      <p:sp>
        <p:nvSpPr>
          <p:cNvPr id="22" name="text-250"/>
          <p:cNvSpPr txBox="1"/>
          <p:nvPr/>
        </p:nvSpPr>
        <p:spPr>
          <a:xfrm>
            <a:off x="822960" y="4846320"/>
            <a:ext cx="2965704" cy="777240"/>
          </a:xfrm>
          <a:prstGeom prst="rect">
            <a:avLst/>
          </a:prstGeom>
          <a:noFill/>
          <a:ln/>
        </p:spPr>
        <p:txBody>
          <a:bodyPr wrap="square" lIns="0" tIns="0" rIns="0" bIns="0" rtlCol="0" anchor="t"/>
          <a:lstStyle/>
          <a:p>
            <a:pPr indent="0" marL="0">
              <a:buNone/>
            </a:pPr>
            <a:r>
              <a:rPr lang="en-US" sz="1400" dirty="0">
                <a:solidFill>
                  <a:schemeClr val="accent4"/>
                </a:solidFill>
              </a:rPr>
              <a:t>Run a SERVICE query to Wikidata from the terminal</a:t>
            </a:r>
            <a:endParaRPr lang="en-US" sz="1400" dirty="0"/>
          </a:p>
        </p:txBody>
      </p:sp>
      <p:sp>
        <p:nvSpPr>
          <p:cNvPr id="23" name="demo-step-5"/>
          <p:cNvSpPr/>
          <p:nvPr/>
        </p:nvSpPr>
        <p:spPr>
          <a:xfrm>
            <a:off x="4337304" y="3840480"/>
            <a:ext cx="3514344" cy="1965960"/>
          </a:xfrm>
          <a:prstGeom prst="roundRect">
            <a:avLst>
              <a:gd name="adj" fmla="val 3721"/>
            </a:avLst>
          </a:prstGeom>
          <a:solidFill>
            <a:schemeClr val="bg2"/>
          </a:solidFill>
          <a:ln w="12700">
            <a:solidFill>
              <a:srgbClr val="F3F4F6"/>
            </a:solidFill>
            <a:prstDash val="solid"/>
          </a:ln>
        </p:spPr>
      </p:sp>
      <p:sp>
        <p:nvSpPr>
          <p:cNvPr id="24" name="demo-num-bg-5"/>
          <p:cNvSpPr/>
          <p:nvPr/>
        </p:nvSpPr>
        <p:spPr>
          <a:xfrm>
            <a:off x="4611624" y="4114800"/>
            <a:ext cx="548640" cy="548640"/>
          </a:xfrm>
          <a:prstGeom prst="ellipse">
            <a:avLst/>
          </a:prstGeom>
          <a:solidFill>
            <a:schemeClr val="accent1"/>
          </a:solidFill>
          <a:ln w="12700">
            <a:solidFill>
              <a:srgbClr val="BF1E2E"/>
            </a:solidFill>
            <a:prstDash val="solid"/>
          </a:ln>
        </p:spPr>
      </p:sp>
      <p:sp>
        <p:nvSpPr>
          <p:cNvPr id="25" name="text-251"/>
          <p:cNvSpPr txBox="1"/>
          <p:nvPr/>
        </p:nvSpPr>
        <p:spPr>
          <a:xfrm>
            <a:off x="4611624"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252"/>
          <p:cNvSpPr txBox="1"/>
          <p:nvPr/>
        </p:nvSpPr>
        <p:spPr>
          <a:xfrm>
            <a:off x="5343144" y="4114800"/>
            <a:ext cx="2325624" cy="548640"/>
          </a:xfrm>
          <a:prstGeom prst="rect">
            <a:avLst/>
          </a:prstGeom>
          <a:noFill/>
          <a:ln/>
        </p:spPr>
        <p:txBody>
          <a:bodyPr wrap="square" lIns="0" tIns="0" rIns="0" bIns="0" rtlCol="0" anchor="ctr"/>
          <a:lstStyle/>
          <a:p>
            <a:pPr indent="0" marL="0">
              <a:buNone/>
            </a:pPr>
            <a:r>
              <a:rPr lang="en-US" sz="1900" b="1" dirty="0">
                <a:solidFill>
                  <a:schemeClr val="tx1"/>
                </a:solidFill>
              </a:rPr>
              <a:t>Rule</a:t>
            </a:r>
            <a:endParaRPr lang="en-US" sz="1900" dirty="0"/>
          </a:p>
        </p:txBody>
      </p:sp>
      <p:sp>
        <p:nvSpPr>
          <p:cNvPr id="27" name="text-253"/>
          <p:cNvSpPr txBox="1"/>
          <p:nvPr/>
        </p:nvSpPr>
        <p:spPr>
          <a:xfrm>
            <a:off x="4611624" y="4846320"/>
            <a:ext cx="2965704" cy="777240"/>
          </a:xfrm>
          <a:prstGeom prst="rect">
            <a:avLst/>
          </a:prstGeom>
          <a:noFill/>
          <a:ln/>
        </p:spPr>
        <p:txBody>
          <a:bodyPr wrap="square" lIns="0" tIns="0" rIns="0" bIns="0" rtlCol="0" anchor="t"/>
          <a:lstStyle/>
          <a:p>
            <a:pPr indent="0" marL="0">
              <a:buNone/>
            </a:pPr>
            <a:r>
              <a:rPr lang="en-US" sz="1400" dirty="0">
                <a:solidFill>
                  <a:schemeClr val="accent4"/>
                </a:solidFill>
              </a:rPr>
              <a:t>Add the SWRL rule: 5 people become ActorDirector</a:t>
            </a:r>
            <a:endParaRPr lang="en-US" sz="1400" dirty="0"/>
          </a:p>
        </p:txBody>
      </p:sp>
      <p:sp>
        <p:nvSpPr>
          <p:cNvPr id="28" name="demo-step-6"/>
          <p:cNvSpPr/>
          <p:nvPr/>
        </p:nvSpPr>
        <p:spPr>
          <a:xfrm>
            <a:off x="8125968" y="3840480"/>
            <a:ext cx="3514344" cy="1965960"/>
          </a:xfrm>
          <a:prstGeom prst="roundRect">
            <a:avLst>
              <a:gd name="adj" fmla="val 3721"/>
            </a:avLst>
          </a:prstGeom>
          <a:solidFill>
            <a:schemeClr val="bg2"/>
          </a:solidFill>
          <a:ln w="12700">
            <a:solidFill>
              <a:srgbClr val="F3F4F6"/>
            </a:solidFill>
            <a:prstDash val="solid"/>
          </a:ln>
        </p:spPr>
      </p:sp>
      <p:sp>
        <p:nvSpPr>
          <p:cNvPr id="29" name="demo-num-bg-6"/>
          <p:cNvSpPr/>
          <p:nvPr/>
        </p:nvSpPr>
        <p:spPr>
          <a:xfrm>
            <a:off x="8400288" y="4114800"/>
            <a:ext cx="548640" cy="548640"/>
          </a:xfrm>
          <a:prstGeom prst="ellipse">
            <a:avLst/>
          </a:prstGeom>
          <a:solidFill>
            <a:schemeClr val="accent1"/>
          </a:solidFill>
          <a:ln w="12700">
            <a:solidFill>
              <a:srgbClr val="BF1E2E"/>
            </a:solidFill>
            <a:prstDash val="solid"/>
          </a:ln>
        </p:spPr>
      </p:sp>
      <p:sp>
        <p:nvSpPr>
          <p:cNvPr id="30" name="text-254"/>
          <p:cNvSpPr txBox="1"/>
          <p:nvPr/>
        </p:nvSpPr>
        <p:spPr>
          <a:xfrm>
            <a:off x="8400288"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255"/>
          <p:cNvSpPr txBox="1"/>
          <p:nvPr/>
        </p:nvSpPr>
        <p:spPr>
          <a:xfrm>
            <a:off x="9131808" y="4114800"/>
            <a:ext cx="2325624" cy="548640"/>
          </a:xfrm>
          <a:prstGeom prst="rect">
            <a:avLst/>
          </a:prstGeom>
          <a:noFill/>
          <a:ln/>
        </p:spPr>
        <p:txBody>
          <a:bodyPr wrap="square" lIns="0" tIns="0" rIns="0" bIns="0" rtlCol="0" anchor="ctr"/>
          <a:lstStyle/>
          <a:p>
            <a:pPr indent="0" marL="0">
              <a:buNone/>
            </a:pPr>
            <a:r>
              <a:rPr lang="en-US" sz="1900" b="1" dirty="0">
                <a:solidFill>
                  <a:schemeClr val="tx1"/>
                </a:solidFill>
              </a:rPr>
              <a:t>Break it</a:t>
            </a:r>
            <a:endParaRPr lang="en-US" sz="1900" dirty="0"/>
          </a:p>
        </p:txBody>
      </p:sp>
      <p:sp>
        <p:nvSpPr>
          <p:cNvPr id="32" name="text-256"/>
          <p:cNvSpPr txBox="1"/>
          <p:nvPr/>
        </p:nvSpPr>
        <p:spPr>
          <a:xfrm>
            <a:off x="8400288" y="4846320"/>
            <a:ext cx="2965704" cy="777240"/>
          </a:xfrm>
          <a:prstGeom prst="rect">
            <a:avLst/>
          </a:prstGeom>
          <a:noFill/>
          <a:ln/>
        </p:spPr>
        <p:txBody>
          <a:bodyPr wrap="square" lIns="0" tIns="0" rIns="0" bIns="0" rtlCol="0" anchor="t"/>
          <a:lstStyle/>
          <a:p>
            <a:pPr indent="0" marL="0">
              <a:buNone/>
            </a:pPr>
            <a:r>
              <a:rPr lang="en-US" sz="1400" dirty="0">
                <a:solidFill>
                  <a:schemeClr val="accent4"/>
                </a:solidFill>
              </a:rPr>
              <a:t>Merge the bad movie: HermiT explains the inconsistency</a:t>
            </a:r>
            <a:endParaRPr lang="en-US" sz="14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777240"/>
          </a:xfrm>
          <a:prstGeom prst="rect">
            <a:avLst/>
          </a:prstGeom>
          <a:noFill/>
          <a:ln/>
        </p:spPr>
        <p:txBody>
          <a:bodyPr wrap="square" lIns="0" tIns="0" rIns="0" bIns="0" rtlCol="0" anchor="ctr"/>
          <a:lstStyle/>
          <a:p>
            <a:pPr algn="l" indent="0" marL="0">
              <a:buNone/>
            </a:pPr>
            <a:r>
              <a:rPr lang="en-US" sz="3200" b="1" dirty="0">
                <a:solidFill>
                  <a:schemeClr val="tx1"/>
                </a:solidFill>
              </a:rPr>
              <a:t>Limitations and next steps</a:t>
            </a:r>
            <a:endParaRPr lang="en-US" sz="3200" dirty="0"/>
          </a:p>
        </p:txBody>
      </p:sp>
      <p:sp>
        <p:nvSpPr>
          <p:cNvPr id="3" name="limit-1"/>
          <p:cNvSpPr/>
          <p:nvPr/>
        </p:nvSpPr>
        <p:spPr>
          <a:xfrm>
            <a:off x="548640" y="1600200"/>
            <a:ext cx="5422392" cy="1965960"/>
          </a:xfrm>
          <a:prstGeom prst="roundRect">
            <a:avLst>
              <a:gd name="adj" fmla="val 3721"/>
            </a:avLst>
          </a:prstGeom>
          <a:solidFill>
            <a:schemeClr val="bg2"/>
          </a:solidFill>
          <a:ln w="12700">
            <a:solidFill>
              <a:srgbClr val="F3F4F6"/>
            </a:solidFill>
            <a:prstDash val="solid"/>
          </a:ln>
        </p:spPr>
      </p:sp>
      <p:sp>
        <p:nvSpPr>
          <p:cNvPr id="4" name="text-257"/>
          <p:cNvSpPr txBox="1"/>
          <p:nvPr/>
        </p:nvSpPr>
        <p:spPr>
          <a:xfrm>
            <a:off x="822960" y="1828800"/>
            <a:ext cx="4873752" cy="411480"/>
          </a:xfrm>
          <a:prstGeom prst="rect">
            <a:avLst/>
          </a:prstGeom>
          <a:noFill/>
          <a:ln/>
        </p:spPr>
        <p:txBody>
          <a:bodyPr wrap="square" lIns="0" tIns="0" rIns="0" bIns="0" rtlCol="0" anchor="ctr"/>
          <a:lstStyle/>
          <a:p>
            <a:pPr indent="0" marL="0">
              <a:buNone/>
            </a:pPr>
            <a:r>
              <a:rPr lang="en-US" sz="1800" b="1" dirty="0">
                <a:solidFill>
                  <a:schemeClr val="tx1"/>
                </a:solidFill>
              </a:rPr>
              <a:t>Roles modelled as subclasses</a:t>
            </a:r>
            <a:endParaRPr lang="en-US" sz="1800" dirty="0"/>
          </a:p>
        </p:txBody>
      </p:sp>
      <p:sp>
        <p:nvSpPr>
          <p:cNvPr id="5" name="text-258"/>
          <p:cNvSpPr txBox="1"/>
          <p:nvPr/>
        </p:nvSpPr>
        <p:spPr>
          <a:xfrm>
            <a:off x="822960" y="2331720"/>
            <a:ext cx="4873752" cy="1051560"/>
          </a:xfrm>
          <a:prstGeom prst="rect">
            <a:avLst/>
          </a:prstGeom>
          <a:noFill/>
          <a:ln/>
        </p:spPr>
        <p:txBody>
          <a:bodyPr wrap="square" lIns="0" tIns="0" rIns="0" bIns="0" rtlCol="0" anchor="t"/>
          <a:lstStyle/>
          <a:p>
            <a:pPr indent="0" marL="0">
              <a:buNone/>
            </a:pPr>
            <a:r>
              <a:rPr lang="en-US" sz="1400" dirty="0">
                <a:solidFill>
                  <a:schemeClr val="accent4"/>
                </a:solidFill>
              </a:rPr>
              <a:t>Director and Actor are roles, not rigid types (OntoClean). Kept as subclasses of Person for simplicity; a hasRole property would be cleaner.</a:t>
            </a:r>
            <a:endParaRPr lang="en-US" sz="1400" dirty="0"/>
          </a:p>
        </p:txBody>
      </p:sp>
      <p:sp>
        <p:nvSpPr>
          <p:cNvPr id="6" name="limit-2"/>
          <p:cNvSpPr/>
          <p:nvPr/>
        </p:nvSpPr>
        <p:spPr>
          <a:xfrm>
            <a:off x="6217920" y="1600200"/>
            <a:ext cx="5422392" cy="1965960"/>
          </a:xfrm>
          <a:prstGeom prst="roundRect">
            <a:avLst>
              <a:gd name="adj" fmla="val 3721"/>
            </a:avLst>
          </a:prstGeom>
          <a:solidFill>
            <a:schemeClr val="bg2"/>
          </a:solidFill>
          <a:ln w="12700">
            <a:solidFill>
              <a:srgbClr val="F3F4F6"/>
            </a:solidFill>
            <a:prstDash val="solid"/>
          </a:ln>
        </p:spPr>
      </p:sp>
      <p:sp>
        <p:nvSpPr>
          <p:cNvPr id="7" name="text-259"/>
          <p:cNvSpPr txBox="1"/>
          <p:nvPr/>
        </p:nvSpPr>
        <p:spPr>
          <a:xfrm>
            <a:off x="6492240" y="1828800"/>
            <a:ext cx="4873752" cy="411480"/>
          </a:xfrm>
          <a:prstGeom prst="rect">
            <a:avLst/>
          </a:prstGeom>
          <a:noFill/>
          <a:ln/>
        </p:spPr>
        <p:txBody>
          <a:bodyPr wrap="square" lIns="0" tIns="0" rIns="0" bIns="0" rtlCol="0" anchor="ctr"/>
          <a:lstStyle/>
          <a:p>
            <a:pPr indent="0" marL="0">
              <a:buNone/>
            </a:pPr>
            <a:r>
              <a:rPr lang="en-US" sz="1800" b="1" dirty="0">
                <a:solidFill>
                  <a:schemeClr val="tx1"/>
                </a:solidFill>
              </a:rPr>
              <a:t>One genre per movie</a:t>
            </a:r>
            <a:endParaRPr lang="en-US" sz="1800" dirty="0"/>
          </a:p>
        </p:txBody>
      </p:sp>
      <p:sp>
        <p:nvSpPr>
          <p:cNvPr id="8" name="text-260"/>
          <p:cNvSpPr txBox="1"/>
          <p:nvPr/>
        </p:nvSpPr>
        <p:spPr>
          <a:xfrm>
            <a:off x="6492240" y="2331720"/>
            <a:ext cx="4873752" cy="1051560"/>
          </a:xfrm>
          <a:prstGeom prst="rect">
            <a:avLst/>
          </a:prstGeom>
          <a:noFill/>
          <a:ln/>
        </p:spPr>
        <p:txBody>
          <a:bodyPr wrap="square" lIns="0" tIns="0" rIns="0" bIns="0" rtlCol="0" anchor="t"/>
          <a:lstStyle/>
          <a:p>
            <a:pPr indent="0" marL="0">
              <a:buNone/>
            </a:pPr>
            <a:r>
              <a:rPr lang="en-US" sz="1400" dirty="0">
                <a:solidFill>
                  <a:schemeClr val="accent4"/>
                </a:solidFill>
              </a:rPr>
              <a:t>Only the primary genre is kept, so ActionMovie and ComedyMovie can stay disjoint without making real action comedies inconsistent.</a:t>
            </a:r>
            <a:endParaRPr lang="en-US" sz="1400" dirty="0"/>
          </a:p>
        </p:txBody>
      </p:sp>
      <p:sp>
        <p:nvSpPr>
          <p:cNvPr id="9" name="limit-3"/>
          <p:cNvSpPr/>
          <p:nvPr/>
        </p:nvSpPr>
        <p:spPr>
          <a:xfrm>
            <a:off x="548640" y="3840480"/>
            <a:ext cx="5422392" cy="1965960"/>
          </a:xfrm>
          <a:prstGeom prst="roundRect">
            <a:avLst>
              <a:gd name="adj" fmla="val 3721"/>
            </a:avLst>
          </a:prstGeom>
          <a:solidFill>
            <a:schemeClr val="bg2"/>
          </a:solidFill>
          <a:ln w="12700">
            <a:solidFill>
              <a:srgbClr val="F3F4F6"/>
            </a:solidFill>
            <a:prstDash val="solid"/>
          </a:ln>
        </p:spPr>
      </p:sp>
      <p:sp>
        <p:nvSpPr>
          <p:cNvPr id="10" name="text-261"/>
          <p:cNvSpPr txBox="1"/>
          <p:nvPr/>
        </p:nvSpPr>
        <p:spPr>
          <a:xfrm>
            <a:off x="822960" y="4069080"/>
            <a:ext cx="4873752" cy="411480"/>
          </a:xfrm>
          <a:prstGeom prst="rect">
            <a:avLst/>
          </a:prstGeom>
          <a:noFill/>
          <a:ln/>
        </p:spPr>
        <p:txBody>
          <a:bodyPr wrap="square" lIns="0" tIns="0" rIns="0" bIns="0" rtlCol="0" anchor="ctr"/>
          <a:lstStyle/>
          <a:p>
            <a:pPr indent="0" marL="0">
              <a:buNone/>
            </a:pPr>
            <a:r>
              <a:rPr lang="en-US" sz="1800" b="1" dirty="0">
                <a:solidFill>
                  <a:schemeClr val="tx1"/>
                </a:solidFill>
              </a:rPr>
              <a:t>URIs not dereferenceable</a:t>
            </a:r>
            <a:endParaRPr lang="en-US" sz="1800" dirty="0"/>
          </a:p>
        </p:txBody>
      </p:sp>
      <p:sp>
        <p:nvSpPr>
          <p:cNvPr id="11" name="text-262"/>
          <p:cNvSpPr txBox="1"/>
          <p:nvPr/>
        </p:nvSpPr>
        <p:spPr>
          <a:xfrm>
            <a:off x="822960" y="4572000"/>
            <a:ext cx="4873752" cy="1051560"/>
          </a:xfrm>
          <a:prstGeom prst="rect">
            <a:avLst/>
          </a:prstGeom>
          <a:noFill/>
          <a:ln/>
        </p:spPr>
        <p:txBody>
          <a:bodyPr wrap="square" lIns="0" tIns="0" rIns="0" bIns="0" rtlCol="0" anchor="t"/>
          <a:lstStyle/>
          <a:p>
            <a:pPr indent="0" marL="0">
              <a:buNone/>
            </a:pPr>
            <a:r>
              <a:rPr lang="en-US" sz="1400" dirty="0">
                <a:solidFill>
                  <a:schemeClr val="accent4"/>
                </a:solidFill>
              </a:rPr>
              <a:t>Resources live under example.org. Publishing them, for example behind Fuseki, would make the dataset fully browsable Linked Data.</a:t>
            </a:r>
            <a:endParaRPr lang="en-US" sz="1400" dirty="0"/>
          </a:p>
        </p:txBody>
      </p:sp>
      <p:sp>
        <p:nvSpPr>
          <p:cNvPr id="12" name="limit-4"/>
          <p:cNvSpPr/>
          <p:nvPr/>
        </p:nvSpPr>
        <p:spPr>
          <a:xfrm>
            <a:off x="6217920" y="3840480"/>
            <a:ext cx="5422392" cy="1965960"/>
          </a:xfrm>
          <a:prstGeom prst="roundRect">
            <a:avLst>
              <a:gd name="adj" fmla="val 3721"/>
            </a:avLst>
          </a:prstGeom>
          <a:solidFill>
            <a:schemeClr val="bg2"/>
          </a:solidFill>
          <a:ln w="12700">
            <a:solidFill>
              <a:srgbClr val="F3F4F6"/>
            </a:solidFill>
            <a:prstDash val="solid"/>
          </a:ln>
        </p:spPr>
      </p:sp>
      <p:sp>
        <p:nvSpPr>
          <p:cNvPr id="13" name="text-263"/>
          <p:cNvSpPr txBox="1"/>
          <p:nvPr/>
        </p:nvSpPr>
        <p:spPr>
          <a:xfrm>
            <a:off x="6492240" y="4069080"/>
            <a:ext cx="4873752" cy="411480"/>
          </a:xfrm>
          <a:prstGeom prst="rect">
            <a:avLst/>
          </a:prstGeom>
          <a:noFill/>
          <a:ln/>
        </p:spPr>
        <p:txBody>
          <a:bodyPr wrap="square" lIns="0" tIns="0" rIns="0" bIns="0" rtlCol="0" anchor="ctr"/>
          <a:lstStyle/>
          <a:p>
            <a:pPr indent="0" marL="0">
              <a:buNone/>
            </a:pPr>
            <a:r>
              <a:rPr lang="en-US" sz="1800" b="1" dirty="0">
                <a:solidFill>
                  <a:schemeClr val="tx1"/>
                </a:solidFill>
              </a:rPr>
              <a:t>Snapshot data, plain-string characters</a:t>
            </a:r>
            <a:endParaRPr lang="en-US" sz="1800" dirty="0"/>
          </a:p>
        </p:txBody>
      </p:sp>
      <p:sp>
        <p:nvSpPr>
          <p:cNvPr id="14" name="text-264"/>
          <p:cNvSpPr txBox="1"/>
          <p:nvPr/>
        </p:nvSpPr>
        <p:spPr>
          <a:xfrm>
            <a:off x="6492240" y="4572000"/>
            <a:ext cx="4873752" cy="1051560"/>
          </a:xfrm>
          <a:prstGeom prst="rect">
            <a:avLst/>
          </a:prstGeom>
          <a:noFill/>
          <a:ln/>
        </p:spPr>
        <p:txBody>
          <a:bodyPr wrap="square" lIns="0" tIns="0" rIns="0" bIns="0" rtlCol="0" anchor="t"/>
          <a:lstStyle/>
          <a:p>
            <a:pPr indent="0" marL="0">
              <a:buNone/>
            </a:pPr>
            <a:r>
              <a:rPr lang="en-US" sz="1400" dirty="0">
                <a:solidFill>
                  <a:schemeClr val="accent4"/>
                </a:solidFill>
              </a:rPr>
              <a:t>250 films; one film and one actor stay unlinked as ambiguous. characterName is a plain string, so one name can mean different characters (query 18).</a:t>
            </a:r>
            <a:endParaRPr lang="en-US" sz="1400" dirty="0"/>
          </a:p>
        </p:txBody>
      </p:sp>
      <p:sp>
        <p:nvSpPr>
          <p:cNvPr id="25" name="Slide Number Placeholder 0"/>
          <p:cNvSpPr>
            <a:spLocks noGrp="1"/>
          </p:cNvSpPr>
          <p:nvPr>
            <p:ph type="sldNum" sz="quarter" idx="4294967295"/>
          </p:nvPr>
        </p:nvSpPr>
        <p:spPr>
          <a:xfrm>
            <a:off x="112014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logo-card-end"/>
          <p:cNvSpPr/>
          <p:nvPr/>
        </p:nvSpPr>
        <p:spPr>
          <a:xfrm>
            <a:off x="640080" y="548640"/>
            <a:ext cx="3017520" cy="1481328"/>
          </a:xfrm>
          <a:prstGeom prst="roundRect">
            <a:avLst>
              <a:gd name="adj" fmla="val 4938"/>
            </a:avLst>
          </a:prstGeom>
          <a:solidFill>
            <a:schemeClr val="bg1"/>
          </a:solidFill>
          <a:ln w="12700">
            <a:solidFill>
              <a:srgbClr val="FFFFFF"/>
            </a:solidFill>
            <a:prstDash val="solid"/>
          </a:ln>
        </p:spPr>
      </p:sp>
      <p:pic>
        <p:nvPicPr>
          <p:cNvPr id="3" name="logo-end" descr="/private/tmp/claude-501/-Users-ducnguyen-Projects-HUST2-IT6390E/fd98d370-efb0-44d7-8e0a-572d8244442c/scratchpad/brand/logo-soict-hust.png">    </p:cNvPr>
          <p:cNvPicPr>
            <a:picLocks noChangeAspect="1"/>
          </p:cNvPicPr>
          <p:nvPr/>
        </p:nvPicPr>
        <p:blipFill>
          <a:blip r:embed="rId1"/>
          <a:stretch>
            <a:fillRect/>
          </a:stretch>
        </p:blipFill>
        <p:spPr>
          <a:xfrm>
            <a:off x="822960" y="685800"/>
            <a:ext cx="2651760" cy="1077009"/>
          </a:xfrm>
          <a:prstGeom prst="rect">
            <a:avLst/>
          </a:prstGeom>
        </p:spPr>
      </p:pic>
      <p:pic>
        <p:nvPicPr>
          <p:cNvPr id="4" name="star-265" descr="preencoded.png">    </p:cNvPr>
          <p:cNvPicPr>
            <a:picLocks noChangeAspect="1"/>
          </p:cNvPicPr>
          <p:nvPr/>
        </p:nvPicPr>
        <p:blipFill>
          <a:blip r:embed="rId2"/>
          <a:stretch>
            <a:fillRect/>
          </a:stretch>
        </p:blipFill>
        <p:spPr>
          <a:xfrm>
            <a:off x="8915400" y="685800"/>
            <a:ext cx="502920" cy="502920"/>
          </a:xfrm>
          <a:prstGeom prst="rect">
            <a:avLst/>
          </a:prstGeom>
        </p:spPr>
      </p:pic>
      <p:pic>
        <p:nvPicPr>
          <p:cNvPr id="5" name="star-266" descr="preencoded.png">    </p:cNvPr>
          <p:cNvPicPr>
            <a:picLocks noChangeAspect="1"/>
          </p:cNvPicPr>
          <p:nvPr/>
        </p:nvPicPr>
        <p:blipFill>
          <a:blip r:embed="rId3"/>
          <a:stretch>
            <a:fillRect/>
          </a:stretch>
        </p:blipFill>
        <p:spPr>
          <a:xfrm>
            <a:off x="9528048" y="685800"/>
            <a:ext cx="502920" cy="502920"/>
          </a:xfrm>
          <a:prstGeom prst="rect">
            <a:avLst/>
          </a:prstGeom>
        </p:spPr>
      </p:pic>
      <p:pic>
        <p:nvPicPr>
          <p:cNvPr id="6" name="star-267" descr="preencoded.png">    </p:cNvPr>
          <p:cNvPicPr>
            <a:picLocks noChangeAspect="1"/>
          </p:cNvPicPr>
          <p:nvPr/>
        </p:nvPicPr>
        <p:blipFill>
          <a:blip r:embed="rId4"/>
          <a:stretch>
            <a:fillRect/>
          </a:stretch>
        </p:blipFill>
        <p:spPr>
          <a:xfrm>
            <a:off x="10140696" y="685800"/>
            <a:ext cx="502920" cy="502920"/>
          </a:xfrm>
          <a:prstGeom prst="rect">
            <a:avLst/>
          </a:prstGeom>
        </p:spPr>
      </p:pic>
      <p:pic>
        <p:nvPicPr>
          <p:cNvPr id="7" name="star-268" descr="preencoded.png">    </p:cNvPr>
          <p:cNvPicPr>
            <a:picLocks noChangeAspect="1"/>
          </p:cNvPicPr>
          <p:nvPr/>
        </p:nvPicPr>
        <p:blipFill>
          <a:blip r:embed="rId5"/>
          <a:stretch>
            <a:fillRect/>
          </a:stretch>
        </p:blipFill>
        <p:spPr>
          <a:xfrm>
            <a:off x="10753344" y="685800"/>
            <a:ext cx="502920" cy="502920"/>
          </a:xfrm>
          <a:prstGeom prst="rect">
            <a:avLst/>
          </a:prstGeom>
        </p:spPr>
      </p:pic>
      <p:pic>
        <p:nvPicPr>
          <p:cNvPr id="8" name="star-269" descr="preencoded.png">    </p:cNvPr>
          <p:cNvPicPr>
            <a:picLocks noChangeAspect="1"/>
          </p:cNvPicPr>
          <p:nvPr/>
        </p:nvPicPr>
        <p:blipFill>
          <a:blip r:embed="rId6"/>
          <a:stretch>
            <a:fillRect/>
          </a:stretch>
        </p:blipFill>
        <p:spPr>
          <a:xfrm>
            <a:off x="11365992" y="685800"/>
            <a:ext cx="502920" cy="502920"/>
          </a:xfrm>
          <a:prstGeom prst="rect">
            <a:avLst/>
          </a:prstGeom>
        </p:spPr>
      </p:pic>
      <p:sp>
        <p:nvSpPr>
          <p:cNvPr id="9" name="Text 0"/>
          <p:cNvSpPr/>
          <p:nvPr>
            <p:ph idx="100" type="title" hasCustomPrompt="1"/>
          </p:nvPr>
        </p:nvSpPr>
        <p:spPr>
          <a:xfrm>
            <a:off x="640080" y="2240280"/>
            <a:ext cx="7863840" cy="1188720"/>
          </a:xfrm>
          <a:prstGeom prst="rect">
            <a:avLst/>
          </a:prstGeom>
          <a:noFill/>
          <a:ln/>
        </p:spPr>
        <p:txBody>
          <a:bodyPr wrap="square" lIns="0" tIns="0" rIns="0" bIns="0" rtlCol="0" anchor="b"/>
          <a:lstStyle/>
          <a:p>
            <a:pPr algn="l" indent="0" marL="0">
              <a:buNone/>
            </a:pPr>
            <a:r>
              <a:rPr lang="en-US" sz="4800" b="1" dirty="0">
                <a:solidFill>
                  <a:schemeClr val="bg1"/>
                </a:solidFill>
              </a:rPr>
              <a:t>Thank you. Questions?</a:t>
            </a:r>
            <a:endParaRPr lang="en-US" sz="4800" dirty="0"/>
          </a:p>
        </p:txBody>
      </p:sp>
      <p:sp>
        <p:nvSpPr>
          <p:cNvPr id="10" name="Text 0"/>
          <p:cNvSpPr/>
          <p:nvPr>
            <p:ph idx="101" type="body" hasCustomPrompt="1"/>
          </p:nvPr>
        </p:nvSpPr>
        <p:spPr>
          <a:xfrm>
            <a:off x="640080" y="3520440"/>
            <a:ext cx="7863840" cy="822960"/>
          </a:xfrm>
          <a:prstGeom prst="rect">
            <a:avLst/>
          </a:prstGeom>
          <a:noFill/>
          <a:ln/>
        </p:spPr>
        <p:txBody>
          <a:bodyPr wrap="square" lIns="0" tIns="0" rIns="0" bIns="0" rtlCol="0" anchor="t"/>
          <a:lstStyle/>
          <a:p>
            <a:pPr algn="l" indent="0" marL="0">
              <a:buNone/>
            </a:pPr>
            <a:r>
              <a:rPr lang="en-US" sz="2200" dirty="0">
                <a:solidFill>
                  <a:schemeClr val="bg1"/>
                </a:solidFill>
              </a:rPr>
              <a:t>github.com/minhdo2207/it6390e-lod-capstone</a:t>
            </a:r>
            <a:endParaRPr lang="en-US" sz="2200" dirty="0"/>
          </a:p>
        </p:txBody>
      </p:sp>
      <p:sp>
        <p:nvSpPr>
          <p:cNvPr id="11" name="text-270"/>
          <p:cNvSpPr txBox="1"/>
          <p:nvPr/>
        </p:nvSpPr>
        <p:spPr>
          <a:xfrm>
            <a:off x="640080" y="4800600"/>
            <a:ext cx="10515600" cy="118872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Đỗ Tuấn Minh</a:t>
            </a:r>
            <a:pPr indent="0" marL="0">
              <a:spcAft>
                <a:spcPts val="400"/>
              </a:spcAft>
              <a:buNone/>
            </a:pPr>
            <a:r>
              <a:rPr lang="en-US" sz="1600" dirty="0">
                <a:solidFill>
                  <a:schemeClr val="bg1"/>
                </a:solidFill>
              </a:rPr>
              <a:t>  ·  ontology, reasoning, demo</a:t>
            </a:r>
            <a:endParaRPr lang="en-US" sz="1600" dirty="0"/>
          </a:p>
          <a:p>
            <a:pPr indent="0" marL="0">
              <a:spcAft>
                <a:spcPts val="400"/>
              </a:spcAft>
              <a:buNone/>
            </a:pPr>
            <a:r>
              <a:rPr lang="en-US" sz="1600" b="1" dirty="0">
                <a:solidFill>
                  <a:schemeClr val="bg1"/>
                </a:solidFill>
              </a:rPr>
              <a:t>Nguyễn Tiến Đức</a:t>
            </a:r>
            <a:pPr indent="0" marL="0">
              <a:spcAft>
                <a:spcPts val="400"/>
              </a:spcAft>
              <a:buNone/>
            </a:pPr>
            <a:r>
              <a:rPr lang="en-US" sz="1600" dirty="0">
                <a:solidFill>
                  <a:schemeClr val="bg1"/>
                </a:solidFill>
              </a:rPr>
              <a:t>  ·  data, RDF conversion, linking</a:t>
            </a:r>
            <a:endParaRPr lang="en-US" sz="1600" dirty="0"/>
          </a:p>
          <a:p>
            <a:pPr indent="0" marL="0">
              <a:spcAft>
                <a:spcPts val="400"/>
              </a:spcAft>
              <a:buNone/>
            </a:pPr>
            <a:r>
              <a:rPr lang="en-US" sz="1600" b="1" dirty="0">
                <a:solidFill>
                  <a:schemeClr val="bg1"/>
                </a:solidFill>
              </a:rPr>
              <a:t>Hoàng Huy Chiến</a:t>
            </a:r>
            <a:pPr indent="0" marL="0">
              <a:spcAft>
                <a:spcPts val="400"/>
              </a:spcAft>
              <a:buNone/>
            </a:pPr>
            <a:r>
              <a:rPr lang="en-US" sz="1600" dirty="0">
                <a:solidFill>
                  <a:schemeClr val="bg1"/>
                </a:solidFill>
              </a:rPr>
              <a:t>  ·  metadata, federated queries, report and video</a:t>
            </a:r>
            <a:endParaRPr lang="en-US" sz="1600" dirty="0"/>
          </a:p>
        </p:txBody>
      </p:sp>
    </p:spTree>
  </p:cSld>
  <p:clrMapOvr>
    <a:masterClrMapping/>
  </p:clrMapOvr>
</p:sld>
</file>

<file path=ppt/theme/theme1.xml><?xml version="1.0" encoding="utf-8"?>
<a:theme xmlns:a="http://schemas.openxmlformats.org/drawingml/2006/main" name="SoICT HUST">
  <a:themeElements>
    <a:clrScheme name="SoICT HUST">
      <a:dk1>
        <a:srgbClr val="1F2329"/>
      </a:dk1>
      <a:lt1>
        <a:srgbClr val="FFFFFF"/>
      </a:lt1>
      <a:dk2>
        <a:srgbClr val="BF1E2E"/>
      </a:dk2>
      <a:lt2>
        <a:srgbClr val="F3F4F6"/>
      </a:lt2>
      <a:accent1>
        <a:srgbClr val="BF1E2E"/>
      </a:accent1>
      <a:accent2>
        <a:srgbClr val="F3C309"/>
      </a:accent2>
      <a:accent3>
        <a:srgbClr val="283891"/>
      </a:accent3>
      <a:accent4>
        <a:srgbClr val="5F6670"/>
      </a:accent4>
      <a:accent5>
        <a:srgbClr val="9E1724"/>
      </a:accent5>
      <a:accent6>
        <a:srgbClr val="C9CDD3"/>
      </a:accent6>
      <a:hlink>
        <a:srgbClr val="283891"/>
      </a:hlink>
      <a:folHlink>
        <a:srgbClr val="5F6670"/>
      </a:folHlink>
    </a:clrScheme>
    <a:fontScheme name="SoICT HU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SoICT - 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Movies Linked Open Data - IT6390E Group 2</dc:title>
  <dc:subject>PptxGenJS Presentation</dc:subject>
  <dc:creator>Group 2 - IT6390E</dc:creator>
  <cp:lastModifiedBy>Group 2 - IT6390E</cp:lastModifiedBy>
  <cp:revision>1</cp:revision>
  <dcterms:created xsi:type="dcterms:W3CDTF">2026-10-07T15:08:05Z</dcterms:created>
  <dcterms:modified xsi:type="dcterms:W3CDTF">2026-10-07T15:08:05Z</dcterms:modified>
</cp:coreProperties>
</file>